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021dffaa0f4d7f" /><Relationship Type="http://schemas.openxmlformats.org/officeDocument/2006/relationships/extended-properties" Target="/docProps/app.xml" Id="R591e5beb324f4f06" /><Relationship Type="http://schemas.openxmlformats.org/officeDocument/2006/relationships/officeDocument" Target="/ppt/presentation.xml" Id="Rc2f3f888783b4878" /></Relationships>
</file>

<file path=ppt/presentation.xml><?xml version="1.0" encoding="utf-8"?>
<p:presentation xmlns:p="http://schemas.openxmlformats.org/presentationml/2006/main">
  <p:sldMasterIdLst>
    <p:sldMasterId xmlns:r="http://schemas.openxmlformats.org/officeDocument/2006/relationships" id="2147483648" r:id="Ref8ef08196504e6b"/>
  </p:sldMasterIdLst>
  <p:notesMasterIdLst>
    <p:notesMasterId xmlns:r="http://schemas.openxmlformats.org/officeDocument/2006/relationships" r:id="Rc7752babfdff4e88"/>
  </p:notesMasterIdLst>
  <p:sldIdLst>
    <p:sldId xmlns:r="http://schemas.openxmlformats.org/officeDocument/2006/relationships" id="256" r:id="R97a5f9a4bd124dba"/>
    <p:sldId xmlns:r="http://schemas.openxmlformats.org/officeDocument/2006/relationships" id="257" r:id="R91f1c6e85a7942ee"/>
    <p:sldId xmlns:r="http://schemas.openxmlformats.org/officeDocument/2006/relationships" id="258" r:id="R4d4157182cce4464"/>
    <p:sldId xmlns:r="http://schemas.openxmlformats.org/officeDocument/2006/relationships" id="259" r:id="R7259b0b0a5fe4d25"/>
    <p:sldId xmlns:r="http://schemas.openxmlformats.org/officeDocument/2006/relationships" id="260" r:id="R67b3a845ce144c83"/>
    <p:sldId xmlns:r="http://schemas.openxmlformats.org/officeDocument/2006/relationships" id="261" r:id="Rfe59a1cb9b6e4dd7"/>
    <p:sldId xmlns:r="http://schemas.openxmlformats.org/officeDocument/2006/relationships" id="262" r:id="R7750fc36112d4900"/>
    <p:sldId xmlns:r="http://schemas.openxmlformats.org/officeDocument/2006/relationships" id="263" r:id="R1fe91442c64546aa"/>
    <p:sldId xmlns:r="http://schemas.openxmlformats.org/officeDocument/2006/relationships" id="264" r:id="R03db0f0ce33b47f3"/>
    <p:sldId xmlns:r="http://schemas.openxmlformats.org/officeDocument/2006/relationships" id="265" r:id="R65ba5816aa09421f"/>
    <p:sldId xmlns:r="http://schemas.openxmlformats.org/officeDocument/2006/relationships" id="266" r:id="R425c6ec686d14eb9"/>
    <p:sldId xmlns:r="http://schemas.openxmlformats.org/officeDocument/2006/relationships" id="267" r:id="Rd0aad095e8304927"/>
    <p:sldId xmlns:r="http://schemas.openxmlformats.org/officeDocument/2006/relationships" id="268" r:id="R60bfecd5d6064e2c"/>
    <p:sldId xmlns:r="http://schemas.openxmlformats.org/officeDocument/2006/relationships" id="269" r:id="R9369d9a79fbe4f6f"/>
    <p:sldId xmlns:r="http://schemas.openxmlformats.org/officeDocument/2006/relationships" id="270" r:id="R15adf3232074401f"/>
    <p:sldId xmlns:r="http://schemas.openxmlformats.org/officeDocument/2006/relationships" id="271" r:id="R7878b38d47b14b16"/>
    <p:sldId xmlns:r="http://schemas.openxmlformats.org/officeDocument/2006/relationships" id="272" r:id="Rb82cfdf24336414c"/>
    <p:sldId xmlns:r="http://schemas.openxmlformats.org/officeDocument/2006/relationships" id="273" r:id="Rc37b4d54654440cb"/>
    <p:sldId xmlns:r="http://schemas.openxmlformats.org/officeDocument/2006/relationships" id="274" r:id="Ra70cf215cd724838"/>
    <p:sldId xmlns:r="http://schemas.openxmlformats.org/officeDocument/2006/relationships" id="275" r:id="R2a51b8dd88524ea7"/>
    <p:sldId xmlns:r="http://schemas.openxmlformats.org/officeDocument/2006/relationships" id="276" r:id="Rb0bfdf517eac425d"/>
    <p:sldId xmlns:r="http://schemas.openxmlformats.org/officeDocument/2006/relationships" id="277" r:id="Ra764b817eae54a73"/>
    <p:sldId xmlns:r="http://schemas.openxmlformats.org/officeDocument/2006/relationships" id="278" r:id="Raa135d7dc1144c12"/>
    <p:sldId xmlns:r="http://schemas.openxmlformats.org/officeDocument/2006/relationships" id="279" r:id="Ra684fe1aa5884a4d"/>
    <p:sldId xmlns:r="http://schemas.openxmlformats.org/officeDocument/2006/relationships" id="280" r:id="R8f73a862816742d0"/>
    <p:sldId xmlns:r="http://schemas.openxmlformats.org/officeDocument/2006/relationships" id="281" r:id="Rd959b0b53fb34ff8"/>
    <p:sldId xmlns:r="http://schemas.openxmlformats.org/officeDocument/2006/relationships" id="282" r:id="Rd3bc97ff336f4fd3"/>
    <p:sldId xmlns:r="http://schemas.openxmlformats.org/officeDocument/2006/relationships" id="283" r:id="R819ed0396cd64c93"/>
    <p:sldId xmlns:r="http://schemas.openxmlformats.org/officeDocument/2006/relationships" id="284" r:id="R6e3026ede81544fb"/>
    <p:sldId xmlns:r="http://schemas.openxmlformats.org/officeDocument/2006/relationships" id="285" r:id="Re3f06871f0024b4d"/>
    <p:sldId xmlns:r="http://schemas.openxmlformats.org/officeDocument/2006/relationships" id="286" r:id="Rb0710689f3be4a03"/>
    <p:sldId xmlns:r="http://schemas.openxmlformats.org/officeDocument/2006/relationships" id="287" r:id="Redbfab0c7f9c46a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cb7039108949bc" /><Relationship Type="http://schemas.openxmlformats.org/officeDocument/2006/relationships/slideMaster" Target="/ppt/slideMasters/slideMaster1.xml" Id="Ref8ef08196504e6b" /><Relationship Type="http://schemas.openxmlformats.org/officeDocument/2006/relationships/notesMaster" Target="/ppt/notesMasters/notesMaster1.xml" Id="Rc7752babfdff4e88" /><Relationship Type="http://schemas.openxmlformats.org/officeDocument/2006/relationships/presProps" Target="/ppt/presProps.xml" Id="Raed1cff62a2a4d8a" /><Relationship Type="http://schemas.openxmlformats.org/officeDocument/2006/relationships/tableStyles" Target="/ppt/tableStyles.xml" Id="R00784fe199ce443a" /><Relationship Type="http://schemas.openxmlformats.org/officeDocument/2006/relationships/slide" Target="/ppt/slides/slide1.xml" Id="R97a5f9a4bd124dba" /><Relationship Type="http://schemas.openxmlformats.org/officeDocument/2006/relationships/slide" Target="/ppt/slides/slide2.xml" Id="R91f1c6e85a7942ee" /><Relationship Type="http://schemas.openxmlformats.org/officeDocument/2006/relationships/slide" Target="/ppt/slides/slide3.xml" Id="R4d4157182cce4464" /><Relationship Type="http://schemas.openxmlformats.org/officeDocument/2006/relationships/slide" Target="/ppt/slides/slide4.xml" Id="R7259b0b0a5fe4d25" /><Relationship Type="http://schemas.openxmlformats.org/officeDocument/2006/relationships/slide" Target="/ppt/slides/slide5.xml" Id="R67b3a845ce144c83" /><Relationship Type="http://schemas.openxmlformats.org/officeDocument/2006/relationships/slide" Target="/ppt/slides/slide6.xml" Id="Rfe59a1cb9b6e4dd7" /><Relationship Type="http://schemas.openxmlformats.org/officeDocument/2006/relationships/slide" Target="/ppt/slides/slide7.xml" Id="R7750fc36112d4900" /><Relationship Type="http://schemas.openxmlformats.org/officeDocument/2006/relationships/slide" Target="/ppt/slides/slide8.xml" Id="R1fe91442c64546aa" /><Relationship Type="http://schemas.openxmlformats.org/officeDocument/2006/relationships/slide" Target="/ppt/slides/slide9.xml" Id="R03db0f0ce33b47f3" /><Relationship Type="http://schemas.openxmlformats.org/officeDocument/2006/relationships/slide" Target="/ppt/slides/slide10.xml" Id="R65ba5816aa09421f" /><Relationship Type="http://schemas.openxmlformats.org/officeDocument/2006/relationships/slide" Target="/ppt/slides/slide11.xml" Id="R425c6ec686d14eb9" /><Relationship Type="http://schemas.openxmlformats.org/officeDocument/2006/relationships/slide" Target="/ppt/slides/slide12.xml" Id="Rd0aad095e8304927" /><Relationship Type="http://schemas.openxmlformats.org/officeDocument/2006/relationships/slide" Target="/ppt/slides/slide13.xml" Id="R60bfecd5d6064e2c" /><Relationship Type="http://schemas.openxmlformats.org/officeDocument/2006/relationships/slide" Target="/ppt/slides/slide14.xml" Id="R9369d9a79fbe4f6f" /><Relationship Type="http://schemas.openxmlformats.org/officeDocument/2006/relationships/slide" Target="/ppt/slides/slide15.xml" Id="R15adf3232074401f" /><Relationship Type="http://schemas.openxmlformats.org/officeDocument/2006/relationships/slide" Target="/ppt/slides/slide16.xml" Id="R7878b38d47b14b16" /><Relationship Type="http://schemas.openxmlformats.org/officeDocument/2006/relationships/slide" Target="/ppt/slides/slide17.xml" Id="Rb82cfdf24336414c" /><Relationship Type="http://schemas.openxmlformats.org/officeDocument/2006/relationships/slide" Target="/ppt/slides/slide18.xml" Id="Rc37b4d54654440cb" /><Relationship Type="http://schemas.openxmlformats.org/officeDocument/2006/relationships/slide" Target="/ppt/slides/slide19.xml" Id="Ra70cf215cd724838" /><Relationship Type="http://schemas.openxmlformats.org/officeDocument/2006/relationships/slide" Target="/ppt/slides/slide20.xml" Id="R2a51b8dd88524ea7" /><Relationship Type="http://schemas.openxmlformats.org/officeDocument/2006/relationships/slide" Target="/ppt/slides/slide21.xml" Id="Rb0bfdf517eac425d" /><Relationship Type="http://schemas.openxmlformats.org/officeDocument/2006/relationships/slide" Target="/ppt/slides/slide22.xml" Id="Ra764b817eae54a73" /><Relationship Type="http://schemas.openxmlformats.org/officeDocument/2006/relationships/slide" Target="/ppt/slides/slide23.xml" Id="Raa135d7dc1144c12" /><Relationship Type="http://schemas.openxmlformats.org/officeDocument/2006/relationships/slide" Target="/ppt/slides/slide24.xml" Id="Ra684fe1aa5884a4d" /><Relationship Type="http://schemas.openxmlformats.org/officeDocument/2006/relationships/slide" Target="/ppt/slides/slide25.xml" Id="R8f73a862816742d0" /><Relationship Type="http://schemas.openxmlformats.org/officeDocument/2006/relationships/slide" Target="/ppt/slides/slide26.xml" Id="Rd959b0b53fb34ff8" /><Relationship Type="http://schemas.openxmlformats.org/officeDocument/2006/relationships/slide" Target="/ppt/slides/slide27.xml" Id="Rd3bc97ff336f4fd3" /><Relationship Type="http://schemas.openxmlformats.org/officeDocument/2006/relationships/slide" Target="/ppt/slides/slide28.xml" Id="R819ed0396cd64c93" /><Relationship Type="http://schemas.openxmlformats.org/officeDocument/2006/relationships/slide" Target="/ppt/slides/slide29.xml" Id="R6e3026ede81544fb" /><Relationship Type="http://schemas.openxmlformats.org/officeDocument/2006/relationships/slide" Target="/ppt/slides/slide30.xml" Id="Re3f06871f0024b4d" /><Relationship Type="http://schemas.openxmlformats.org/officeDocument/2006/relationships/slide" Target="/ppt/slides/slide31.xml" Id="Rb0710689f3be4a03" /><Relationship Type="http://schemas.openxmlformats.org/officeDocument/2006/relationships/slide" Target="/ppt/slides/slide32.xml" Id="Redbfab0c7f9c46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f8817fa50946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97783b71cb46ab" /><Relationship Type="http://schemas.openxmlformats.org/officeDocument/2006/relationships/notesMaster" Target="/ppt/notesMasters/notesMaster1.xml" Id="Rcda9c99e233a49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31cda378b74c85" /><Relationship Type="http://schemas.openxmlformats.org/officeDocument/2006/relationships/notesMaster" Target="/ppt/notesMasters/notesMaster1.xml" Id="Rf6e06068728d44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163fb4dba04c9e" /><Relationship Type="http://schemas.openxmlformats.org/officeDocument/2006/relationships/notesMaster" Target="/ppt/notesMasters/notesMaster1.xml" Id="Re18a6e113ebc45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b5cbe6349c4fbd" /><Relationship Type="http://schemas.openxmlformats.org/officeDocument/2006/relationships/notesMaster" Target="/ppt/notesMasters/notesMaster1.xml" Id="R57a4643648b048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affcdc5ea047f8" /><Relationship Type="http://schemas.openxmlformats.org/officeDocument/2006/relationships/notesMaster" Target="/ppt/notesMasters/notesMaster1.xml" Id="Ra2d4ac0aeef74b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4ae838239a4dc2" /><Relationship Type="http://schemas.openxmlformats.org/officeDocument/2006/relationships/notesMaster" Target="/ppt/notesMasters/notesMaster1.xml" Id="R49b451bf2e4647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abe25b14a5442e" /><Relationship Type="http://schemas.openxmlformats.org/officeDocument/2006/relationships/notesMaster" Target="/ppt/notesMasters/notesMaster1.xml" Id="Ra959548d4e5c48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270b8557534b10" /><Relationship Type="http://schemas.openxmlformats.org/officeDocument/2006/relationships/notesMaster" Target="/ppt/notesMasters/notesMaster1.xml" Id="Rc69a8fedfcc840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4c180b76a84e2e" /><Relationship Type="http://schemas.openxmlformats.org/officeDocument/2006/relationships/notesMaster" Target="/ppt/notesMasters/notesMaster1.xml" Id="R37c16ad95fb44c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7a1b677d2f4202" /><Relationship Type="http://schemas.openxmlformats.org/officeDocument/2006/relationships/notesMaster" Target="/ppt/notesMasters/notesMaster1.xml" Id="R98558e5a2a0c4c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7694e9f9a147b3" /><Relationship Type="http://schemas.openxmlformats.org/officeDocument/2006/relationships/notesMaster" Target="/ppt/notesMasters/notesMaster1.xml" Id="R5cbb444718bf43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da3520ea114cbb" /><Relationship Type="http://schemas.openxmlformats.org/officeDocument/2006/relationships/notesMaster" Target="/ppt/notesMasters/notesMaster1.xml" Id="R74795970c97e4c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493fcb68a54b7f" /><Relationship Type="http://schemas.openxmlformats.org/officeDocument/2006/relationships/notesMaster" Target="/ppt/notesMasters/notesMaster1.xml" Id="R2a5acf0fb0114c9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d4020181f04e54" /><Relationship Type="http://schemas.openxmlformats.org/officeDocument/2006/relationships/notesMaster" Target="/ppt/notesMasters/notesMaster1.xml" Id="R46cc632ac2bd46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4d6158b86c4785" /><Relationship Type="http://schemas.openxmlformats.org/officeDocument/2006/relationships/notesMaster" Target="/ppt/notesMasters/notesMaster1.xml" Id="R67ff3318bc364a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345d74bd404604" /><Relationship Type="http://schemas.openxmlformats.org/officeDocument/2006/relationships/notesMaster" Target="/ppt/notesMasters/notesMaster1.xml" Id="Rfa2ef4aac5a04c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0a7d12101b4044" /><Relationship Type="http://schemas.openxmlformats.org/officeDocument/2006/relationships/notesMaster" Target="/ppt/notesMasters/notesMaster1.xml" Id="R186d73fa32c647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e0c0d309c94165" /><Relationship Type="http://schemas.openxmlformats.org/officeDocument/2006/relationships/notesMaster" Target="/ppt/notesMasters/notesMaster1.xml" Id="Rf781ecbc14c844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662063c9da4dd0" /><Relationship Type="http://schemas.openxmlformats.org/officeDocument/2006/relationships/notesMaster" Target="/ppt/notesMasters/notesMaster1.xml" Id="Ra668c4a51f9747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26c6719a2a4b04" /><Relationship Type="http://schemas.openxmlformats.org/officeDocument/2006/relationships/notesMaster" Target="/ppt/notesMasters/notesMaster1.xml" Id="R1aa4c1909b934f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370795343c04064" /><Relationship Type="http://schemas.openxmlformats.org/officeDocument/2006/relationships/notesMaster" Target="/ppt/notesMasters/notesMaster1.xml" Id="R09f60f7c443b4c8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69355863b64e37" /><Relationship Type="http://schemas.openxmlformats.org/officeDocument/2006/relationships/notesMaster" Target="/ppt/notesMasters/notesMaster1.xml" Id="R4df5565e22944f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c61c2db1184658" /><Relationship Type="http://schemas.openxmlformats.org/officeDocument/2006/relationships/notesMaster" Target="/ppt/notesMasters/notesMaster1.xml" Id="Rf0515a52feb447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0c4af078d244e6" /><Relationship Type="http://schemas.openxmlformats.org/officeDocument/2006/relationships/notesMaster" Target="/ppt/notesMasters/notesMaster1.xml" Id="R6910fc3abfa74f5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5795d874524030" /><Relationship Type="http://schemas.openxmlformats.org/officeDocument/2006/relationships/notesMaster" Target="/ppt/notesMasters/notesMaster1.xml" Id="Rbeb8cb12291349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5a3e794707c4c7d" /><Relationship Type="http://schemas.openxmlformats.org/officeDocument/2006/relationships/notesMaster" Target="/ppt/notesMasters/notesMaster1.xml" Id="R7f7987dd54b54f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573903cc305402a" /><Relationship Type="http://schemas.openxmlformats.org/officeDocument/2006/relationships/notesMaster" Target="/ppt/notesMasters/notesMaster1.xml" Id="Rd65c815079774ee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630bd9df9c40c6" /><Relationship Type="http://schemas.openxmlformats.org/officeDocument/2006/relationships/notesMaster" Target="/ppt/notesMasters/notesMaster1.xml" Id="R9e57d4231180487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1d9f1e5c3c243aa" /><Relationship Type="http://schemas.openxmlformats.org/officeDocument/2006/relationships/notesMaster" Target="/ppt/notesMasters/notesMaster1.xml" Id="Rbddfab1a0920405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f7e70d76f914f6f" /><Relationship Type="http://schemas.openxmlformats.org/officeDocument/2006/relationships/notesMaster" Target="/ppt/notesMasters/notesMaster1.xml" Id="Rc0834f03b793400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6e45a8de30245cc" /><Relationship Type="http://schemas.openxmlformats.org/officeDocument/2006/relationships/notesMaster" Target="/ppt/notesMasters/notesMaster1.xml" Id="R669ef10cf7f546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eaca9d4b7994946" /><Relationship Type="http://schemas.openxmlformats.org/officeDocument/2006/relationships/notesMaster" Target="/ppt/notesMasters/notesMaster1.xml" Id="R0775676051f047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今回はDoMINOそのものの入門です。前半でNeural Operatorとアーキテクチャ、後半で実際にColabで回した結果を読みます。</a:t>
            </a:r>
          </a:p>
          <a:p xmlns:a="http://schemas.openxmlformats.org/drawingml/2006/main">
            <a:r>
              <a:t>この車体図は未学習形状への表面圧力予測です。精度の良さだけでなく、何を学べて何を外したかを教材として扱います。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30分前後を想定。前半15分で概念、後半15分で実験と考察。</a:t>
            </a:r>
          </a:p>
          <a:p xmlns:a="http://schemas.openxmlformats.org/drawingml/2006/main">
            <a:r>
              <a:t>専門外の大学院生でも、最後に3つの問いへ答えられることを目標にします。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DoMINOの公式説明はlocal、multi-scale、point-cloud based。</a:t>
            </a:r>
          </a:p>
          <a:p xmlns:a="http://schemas.openxmlformats.org/drawingml/2006/main">
            <a:r>
              <a:t>予測対象は表面圧力・壁面せん断応力、または周囲体積の速度・圧力など。今回の実験は表面圧力だけに限定します。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重要なのは“場”を出すこと。圧力1個ではなく、表面上の各点で圧力を返します。</a:t>
            </a:r>
          </a:p>
          <a:p xmlns:a="http://schemas.openxmlformats.org/drawingml/2006/main">
            <a:r>
              <a:t>離散化から完全に独立という意味ではなく、点群・グリッド・query samplingを通して近似します。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CFDの価値は精度と物理整合性です。問題は、設計探索で同種の計算を何度も繰り返すと費用が積み上がることです。</a:t>
            </a:r>
          </a:p>
          <a:p xmlns:a="http://schemas.openxmlformats.org/drawingml/2006/main">
            <a:r>
              <a:t>DoMINOはこの前払い・後払いの構造を変えます。学習データ作成は重い一方、学習後の推論を多数の設計案で再利用します。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表は優劣のランキングではなく、代表的な設計上のトレードオフです。</a:t>
            </a:r>
          </a:p>
          <a:p xmlns:a="http://schemas.openxmlformats.org/drawingml/2006/main">
            <a:r>
              <a:t>DoMINO論文は、従来MLサロゲートの大幅なダウンサンプリング、GNNの大規模化と長距離依存、空間構造への依存を動機として挙げています。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Neural Operatorは上位概念です。FNO、DeepONet、GNOなどは異なる実装・パラメータ化です。</a:t>
            </a:r>
          </a:p>
          <a:p xmlns:a="http://schemas.openxmlformats.org/drawingml/2006/main">
            <a:r>
              <a:t>DoMINOは点群形状と任意queryを扱い、globalとlocalを分解して大規模3D問題へ適用する具体的なアーキテクチャです。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DoMINOはCFDを不要にする技術ではなく、設計探索の前段を高速化する候補です。</a:t>
            </a:r>
          </a:p>
          <a:p xmlns:a="http://schemas.openxmlformats.org/drawingml/2006/main">
            <a:r>
              <a:t>外挿・保存則・不確かさの扱いは別途検証が必要です。今回の小規模実験も、その限界を含めて示します。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ここでglobal/localの必要性が生まれます。</a:t>
            </a:r>
          </a:p>
          <a:p xmlns:a="http://schemas.openxmlformats.org/drawingml/2006/main">
            <a:r>
              <a:t>CFDの楕円型性を含む長距離依存と、境界層・形状端部などの局所変動を両方意識した構成です。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global geometry encodingは点群からmulti-scale grid representationを学習。</a:t>
            </a:r>
          </a:p>
          <a:p xmlns:a="http://schemas.openxmlformats.org/drawingml/2006/main">
            <a:r>
              <a:t>各query点ではsub-regionを取り出し、dynamic point convolutionとcomputational stencilを通じて局所情報を集約します。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この順番を覚えると、以後の実験条件が読みやすくなります。</a:t>
            </a:r>
          </a:p>
          <a:p xmlns:a="http://schemas.openxmlformats.org/drawingml/2006/main">
            <a:r>
              <a:t>表面用と体積用で入力tensorやquery点は異なりますが、global表現からlocalを切り出す発想は共通です。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メリットを“万能”と表現しないこと。</a:t>
            </a:r>
          </a:p>
          <a:p xmlns:a="http://schemas.openxmlformats.org/drawingml/2006/main">
            <a:r>
              <a:t>今回の縮小実験はquery-basedな構造を観察できますが、公式フルスケールの速度や精度を再現したものではありません。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surface-onlyはDoMINOの正式な動作モードの1つです。</a:t>
            </a:r>
          </a:p>
          <a:p xmlns:a="http://schemas.openxmlformats.org/drawingml/2006/main">
            <a:r>
              <a:t>この制約により、Colab T4で2時間以内に学習と未学習形状評価まで完走させました。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左側の車体全体表示で大域位置、右側の拡大表示でqueryと3近傍を確認します。</a:t>
            </a:r>
          </a:p>
          <a:p xmlns:a="http://schemas.openxmlformats.org/drawingml/2006/main">
            <a:r>
              <a:t>今回の3近傍は教材向け縮小設定です。公式設定や最適値を意味しません。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学習10形状は非常に少なく、汎化性能を支配する可能性があります。</a:t>
            </a:r>
          </a:p>
          <a:p xmlns:a="http://schemas.openxmlformats.org/drawingml/2006/main">
            <a:r>
              <a:t>表面点・グリッド・近傍数もColab向けに縮小しています。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ノートブックはPhysicsNeMo 2.1.1の実DoMINOクラスを使用。</a:t>
            </a:r>
          </a:p>
          <a:p xmlns:a="http://schemas.openxmlformats.org/drawingml/2006/main">
            <a:r>
              <a:t>このバージョン固定は再現性のため重要です。最新recipeの構成は今後変わる可能性があります。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lossが下がったことは最適化の成功を示します。</a:t>
            </a:r>
          </a:p>
          <a:p xmlns:a="http://schemas.openxmlformats.org/drawingml/2006/main">
            <a:r>
              <a:t>しかし未知形状の精度は別問題。validation historyがないため、過学習を断定しません。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相関は高低パターンの一致、Relative L2は点ごとの相対誤差。</a:t>
            </a:r>
          </a:p>
          <a:p xmlns:a="http://schemas.openxmlformats.org/drawingml/2006/main">
            <a:r>
              <a:t>Area-weighted L2も約0.53で、誤差がごく小面積の孤立点だけに限られないことを示します。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ReferenceとPredictionは同じカラースケールです。</a:t>
            </a:r>
          </a:p>
          <a:p xmlns:a="http://schemas.openxmlformats.org/drawingml/2006/main">
            <a:r>
              <a:t>フロントからルーフ、後部への大きな分布は対応します。一方、予測は滑らかで、急峻なピークが弱くなっています。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誤差図の明るい点ほど絶対誤差が大きい。</a:t>
            </a:r>
          </a:p>
          <a:p xmlns:a="http://schemas.openxmlformats.org/drawingml/2006/main">
            <a:r>
              <a:t>原因は断定せず、形状数・モデル容量・局所近傍・最適化条件を候補として扱います。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3分と120分は完全な対照実験ではありません。比較は教材上の観察として扱います。</a:t>
            </a:r>
          </a:p>
          <a:p xmlns:a="http://schemas.openxmlformats.org/drawingml/2006/main">
            <a:r>
              <a:t>train lossとtest metricを分けて保存する、という実験設計上の学びが重要です。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質問時に使う補足スライド。</a:t>
            </a:r>
          </a:p>
          <a:p xmlns:a="http://schemas.openxmlformats.org/drawingml/2006/main">
            <a:r>
              <a:t>CSV、ノートブック、実行結果Markdownの3点から数値と図を再確認できます。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冒頭の3つのゴールを回収します。</a:t>
            </a:r>
          </a:p>
          <a:p xmlns:a="http://schemas.openxmlformats.org/drawingml/2006/main">
            <a:r>
              <a:t>最後は“DoMINOがすごい”ではなく、“どの設計が何を可能にし、どの検証がまだ必要か”で締めます。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各ページ右下の色付きラベルで、外部資料と今回の結果を区別します。</a:t>
            </a:r>
          </a:p>
          <a:p xmlns:a="http://schemas.openxmlformats.org/drawingml/2006/main">
            <a:r>
              <a:t>Appendixの解説は編集上の整理ですが、そこで引用する値は元スライドと同じ出典区分です。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Neural Operatorは概念、DoMINOは実装です。</a:t>
            </a:r>
          </a:p>
          <a:p xmlns:a="http://schemas.openxmlformats.org/drawingml/2006/main">
            <a:r>
              <a:t>DoMINOの名称にOperatorとあるからといって、FNOやDeepONetそのものと同じ計算ブロックを使うという意味ではありません。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このページは本文のアーキテクチャ図を、各ブロックの入出力と目的に分解したものです。</a:t>
            </a:r>
          </a:p>
          <a:p xmlns:a="http://schemas.openxmlformats.org/drawingml/2006/main">
            <a:r>
              <a:t>globalは大域形状、localとstencilはquery固有の情報を担います。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青点・近傍点の意味を本文より詳細に説明します。</a:t>
            </a:r>
          </a:p>
          <a:p xmlns:a="http://schemas.openxmlformats.org/drawingml/2006/main">
            <a:r>
              <a:t>近傍3点はColab縮小実験の設定であり、DoMINO一般の固定値ではありません。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公式レシピの完全再現ではなく、T4で動かすための縮小設定です。</a:t>
            </a:r>
          </a:p>
          <a:p xmlns:a="http://schemas.openxmlformats.org/drawingml/2006/main">
            <a:r>
              <a:t>特に形状数、格子解像度、近傍数、モデル容量が小さいため、公式論文の評価値と直接比較しません。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この曲線が示すのは学習データ上で損失を下げられたことです。</a:t>
            </a:r>
          </a:p>
          <a:p xmlns:a="http://schemas.openxmlformats.org/drawingml/2006/main">
            <a:r>
              <a:t>未知形状への性能は次のheld-out metricsで別に確認します。validation履歴がないため過学習曲線は描けません。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Correlationが約0.77なので高低の配置には相関があります。</a:t>
            </a:r>
          </a:p>
          <a:p xmlns:a="http://schemas.openxmlformats.org/drawingml/2006/main">
            <a:r>
              <a:t>一方Rel L2が約0.51なので、各点の値を定量利用するには改善が必要です。面積重み付きでも改善していない点も確認します。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ReferenceとPredictionは同じ圧力スケール、Absolute errorは0からの別スケールです。</a:t>
            </a:r>
          </a:p>
          <a:p xmlns:a="http://schemas.openxmlformats.org/drawingml/2006/main">
            <a:r>
              <a:t>点群表示の密度にも見え方が左右されるため、定量指標と合わせて読みます。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誤差の場所はlocal表現・格子解像度・近傍数・形状数など複数要因の結果です。</a:t>
            </a:r>
          </a:p>
          <a:p xmlns:a="http://schemas.openxmlformats.org/drawingml/2006/main">
            <a:r>
              <a:t>3分と120分の比較は参考値です。条件を揃えたcheckpoint系列とvalidation曲線がないため、過学習の診断には使えません。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82188cff9140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6a8e383fcb4ec0" /><Relationship Type="http://schemas.openxmlformats.org/officeDocument/2006/relationships/slideLayout" Target="/ppt/slideLayouts/slideLayout1.xml" Id="R28422e8972f54a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422e8972f54a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3d98005f704928" /><Relationship Type="http://schemas.openxmlformats.org/officeDocument/2006/relationships/image" Target="/ppt/media/image.png" Id="Rf28725bb5c8d4d4a" /><Relationship Type="http://schemas.openxmlformats.org/officeDocument/2006/relationships/notesSlide" Target="/ppt/notesSlides/notesSlide1.xml" Id="Rc3d442b7b84249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47193734404cb3" /><Relationship Type="http://schemas.openxmlformats.org/officeDocument/2006/relationships/notesSlide" Target="/ppt/notesSlides/notesSlide2.xml" Id="R96b35054f2f445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bbabda360f43a4" /><Relationship Type="http://schemas.openxmlformats.org/officeDocument/2006/relationships/notesSlide" Target="/ppt/notesSlides/notesSlide3.xml" Id="R9586285e829147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0197900f444403" /><Relationship Type="http://schemas.openxmlformats.org/officeDocument/2006/relationships/notesSlide" Target="/ppt/notesSlides/notesSlide4.xml" Id="R12eba60ce7f742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85a1c41b2c4c88" /><Relationship Type="http://schemas.openxmlformats.org/officeDocument/2006/relationships/notesSlide" Target="/ppt/notesSlides/notesSlide5.xml" Id="Rdbb6a199659a47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a98ca0904d401f" /><Relationship Type="http://schemas.openxmlformats.org/officeDocument/2006/relationships/notesSlide" Target="/ppt/notesSlides/notesSlide6.xml" Id="Rc220c139e49641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48acb68c114d10" /><Relationship Type="http://schemas.openxmlformats.org/officeDocument/2006/relationships/notesSlide" Target="/ppt/notesSlides/notesSlide7.xml" Id="R17af2497ce8d4e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c74a9907d44663" /><Relationship Type="http://schemas.openxmlformats.org/officeDocument/2006/relationships/notesSlide" Target="/ppt/notesSlides/notesSlide8.xml" Id="R192d42a065d94c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2ebc0677ff4812" /><Relationship Type="http://schemas.openxmlformats.org/officeDocument/2006/relationships/notesSlide" Target="/ppt/notesSlides/notesSlide9.xml" Id="Rf1c1c57538374e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a8a5a274eb44dc" /><Relationship Type="http://schemas.openxmlformats.org/officeDocument/2006/relationships/notesSlide" Target="/ppt/notesSlides/notesSlide10.xml" Id="Rf71783c5bd284b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eb650a4f694641" /><Relationship Type="http://schemas.openxmlformats.org/officeDocument/2006/relationships/notesSlide" Target="/ppt/notesSlides/notesSlide11.xml" Id="R2a4069d1e7b447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9d131d2af345a0" /><Relationship Type="http://schemas.openxmlformats.org/officeDocument/2006/relationships/notesSlide" Target="/ppt/notesSlides/notesSlide12.xml" Id="R96fe0ed8c9ac4f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adbe2b7a884d9a" /><Relationship Type="http://schemas.openxmlformats.org/officeDocument/2006/relationships/notesSlide" Target="/ppt/notesSlides/notesSlide13.xml" Id="R2754f836045b48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6e0edef401a4613" /><Relationship Type="http://schemas.openxmlformats.org/officeDocument/2006/relationships/image" Target="/ppt/media/image2.png" Id="R5894c41e4846455e" /><Relationship Type="http://schemas.openxmlformats.org/officeDocument/2006/relationships/notesSlide" Target="/ppt/notesSlides/notesSlide14.xml" Id="R2673c52005104b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a3d9ea7edc49c7" /><Relationship Type="http://schemas.openxmlformats.org/officeDocument/2006/relationships/notesSlide" Target="/ppt/notesSlides/notesSlide15.xml" Id="R8cdf18d562a341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1605b230e5496c" /><Relationship Type="http://schemas.openxmlformats.org/officeDocument/2006/relationships/notesSlide" Target="/ppt/notesSlides/notesSlide16.xml" Id="R49e34885c7dc4b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e6b7885a22f4a11" /><Relationship Type="http://schemas.openxmlformats.org/officeDocument/2006/relationships/image" Target="/ppt/media/image3.png" Id="Rd05e1dfb567147b7" /><Relationship Type="http://schemas.openxmlformats.org/officeDocument/2006/relationships/notesSlide" Target="/ppt/notesSlides/notesSlide17.xml" Id="R8e845ed94fca48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65a5c0309e94d1c" /><Relationship Type="http://schemas.openxmlformats.org/officeDocument/2006/relationships/image" Target="/ppt/media/image4.png" Id="Ra1a9737b3ba84dd8" /><Relationship Type="http://schemas.openxmlformats.org/officeDocument/2006/relationships/notesSlide" Target="/ppt/notesSlides/notesSlide18.xml" Id="R2f8a5fffeae540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1d6e1c9375413b" /><Relationship Type="http://schemas.openxmlformats.org/officeDocument/2006/relationships/image" Target="/ppt/media/image5.png" Id="R19a2317cafd04085" /><Relationship Type="http://schemas.openxmlformats.org/officeDocument/2006/relationships/notesSlide" Target="/ppt/notesSlides/notesSlide19.xml" Id="Ra2adc48980204e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b5d0df300dc42aa" /><Relationship Type="http://schemas.openxmlformats.org/officeDocument/2006/relationships/image" Target="/ppt/media/image6.png" Id="Ra059f7cfbdad460b" /><Relationship Type="http://schemas.openxmlformats.org/officeDocument/2006/relationships/notesSlide" Target="/ppt/notesSlides/notesSlide20.xml" Id="Rd78afeb060644f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8a4937d03944241" /><Relationship Type="http://schemas.openxmlformats.org/officeDocument/2006/relationships/notesSlide" Target="/ppt/notesSlides/notesSlide21.xml" Id="R525fa22528dd49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e6767312114093" /><Relationship Type="http://schemas.openxmlformats.org/officeDocument/2006/relationships/notesSlide" Target="/ppt/notesSlides/notesSlide22.xml" Id="Rd508ecdad83b467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0e3018e275b4198" /><Relationship Type="http://schemas.openxmlformats.org/officeDocument/2006/relationships/notesSlide" Target="/ppt/notesSlides/notesSlide23.xml" Id="R03e1cb965eed46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4eacf170c8e42d3" /><Relationship Type="http://schemas.openxmlformats.org/officeDocument/2006/relationships/notesSlide" Target="/ppt/notesSlides/notesSlide24.xml" Id="R0d684f77bbf3452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c2f72d6288d432c" /><Relationship Type="http://schemas.openxmlformats.org/officeDocument/2006/relationships/notesSlide" Target="/ppt/notesSlides/notesSlide25.xml" Id="Re5534f028b0c4d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cf0c61d6ca74f5f" /><Relationship Type="http://schemas.openxmlformats.org/officeDocument/2006/relationships/notesSlide" Target="/ppt/notesSlides/notesSlide26.xml" Id="R998d37f757e84b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28ffb9e874e4884" /><Relationship Type="http://schemas.openxmlformats.org/officeDocument/2006/relationships/image" Target="/ppt/media/image7.png" Id="Rcfa1aa4ce2574295" /><Relationship Type="http://schemas.openxmlformats.org/officeDocument/2006/relationships/notesSlide" Target="/ppt/notesSlides/notesSlide27.xml" Id="Rd94f9aaa8ebf40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d3026b50d92451b" /><Relationship Type="http://schemas.openxmlformats.org/officeDocument/2006/relationships/notesSlide" Target="/ppt/notesSlides/notesSlide28.xml" Id="R30411c13f3bf4b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e85d052ab904744" /><Relationship Type="http://schemas.openxmlformats.org/officeDocument/2006/relationships/image" Target="/ppt/media/image8.png" Id="R72e268735f7a4bbd" /><Relationship Type="http://schemas.openxmlformats.org/officeDocument/2006/relationships/notesSlide" Target="/ppt/notesSlides/notesSlide29.xml" Id="Rfddabcdb29e64b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8b1596708b24843" /><Relationship Type="http://schemas.openxmlformats.org/officeDocument/2006/relationships/image" Target="/ppt/media/image9.png" Id="Rb14a6e66c72a450d" /><Relationship Type="http://schemas.openxmlformats.org/officeDocument/2006/relationships/notesSlide" Target="/ppt/notesSlides/notesSlide30.xml" Id="R502c7355207f4d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14321b4de384954" /><Relationship Type="http://schemas.openxmlformats.org/officeDocument/2006/relationships/image" Target="/ppt/media/image10.png" Id="R2e3c47adae804f95" /><Relationship Type="http://schemas.openxmlformats.org/officeDocument/2006/relationships/notesSlide" Target="/ppt/notesSlides/notesSlide31.xml" Id="Rafde14cc9ce844c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507b7b4ae214373" /><Relationship Type="http://schemas.openxmlformats.org/officeDocument/2006/relationships/image" Target="/ppt/media/image11.png" Id="R0b732801d48a4dc6" /><Relationship Type="http://schemas.openxmlformats.org/officeDocument/2006/relationships/notesSlide" Target="/ppt/notesSlides/notesSlide32.xml" Id="R1ea3739e02c44e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3EE77F-3DE5-406E-91E2-CC36E19B476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EC5811-4CF4-4114-9220-40F656BCB55B}"/>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PHYSICSNEMO STUDY SEMINAR</a:t>
            </a:r>
          </a:p>
        </p:txBody>
      </p:sp>
      <p:sp>
        <p:nvSpPr>
          <p:cNvPr id="3" name="">
            <a:extLst xmlns:a="http://schemas.openxmlformats.org/drawingml/2006/main">
              <a:ext uri="{FF2B5EF4-FFF2-40B4-BE49-F238E27FC236}">
                <a16:creationId xmlns:a16="http://schemas.microsoft.com/office/drawing/2014/main" id="{338685CD-95E4-4A69-A892-D023F6929461}"/>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01 / 32</a:t>
            </a:r>
          </a:p>
        </p:txBody>
      </p:sp>
      <p:sp>
        <p:nvSpPr>
          <p:cNvPr id="4" name="">
            <a:extLst xmlns:a="http://schemas.openxmlformats.org/drawingml/2006/main">
              <a:ext uri="{FF2B5EF4-FFF2-40B4-BE49-F238E27FC236}">
                <a16:creationId xmlns:a16="http://schemas.microsoft.com/office/drawing/2014/main" id="{B3AB8AFB-304A-4427-B8F0-FA8B6D930583}"/>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6E76C48C-A3FF-46AD-9B52-4B18D981BDD1}"/>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0BBD40F2-0463-48B5-B82D-205A88B541D1}"/>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DBA1EE-3690-477B-8473-D447B7526628}"/>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63BAF452-5094-4F9E-81CA-BA1D36A80037}"/>
              </a:ext>
            </a:extLst>
          </p:cNvPr>
          <p:cNvSpPr>
            <a:spLocks xmlns:a="http://schemas.openxmlformats.org/drawingml/2006/main" noGrp="1"/>
          </p:cNvSpPr>
          <p:nvPr/>
        </p:nvSpPr>
        <p:spPr>
          <a:xfrm xmlns:a="http://schemas.openxmlformats.org/drawingml/2006/main">
            <a:off x="514350" y="666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3D8DFF"/>
                </a:solidFill>
                <a:latin typeface="Consolas"/>
                <a:ea typeface="Consolas"/>
                <a:cs typeface="Consolas"/>
              </a:defRPr>
            </a:pPr>
            <a:r>
              <a:rPr sz="1350" b="1" i="0">
                <a:solidFill>
                  <a:srgbClr val="3D8DFF"/>
                </a:solidFill>
                <a:latin typeface="Consolas"/>
                <a:ea typeface="Consolas"/>
                <a:cs typeface="Consolas"/>
              </a:rPr>
              <a:t>PhysicsNeMo 勉強会</a:t>
            </a:r>
          </a:p>
        </p:txBody>
      </p:sp>
      <p:sp>
        <p:nvSpPr>
          <p:cNvPr id="9" name="">
            <a:extLst xmlns:a="http://schemas.openxmlformats.org/drawingml/2006/main">
              <a:ext uri="{FF2B5EF4-FFF2-40B4-BE49-F238E27FC236}">
                <a16:creationId xmlns:a16="http://schemas.microsoft.com/office/drawing/2014/main" id="{6E0A5568-D876-46DC-ABD2-292C3CA30BB2}"/>
              </a:ext>
            </a:extLst>
          </p:cNvPr>
          <p:cNvSpPr>
            <a:spLocks xmlns:a="http://schemas.openxmlformats.org/drawingml/2006/main" noGrp="1"/>
          </p:cNvSpPr>
          <p:nvPr/>
        </p:nvSpPr>
        <p:spPr>
          <a:xfrm xmlns:a="http://schemas.openxmlformats.org/drawingml/2006/main">
            <a:off x="514350" y="1476375"/>
            <a:ext cx="5048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5400" b="1" i="0">
                <a:solidFill>
                  <a:srgbClr val="111827"/>
                </a:solidFill>
                <a:latin typeface="Yu Gothic"/>
                <a:ea typeface="Yu Gothic"/>
                <a:cs typeface="Yu Gothic"/>
              </a:defRPr>
            </a:pPr>
            <a:r>
              <a:rPr sz="5400" b="1" i="0">
                <a:solidFill>
                  <a:srgbClr val="111827"/>
                </a:solidFill>
                <a:latin typeface="Yu Gothic"/>
                <a:ea typeface="Yu Gothic"/>
                <a:cs typeface="Yu Gothic"/>
              </a:rPr>
              <a:t>DoMINO 入門</a:t>
            </a:r>
          </a:p>
        </p:txBody>
      </p:sp>
      <p:sp>
        <p:nvSpPr>
          <p:cNvPr id="10" name="">
            <a:extLst xmlns:a="http://schemas.openxmlformats.org/drawingml/2006/main">
              <a:ext uri="{FF2B5EF4-FFF2-40B4-BE49-F238E27FC236}">
                <a16:creationId xmlns:a16="http://schemas.microsoft.com/office/drawing/2014/main" id="{D2CB0F89-8996-4F98-A7C0-41A44A0D8DFE}"/>
              </a:ext>
            </a:extLst>
          </p:cNvPr>
          <p:cNvSpPr>
            <a:spLocks xmlns:a="http://schemas.openxmlformats.org/drawingml/2006/main" noGrp="1"/>
          </p:cNvSpPr>
          <p:nvPr/>
        </p:nvSpPr>
        <p:spPr>
          <a:xfrm xmlns:a="http://schemas.openxmlformats.org/drawingml/2006/main">
            <a:off x="514350" y="26384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325" b="0" i="0">
                <a:solidFill>
                  <a:srgbClr val="111827"/>
                </a:solidFill>
                <a:latin typeface="Yu Gothic"/>
                <a:ea typeface="Yu Gothic"/>
                <a:cs typeface="Yu Gothic"/>
              </a:defRPr>
            </a:pPr>
            <a:r>
              <a:rPr sz="2325" b="0" i="0">
                <a:solidFill>
                  <a:srgbClr val="111827"/>
                </a:solidFill>
                <a:latin typeface="Yu Gothic"/>
                <a:ea typeface="Yu Gothic"/>
                <a:cs typeface="Yu Gothic"/>
              </a:rPr>
              <a:t>複雑な3次元形状から、</a:t>
            </a:r>
          </a:p>
          <a:p xmlns:a="http://schemas.openxmlformats.org/drawingml/2006/main">
            <a:pPr algn="l">
              <a:lnSpc>
                <a:spcPct val="120000"/>
              </a:lnSpc>
              <a:buNone/>
              <a:defRPr sz="2325" b="0" i="0">
                <a:solidFill>
                  <a:srgbClr val="111827"/>
                </a:solidFill>
                <a:latin typeface="Yu Gothic"/>
                <a:ea typeface="Yu Gothic"/>
                <a:cs typeface="Yu Gothic"/>
              </a:defRPr>
            </a:pPr>
            <a:r>
              <a:rPr sz="2325" b="0" i="0">
                <a:solidFill>
                  <a:srgbClr val="111827"/>
                </a:solidFill>
                <a:latin typeface="Yu Gothic"/>
                <a:ea typeface="Yu Gothic"/>
                <a:cs typeface="Yu Gothic"/>
              </a:rPr>
              <a:t>表面圧力を予測するまで</a:t>
            </a:r>
          </a:p>
        </p:txBody>
      </p:sp>
      <p:sp>
        <p:nvSpPr>
          <p:cNvPr id="11" name="">
            <a:extLst xmlns:a="http://schemas.openxmlformats.org/drawingml/2006/main">
              <a:ext uri="{FF2B5EF4-FFF2-40B4-BE49-F238E27FC236}">
                <a16:creationId xmlns:a16="http://schemas.microsoft.com/office/drawing/2014/main" id="{5CBCC449-0A82-43FA-B2D3-6CFF45AA7940}"/>
              </a:ext>
            </a:extLst>
          </p:cNvPr>
          <p:cNvSpPr>
            <a:spLocks xmlns:a="http://schemas.openxmlformats.org/drawingml/2006/main" noGrp="1"/>
          </p:cNvSpPr>
          <p:nvPr/>
        </p:nvSpPr>
        <p:spPr>
          <a:xfrm xmlns:a="http://schemas.openxmlformats.org/drawingml/2006/main">
            <a:off x="514350" y="40005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Neural Operator → global / local geometry → surface-only Colab 実験</a:t>
            </a:r>
          </a:p>
        </p:txBody>
      </p:sp>
      <p:sp>
        <p:nvSpPr>
          <p:cNvPr id="12" name="">
            <a:extLst xmlns:a="http://schemas.openxmlformats.org/drawingml/2006/main">
              <a:ext uri="{FF2B5EF4-FFF2-40B4-BE49-F238E27FC236}">
                <a16:creationId xmlns:a16="http://schemas.microsoft.com/office/drawing/2014/main" id="{626DECB6-F6B9-4A04-A6AB-22FB24501F3B}"/>
              </a:ext>
            </a:extLst>
          </p:cNvPr>
          <p:cNvSpPr>
            <a:spLocks xmlns:a="http://schemas.openxmlformats.org/drawingml/2006/main" noGrp="1"/>
          </p:cNvSpPr>
          <p:nvPr/>
        </p:nvSpPr>
        <p:spPr>
          <a:xfrm xmlns:a="http://schemas.openxmlformats.org/drawingml/2006/main">
            <a:off x="514350" y="57626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i="0">
                <a:solidFill>
                  <a:srgbClr val="4F7D00"/>
                </a:solidFill>
                <a:latin typeface="Consolas"/>
                <a:ea typeface="Consolas"/>
                <a:cs typeface="Consolas"/>
              </a:defRPr>
            </a:pPr>
            <a:r>
              <a:rPr sz="1125" b="1" i="0">
                <a:solidFill>
                  <a:srgbClr val="4F7D00"/>
                </a:solidFill>
                <a:latin typeface="Consolas"/>
                <a:ea typeface="Consolas"/>
                <a:cs typeface="Consolas"/>
              </a:rPr>
              <a:t>Tesla T4 · 120 min · PhysicsNeMo 2.1.1</a:t>
            </a:r>
          </a:p>
        </p:txBody>
      </p:sp>
      <p:sp>
        <p:nvSpPr>
          <p:cNvPr id="13" name="">
            <a:extLst xmlns:a="http://schemas.openxmlformats.org/drawingml/2006/main">
              <a:ext uri="{FF2B5EF4-FFF2-40B4-BE49-F238E27FC236}">
                <a16:creationId xmlns:a16="http://schemas.microsoft.com/office/drawing/2014/main" id="{98CE7E92-368E-4D8F-A9D9-BDFB928014A6}"/>
              </a:ext>
            </a:extLst>
          </p:cNvPr>
          <p:cNvSpPr>
            <a:spLocks xmlns:a="http://schemas.openxmlformats.org/drawingml/2006/main" noGrp="1"/>
          </p:cNvSpPr>
          <p:nvPr/>
        </p:nvSpPr>
        <p:spPr>
          <a:xfrm xmlns:a="http://schemas.openxmlformats.org/drawingml/2006/main">
            <a:off x="5924550" y="685800"/>
            <a:ext cx="5772150" cy="5295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28725bb5c8d4d4a"/>
          <a:stretch xmlns:a="http://schemas.openxmlformats.org/drawingml/2006/main"/>
        </p:blipFill>
        <p:spPr>
          <a:xfrm xmlns:a="http://schemas.openxmlformats.org/drawingml/2006/main">
            <a:off x="5924550" y="909947"/>
            <a:ext cx="5772150" cy="4847606"/>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E4139A8-963F-4C71-8569-871792EF0E0F}"/>
              </a:ext>
            </a:extLst>
          </p:cNvPr>
          <p:cNvSpPr>
            <a:spLocks xmlns:a="http://schemas.openxmlformats.org/drawingml/2006/main" noGrp="1"/>
          </p:cNvSpPr>
          <p:nvPr/>
        </p:nvSpPr>
        <p:spPr>
          <a:xfrm xmlns:a="http://schemas.openxmlformats.org/drawingml/2006/main">
            <a:off x="6191250" y="605790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Held-out case 43 · predicted surface pressure</a:t>
            </a:r>
          </a:p>
        </p:txBody>
      </p:sp>
    </p:spTree>
    <p:extLst>
      <p:ext uri="{BB962C8B-B14F-4D97-AF65-F5344CB8AC3E}">
        <p14:creationId xmlns:p14="http://schemas.microsoft.com/office/powerpoint/2010/main" val="16375093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DC336A-9B08-4292-9D7D-83E25262191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7538A1-42F5-4069-A3B6-FC883D3F8BA8}"/>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ORIENTATION</a:t>
            </a:r>
          </a:p>
        </p:txBody>
      </p:sp>
      <p:sp>
        <p:nvSpPr>
          <p:cNvPr id="3" name="">
            <a:extLst xmlns:a="http://schemas.openxmlformats.org/drawingml/2006/main">
              <a:ext uri="{FF2B5EF4-FFF2-40B4-BE49-F238E27FC236}">
                <a16:creationId xmlns:a16="http://schemas.microsoft.com/office/drawing/2014/main" id="{C1120065-8D60-4754-881E-50981F5C8E01}"/>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02 / 32</a:t>
            </a:r>
          </a:p>
        </p:txBody>
      </p:sp>
      <p:sp>
        <p:nvSpPr>
          <p:cNvPr id="4" name="">
            <a:extLst xmlns:a="http://schemas.openxmlformats.org/drawingml/2006/main">
              <a:ext uri="{FF2B5EF4-FFF2-40B4-BE49-F238E27FC236}">
                <a16:creationId xmlns:a16="http://schemas.microsoft.com/office/drawing/2014/main" id="{35F9BCAE-5C25-499A-9442-96BD8A97FBD0}"/>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489E95FF-9C15-4126-9ACA-244AB5003290}"/>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Editorial synthesis for this seminar</a:t>
            </a:r>
          </a:p>
        </p:txBody>
      </p:sp>
      <p:sp>
        <p:nvSpPr>
          <p:cNvPr id="6" name="">
            <a:extLst xmlns:a="http://schemas.openxmlformats.org/drawingml/2006/main">
              <a:ext uri="{FF2B5EF4-FFF2-40B4-BE49-F238E27FC236}">
                <a16:creationId xmlns:a16="http://schemas.microsoft.com/office/drawing/2014/main" id="{359B6FAB-FCFC-4A60-A9A2-CD96AB63C39E}"/>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74EA40-38AE-4050-9AE4-25EC4A7F3CF7}"/>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構成・解説</a:t>
            </a:r>
          </a:p>
        </p:txBody>
      </p:sp>
      <p:sp>
        <p:nvSpPr>
          <p:cNvPr id="8" name="">
            <a:extLst xmlns:a="http://schemas.openxmlformats.org/drawingml/2006/main">
              <a:ext uri="{FF2B5EF4-FFF2-40B4-BE49-F238E27FC236}">
                <a16:creationId xmlns:a16="http://schemas.microsoft.com/office/drawing/2014/main" id="{76AF95E0-4BDE-477B-BF36-E28ABCCB79BF}"/>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今日のゴールは、DoMINOを『結果まで』一巡する</a:t>
            </a:r>
          </a:p>
        </p:txBody>
      </p:sp>
      <p:sp>
        <p:nvSpPr>
          <p:cNvPr id="9" name="">
            <a:extLst xmlns:a="http://schemas.openxmlformats.org/drawingml/2006/main">
              <a:ext uri="{FF2B5EF4-FFF2-40B4-BE49-F238E27FC236}">
                <a16:creationId xmlns:a16="http://schemas.microsoft.com/office/drawing/2014/main" id="{19280D90-62AA-4A17-A4A9-839648DA515C}"/>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B247F6BE-EF7B-40B6-B17F-CFB24D019BBD}"/>
              </a:ext>
            </a:extLst>
          </p:cNvPr>
          <p:cNvSpPr>
            <a:spLocks xmlns:a="http://schemas.openxmlformats.org/drawingml/2006/main" noGrp="1"/>
          </p:cNvSpPr>
          <p:nvPr/>
        </p:nvSpPr>
        <p:spPr>
          <a:xfrm xmlns:a="http://schemas.openxmlformats.org/drawingml/2006/main">
            <a:off x="590550" y="1809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i="0">
                <a:solidFill>
                  <a:srgbClr val="3D8DFF"/>
                </a:solidFill>
                <a:latin typeface="Consolas"/>
                <a:ea typeface="Consolas"/>
                <a:cs typeface="Consolas"/>
              </a:defRPr>
            </a:pPr>
            <a:r>
              <a:rPr sz="2100" b="1" i="0">
                <a:solidFill>
                  <a:srgbClr val="3D8DFF"/>
                </a:solidFill>
                <a:latin typeface="Consolas"/>
                <a:ea typeface="Consolas"/>
                <a:cs typeface="Consolas"/>
              </a:rPr>
              <a:t>01</a:t>
            </a:r>
          </a:p>
        </p:txBody>
      </p:sp>
      <p:sp>
        <p:nvSpPr>
          <p:cNvPr id="11" name="">
            <a:extLst xmlns:a="http://schemas.openxmlformats.org/drawingml/2006/main">
              <a:ext uri="{FF2B5EF4-FFF2-40B4-BE49-F238E27FC236}">
                <a16:creationId xmlns:a16="http://schemas.microsoft.com/office/drawing/2014/main" id="{261EB402-D37C-44B9-9A23-22E05BC9BF10}"/>
              </a:ext>
            </a:extLst>
          </p:cNvPr>
          <p:cNvSpPr>
            <a:spLocks xmlns:a="http://schemas.openxmlformats.org/drawingml/2006/main" noGrp="1"/>
          </p:cNvSpPr>
          <p:nvPr/>
        </p:nvSpPr>
        <p:spPr>
          <a:xfrm xmlns:a="http://schemas.openxmlformats.org/drawingml/2006/main">
            <a:off x="1485900" y="1847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5B6472"/>
                </a:solidFill>
                <a:latin typeface="Consolas"/>
                <a:ea typeface="Consolas"/>
                <a:cs typeface="Consolas"/>
              </a:defRPr>
            </a:pPr>
            <a:r>
              <a:rPr sz="1200" b="1" i="0">
                <a:solidFill>
                  <a:srgbClr val="5B6472"/>
                </a:solidFill>
                <a:latin typeface="Consolas"/>
                <a:ea typeface="Consolas"/>
                <a:cs typeface="Consolas"/>
              </a:rPr>
              <a:t>WHAT</a:t>
            </a:r>
          </a:p>
        </p:txBody>
      </p:sp>
      <p:sp>
        <p:nvSpPr>
          <p:cNvPr id="12" name="">
            <a:extLst xmlns:a="http://schemas.openxmlformats.org/drawingml/2006/main">
              <a:ext uri="{FF2B5EF4-FFF2-40B4-BE49-F238E27FC236}">
                <a16:creationId xmlns:a16="http://schemas.microsoft.com/office/drawing/2014/main" id="{1DF744F3-9ECE-41E6-A89F-3FF2CABAFFF3}"/>
              </a:ext>
            </a:extLst>
          </p:cNvPr>
          <p:cNvSpPr>
            <a:spLocks xmlns:a="http://schemas.openxmlformats.org/drawingml/2006/main" noGrp="1"/>
          </p:cNvSpPr>
          <p:nvPr/>
        </p:nvSpPr>
        <p:spPr>
          <a:xfrm xmlns:a="http://schemas.openxmlformats.org/drawingml/2006/main">
            <a:off x="2971800" y="1809750"/>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i="0">
                <a:solidFill>
                  <a:srgbClr val="111827"/>
                </a:solidFill>
                <a:latin typeface="Yu Gothic"/>
                <a:ea typeface="Yu Gothic"/>
                <a:cs typeface="Yu Gothic"/>
              </a:defRPr>
            </a:pPr>
            <a:r>
              <a:rPr sz="2025" b="1" i="0">
                <a:solidFill>
                  <a:srgbClr val="111827"/>
                </a:solidFill>
                <a:latin typeface="Yu Gothic"/>
                <a:ea typeface="Yu Gothic"/>
                <a:cs typeface="Yu Gothic"/>
              </a:rPr>
              <a:t>DoMINOとは何かを、一文で説明できる</a:t>
            </a:r>
          </a:p>
        </p:txBody>
      </p:sp>
      <p:sp>
        <p:nvSpPr>
          <p:cNvPr id="13" name="">
            <a:extLst xmlns:a="http://schemas.openxmlformats.org/drawingml/2006/main">
              <a:ext uri="{FF2B5EF4-FFF2-40B4-BE49-F238E27FC236}">
                <a16:creationId xmlns:a16="http://schemas.microsoft.com/office/drawing/2014/main" id="{1D40F3EE-5A34-4B51-A5F6-2C21E98B7EF5}"/>
              </a:ext>
            </a:extLst>
          </p:cNvPr>
          <p:cNvSpPr>
            <a:spLocks xmlns:a="http://schemas.openxmlformats.org/drawingml/2006/main" noGrp="1"/>
          </p:cNvSpPr>
          <p:nvPr/>
        </p:nvSpPr>
        <p:spPr>
          <a:xfrm xmlns:a="http://schemas.openxmlformats.org/drawingml/2006/main">
            <a:off x="590550" y="2514600"/>
            <a:ext cx="104775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14" name="">
            <a:extLst xmlns:a="http://schemas.openxmlformats.org/drawingml/2006/main">
              <a:ext uri="{FF2B5EF4-FFF2-40B4-BE49-F238E27FC236}">
                <a16:creationId xmlns:a16="http://schemas.microsoft.com/office/drawing/2014/main" id="{DA610D00-8163-4655-A210-66FF5E9F64B4}"/>
              </a:ext>
            </a:extLst>
          </p:cNvPr>
          <p:cNvSpPr>
            <a:spLocks xmlns:a="http://schemas.openxmlformats.org/drawingml/2006/main" noGrp="1"/>
          </p:cNvSpPr>
          <p:nvPr/>
        </p:nvSpPr>
        <p:spPr>
          <a:xfrm xmlns:a="http://schemas.openxmlformats.org/drawingml/2006/main">
            <a:off x="59055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i="0">
                <a:solidFill>
                  <a:srgbClr val="3D8DFF"/>
                </a:solidFill>
                <a:latin typeface="Consolas"/>
                <a:ea typeface="Consolas"/>
                <a:cs typeface="Consolas"/>
              </a:defRPr>
            </a:pPr>
            <a:r>
              <a:rPr sz="2100" b="1" i="0">
                <a:solidFill>
                  <a:srgbClr val="3D8DFF"/>
                </a:solidFill>
                <a:latin typeface="Consolas"/>
                <a:ea typeface="Consolas"/>
                <a:cs typeface="Consolas"/>
              </a:rPr>
              <a:t>02</a:t>
            </a:r>
          </a:p>
        </p:txBody>
      </p:sp>
      <p:sp>
        <p:nvSpPr>
          <p:cNvPr id="15" name="">
            <a:extLst xmlns:a="http://schemas.openxmlformats.org/drawingml/2006/main">
              <a:ext uri="{FF2B5EF4-FFF2-40B4-BE49-F238E27FC236}">
                <a16:creationId xmlns:a16="http://schemas.microsoft.com/office/drawing/2014/main" id="{46528461-24D1-4E87-BAF2-EC43B3BB782E}"/>
              </a:ext>
            </a:extLst>
          </p:cNvPr>
          <p:cNvSpPr>
            <a:spLocks xmlns:a="http://schemas.openxmlformats.org/drawingml/2006/main" noGrp="1"/>
          </p:cNvSpPr>
          <p:nvPr/>
        </p:nvSpPr>
        <p:spPr>
          <a:xfrm xmlns:a="http://schemas.openxmlformats.org/drawingml/2006/main">
            <a:off x="1485900" y="2990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5B6472"/>
                </a:solidFill>
                <a:latin typeface="Consolas"/>
                <a:ea typeface="Consolas"/>
                <a:cs typeface="Consolas"/>
              </a:defRPr>
            </a:pPr>
            <a:r>
              <a:rPr sz="1200" b="1" i="0">
                <a:solidFill>
                  <a:srgbClr val="5B6472"/>
                </a:solidFill>
                <a:latin typeface="Consolas"/>
                <a:ea typeface="Consolas"/>
                <a:cs typeface="Consolas"/>
              </a:rPr>
              <a:t>HOW</a:t>
            </a:r>
          </a:p>
        </p:txBody>
      </p:sp>
      <p:sp>
        <p:nvSpPr>
          <p:cNvPr id="16" name="">
            <a:extLst xmlns:a="http://schemas.openxmlformats.org/drawingml/2006/main">
              <a:ext uri="{FF2B5EF4-FFF2-40B4-BE49-F238E27FC236}">
                <a16:creationId xmlns:a16="http://schemas.microsoft.com/office/drawing/2014/main" id="{D0FCE622-D7A1-454F-AFAD-B9032A95E88A}"/>
              </a:ext>
            </a:extLst>
          </p:cNvPr>
          <p:cNvSpPr>
            <a:spLocks xmlns:a="http://schemas.openxmlformats.org/drawingml/2006/main" noGrp="1"/>
          </p:cNvSpPr>
          <p:nvPr/>
        </p:nvSpPr>
        <p:spPr>
          <a:xfrm xmlns:a="http://schemas.openxmlformats.org/drawingml/2006/main">
            <a:off x="2971800" y="2952750"/>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i="0">
                <a:solidFill>
                  <a:srgbClr val="111827"/>
                </a:solidFill>
                <a:latin typeface="Yu Gothic"/>
                <a:ea typeface="Yu Gothic"/>
                <a:cs typeface="Yu Gothic"/>
              </a:defRPr>
            </a:pPr>
            <a:r>
              <a:rPr sz="2025" b="1" i="0">
                <a:solidFill>
                  <a:srgbClr val="111827"/>
                </a:solidFill>
                <a:latin typeface="Yu Gothic"/>
                <a:ea typeface="Yu Gothic"/>
                <a:cs typeface="Yu Gothic"/>
              </a:rPr>
              <a:t>global / local / multi-scale が、どこで使われるかを追える</a:t>
            </a:r>
          </a:p>
        </p:txBody>
      </p:sp>
      <p:sp>
        <p:nvSpPr>
          <p:cNvPr id="17" name="">
            <a:extLst xmlns:a="http://schemas.openxmlformats.org/drawingml/2006/main">
              <a:ext uri="{FF2B5EF4-FFF2-40B4-BE49-F238E27FC236}">
                <a16:creationId xmlns:a16="http://schemas.microsoft.com/office/drawing/2014/main" id="{90F6123E-CF29-4407-AAC6-3D0FB31C3A99}"/>
              </a:ext>
            </a:extLst>
          </p:cNvPr>
          <p:cNvSpPr>
            <a:spLocks xmlns:a="http://schemas.openxmlformats.org/drawingml/2006/main" noGrp="1"/>
          </p:cNvSpPr>
          <p:nvPr/>
        </p:nvSpPr>
        <p:spPr>
          <a:xfrm xmlns:a="http://schemas.openxmlformats.org/drawingml/2006/main">
            <a:off x="590550" y="3657600"/>
            <a:ext cx="104775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18" name="">
            <a:extLst xmlns:a="http://schemas.openxmlformats.org/drawingml/2006/main">
              <a:ext uri="{FF2B5EF4-FFF2-40B4-BE49-F238E27FC236}">
                <a16:creationId xmlns:a16="http://schemas.microsoft.com/office/drawing/2014/main" id="{D57156D2-5E2A-4B93-9C0C-D93B1FDFF7CF}"/>
              </a:ext>
            </a:extLst>
          </p:cNvPr>
          <p:cNvSpPr>
            <a:spLocks xmlns:a="http://schemas.openxmlformats.org/drawingml/2006/main" noGrp="1"/>
          </p:cNvSpPr>
          <p:nvPr/>
        </p:nvSpPr>
        <p:spPr>
          <a:xfrm xmlns:a="http://schemas.openxmlformats.org/drawingml/2006/main">
            <a:off x="590550" y="4095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i="0">
                <a:solidFill>
                  <a:srgbClr val="3D8DFF"/>
                </a:solidFill>
                <a:latin typeface="Consolas"/>
                <a:ea typeface="Consolas"/>
                <a:cs typeface="Consolas"/>
              </a:defRPr>
            </a:pPr>
            <a:r>
              <a:rPr sz="2100" b="1" i="0">
                <a:solidFill>
                  <a:srgbClr val="3D8DFF"/>
                </a:solidFill>
                <a:latin typeface="Consolas"/>
                <a:ea typeface="Consolas"/>
                <a:cs typeface="Consolas"/>
              </a:rPr>
              <a:t>03</a:t>
            </a:r>
          </a:p>
        </p:txBody>
      </p:sp>
      <p:sp>
        <p:nvSpPr>
          <p:cNvPr id="19" name="">
            <a:extLst xmlns:a="http://schemas.openxmlformats.org/drawingml/2006/main">
              <a:ext uri="{FF2B5EF4-FFF2-40B4-BE49-F238E27FC236}">
                <a16:creationId xmlns:a16="http://schemas.microsoft.com/office/drawing/2014/main" id="{AC1FE9A1-7DB4-4D96-8F98-04B253523F80}"/>
              </a:ext>
            </a:extLst>
          </p:cNvPr>
          <p:cNvSpPr>
            <a:spLocks xmlns:a="http://schemas.openxmlformats.org/drawingml/2006/main" noGrp="1"/>
          </p:cNvSpPr>
          <p:nvPr/>
        </p:nvSpPr>
        <p:spPr>
          <a:xfrm xmlns:a="http://schemas.openxmlformats.org/drawingml/2006/main">
            <a:off x="1485900" y="4133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5B6472"/>
                </a:solidFill>
                <a:latin typeface="Consolas"/>
                <a:ea typeface="Consolas"/>
                <a:cs typeface="Consolas"/>
              </a:defRPr>
            </a:pPr>
            <a:r>
              <a:rPr sz="1200" b="1" i="0">
                <a:solidFill>
                  <a:srgbClr val="5B6472"/>
                </a:solidFill>
                <a:latin typeface="Consolas"/>
                <a:ea typeface="Consolas"/>
                <a:cs typeface="Consolas"/>
              </a:rPr>
              <a:t>READ</a:t>
            </a:r>
          </a:p>
        </p:txBody>
      </p:sp>
      <p:sp>
        <p:nvSpPr>
          <p:cNvPr id="20" name="">
            <a:extLst xmlns:a="http://schemas.openxmlformats.org/drawingml/2006/main">
              <a:ext uri="{FF2B5EF4-FFF2-40B4-BE49-F238E27FC236}">
                <a16:creationId xmlns:a16="http://schemas.microsoft.com/office/drawing/2014/main" id="{F0B854B3-1670-40F1-9BCC-8479543BA140}"/>
              </a:ext>
            </a:extLst>
          </p:cNvPr>
          <p:cNvSpPr>
            <a:spLocks xmlns:a="http://schemas.openxmlformats.org/drawingml/2006/main" noGrp="1"/>
          </p:cNvSpPr>
          <p:nvPr/>
        </p:nvSpPr>
        <p:spPr>
          <a:xfrm xmlns:a="http://schemas.openxmlformats.org/drawingml/2006/main">
            <a:off x="2971800" y="4095750"/>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i="0">
                <a:solidFill>
                  <a:srgbClr val="111827"/>
                </a:solidFill>
                <a:latin typeface="Yu Gothic"/>
                <a:ea typeface="Yu Gothic"/>
                <a:cs typeface="Yu Gothic"/>
              </a:defRPr>
            </a:pPr>
            <a:r>
              <a:rPr sz="2025" b="1" i="0">
                <a:solidFill>
                  <a:srgbClr val="111827"/>
                </a:solidFill>
                <a:latin typeface="Yu Gothic"/>
                <a:ea typeface="Yu Gothic"/>
                <a:cs typeface="Yu Gothic"/>
              </a:rPr>
              <a:t>学習曲線・指標・3次元誤差を、過大評価せず読める</a:t>
            </a:r>
          </a:p>
        </p:txBody>
      </p:sp>
      <p:sp>
        <p:nvSpPr>
          <p:cNvPr id="21" name="">
            <a:extLst xmlns:a="http://schemas.openxmlformats.org/drawingml/2006/main">
              <a:ext uri="{FF2B5EF4-FFF2-40B4-BE49-F238E27FC236}">
                <a16:creationId xmlns:a16="http://schemas.microsoft.com/office/drawing/2014/main" id="{0E455D0C-09AC-4A76-9A73-D16C5C3E8373}"/>
              </a:ext>
            </a:extLst>
          </p:cNvPr>
          <p:cNvSpPr>
            <a:spLocks xmlns:a="http://schemas.openxmlformats.org/drawingml/2006/main" noGrp="1"/>
          </p:cNvSpPr>
          <p:nvPr/>
        </p:nvSpPr>
        <p:spPr>
          <a:xfrm xmlns:a="http://schemas.openxmlformats.org/drawingml/2006/main">
            <a:off x="590550" y="4800600"/>
            <a:ext cx="104775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22" name="">
            <a:extLst xmlns:a="http://schemas.openxmlformats.org/drawingml/2006/main">
              <a:ext uri="{FF2B5EF4-FFF2-40B4-BE49-F238E27FC236}">
                <a16:creationId xmlns:a16="http://schemas.microsoft.com/office/drawing/2014/main" id="{B84D3192-325E-45E8-AB44-9F30C720E111}"/>
              </a:ext>
            </a:extLst>
          </p:cNvPr>
          <p:cNvSpPr>
            <a:spLocks xmlns:a="http://schemas.openxmlformats.org/drawingml/2006/main" noGrp="1"/>
          </p:cNvSpPr>
          <p:nvPr/>
        </p:nvSpPr>
        <p:spPr>
          <a:xfrm xmlns:a="http://schemas.openxmlformats.org/drawingml/2006/main">
            <a:off x="590550" y="50101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5B6472"/>
                </a:solidFill>
                <a:latin typeface="Consolas"/>
                <a:ea typeface="Consolas"/>
                <a:cs typeface="Consolas"/>
              </a:defRPr>
            </a:pPr>
            <a:r>
              <a:rPr sz="1050" b="1" i="0">
                <a:solidFill>
                  <a:srgbClr val="5B6472"/>
                </a:solidFill>
                <a:latin typeface="Consolas"/>
                <a:ea typeface="Consolas"/>
                <a:cs typeface="Consolas"/>
              </a:rPr>
              <a:t>出典表示</a:t>
            </a:r>
          </a:p>
        </p:txBody>
      </p:sp>
      <p:sp>
        <p:nvSpPr>
          <p:cNvPr id="23" name="">
            <a:extLst xmlns:a="http://schemas.openxmlformats.org/drawingml/2006/main">
              <a:ext uri="{FF2B5EF4-FFF2-40B4-BE49-F238E27FC236}">
                <a16:creationId xmlns:a16="http://schemas.microsoft.com/office/drawing/2014/main" id="{F99B82AB-1A4B-40CD-B3DB-E8D48CCA98D4}"/>
              </a:ext>
            </a:extLst>
          </p:cNvPr>
          <p:cNvSpPr>
            <a:spLocks xmlns:a="http://schemas.openxmlformats.org/drawingml/2006/main" noGrp="1"/>
          </p:cNvSpPr>
          <p:nvPr/>
        </p:nvSpPr>
        <p:spPr>
          <a:xfrm xmlns:a="http://schemas.openxmlformats.org/drawingml/2006/main">
            <a:off x="1581150" y="4972050"/>
            <a:ext cx="1238250" cy="2476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CEFEF19-ADFD-41BA-9A94-F4E129B8130C}"/>
              </a:ext>
            </a:extLst>
          </p:cNvPr>
          <p:cNvSpPr>
            <a:spLocks xmlns:a="http://schemas.openxmlformats.org/drawingml/2006/main" noGrp="1"/>
          </p:cNvSpPr>
          <p:nvPr/>
        </p:nvSpPr>
        <p:spPr>
          <a:xfrm xmlns:a="http://schemas.openxmlformats.org/drawingml/2006/main">
            <a:off x="1638300" y="5019675"/>
            <a:ext cx="1123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900" b="1" i="0">
                <a:solidFill>
                  <a:srgbClr val="FFFFFF"/>
                </a:solidFill>
                <a:latin typeface="Consolas"/>
                <a:ea typeface="Consolas"/>
                <a:cs typeface="Consolas"/>
              </a:defRPr>
            </a:pPr>
            <a:r>
              <a:rPr sz="900" b="1" i="0">
                <a:solidFill>
                  <a:srgbClr val="FFFFFF"/>
                </a:solidFill>
                <a:latin typeface="Consolas"/>
                <a:ea typeface="Consolas"/>
                <a:cs typeface="Consolas"/>
              </a:rPr>
              <a:t>外部資料</a:t>
            </a:r>
          </a:p>
        </p:txBody>
      </p:sp>
      <p:sp>
        <p:nvSpPr>
          <p:cNvPr id="25" name="">
            <a:extLst xmlns:a="http://schemas.openxmlformats.org/drawingml/2006/main">
              <a:ext uri="{FF2B5EF4-FFF2-40B4-BE49-F238E27FC236}">
                <a16:creationId xmlns:a16="http://schemas.microsoft.com/office/drawing/2014/main" id="{8172E411-77C2-47FA-8C3A-AC8DFAEECD6D}"/>
              </a:ext>
            </a:extLst>
          </p:cNvPr>
          <p:cNvSpPr>
            <a:spLocks xmlns:a="http://schemas.openxmlformats.org/drawingml/2006/main" noGrp="1"/>
          </p:cNvSpPr>
          <p:nvPr/>
        </p:nvSpPr>
        <p:spPr>
          <a:xfrm xmlns:a="http://schemas.openxmlformats.org/drawingml/2006/main">
            <a:off x="3009900" y="4972050"/>
            <a:ext cx="1238250" cy="24765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FD09CEF-3B48-4309-99F9-15648E8B47CD}"/>
              </a:ext>
            </a:extLst>
          </p:cNvPr>
          <p:cNvSpPr>
            <a:spLocks xmlns:a="http://schemas.openxmlformats.org/drawingml/2006/main" noGrp="1"/>
          </p:cNvSpPr>
          <p:nvPr/>
        </p:nvSpPr>
        <p:spPr>
          <a:xfrm xmlns:a="http://schemas.openxmlformats.org/drawingml/2006/main">
            <a:off x="3067050" y="5019675"/>
            <a:ext cx="1123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900" b="1" i="0">
                <a:solidFill>
                  <a:srgbClr val="FFFFFF"/>
                </a:solidFill>
                <a:latin typeface="Consolas"/>
                <a:ea typeface="Consolas"/>
                <a:cs typeface="Consolas"/>
              </a:defRPr>
            </a:pPr>
            <a:r>
              <a:rPr sz="900" b="1" i="0">
                <a:solidFill>
                  <a:srgbClr val="FFFFFF"/>
                </a:solidFill>
                <a:latin typeface="Consolas"/>
                <a:ea typeface="Consolas"/>
                <a:cs typeface="Consolas"/>
              </a:rPr>
              <a:t>今回計算</a:t>
            </a:r>
          </a:p>
        </p:txBody>
      </p:sp>
      <p:sp>
        <p:nvSpPr>
          <p:cNvPr id="27" name="">
            <a:extLst xmlns:a="http://schemas.openxmlformats.org/drawingml/2006/main">
              <a:ext uri="{FF2B5EF4-FFF2-40B4-BE49-F238E27FC236}">
                <a16:creationId xmlns:a16="http://schemas.microsoft.com/office/drawing/2014/main" id="{1B716975-1B6D-4B66-ADC7-6DDF4953F83B}"/>
              </a:ext>
            </a:extLst>
          </p:cNvPr>
          <p:cNvSpPr>
            <a:spLocks xmlns:a="http://schemas.openxmlformats.org/drawingml/2006/main" noGrp="1"/>
          </p:cNvSpPr>
          <p:nvPr/>
        </p:nvSpPr>
        <p:spPr>
          <a:xfrm xmlns:a="http://schemas.openxmlformats.org/drawingml/2006/main">
            <a:off x="4438650" y="4972050"/>
            <a:ext cx="1238250" cy="24765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7DC598F-3786-4D15-BEB0-79D3474EA3D4}"/>
              </a:ext>
            </a:extLst>
          </p:cNvPr>
          <p:cNvSpPr>
            <a:spLocks xmlns:a="http://schemas.openxmlformats.org/drawingml/2006/main" noGrp="1"/>
          </p:cNvSpPr>
          <p:nvPr/>
        </p:nvSpPr>
        <p:spPr>
          <a:xfrm xmlns:a="http://schemas.openxmlformats.org/drawingml/2006/main">
            <a:off x="4495800" y="5019675"/>
            <a:ext cx="1123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900" b="1" i="0">
                <a:solidFill>
                  <a:srgbClr val="FFFFFF"/>
                </a:solidFill>
                <a:latin typeface="Consolas"/>
                <a:ea typeface="Consolas"/>
                <a:cs typeface="Consolas"/>
              </a:defRPr>
            </a:pPr>
            <a:r>
              <a:rPr sz="900" b="1" i="0">
                <a:solidFill>
                  <a:srgbClr val="FFFFFF"/>
                </a:solidFill>
                <a:latin typeface="Consolas"/>
                <a:ea typeface="Consolas"/>
                <a:cs typeface="Consolas"/>
              </a:rPr>
              <a:t>混合</a:t>
            </a:r>
          </a:p>
        </p:txBody>
      </p:sp>
      <p:sp>
        <p:nvSpPr>
          <p:cNvPr id="29" name="">
            <a:extLst xmlns:a="http://schemas.openxmlformats.org/drawingml/2006/main">
              <a:ext uri="{FF2B5EF4-FFF2-40B4-BE49-F238E27FC236}">
                <a16:creationId xmlns:a16="http://schemas.microsoft.com/office/drawing/2014/main" id="{8FF5B4D7-C166-4327-A2D3-9BC2AD1522A9}"/>
              </a:ext>
            </a:extLst>
          </p:cNvPr>
          <p:cNvSpPr>
            <a:spLocks xmlns:a="http://schemas.openxmlformats.org/drawingml/2006/main" noGrp="1"/>
          </p:cNvSpPr>
          <p:nvPr/>
        </p:nvSpPr>
        <p:spPr>
          <a:xfrm xmlns:a="http://schemas.openxmlformats.org/drawingml/2006/main">
            <a:off x="5867400" y="4972050"/>
            <a:ext cx="1238250" cy="24765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C2F4CD6-5E0E-47CE-B670-2F883E990EA0}"/>
              </a:ext>
            </a:extLst>
          </p:cNvPr>
          <p:cNvSpPr>
            <a:spLocks xmlns:a="http://schemas.openxmlformats.org/drawingml/2006/main" noGrp="1"/>
          </p:cNvSpPr>
          <p:nvPr/>
        </p:nvSpPr>
        <p:spPr>
          <a:xfrm xmlns:a="http://schemas.openxmlformats.org/drawingml/2006/main">
            <a:off x="5924550" y="5019675"/>
            <a:ext cx="1123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900" b="1" i="0">
                <a:solidFill>
                  <a:srgbClr val="FFFFFF"/>
                </a:solidFill>
                <a:latin typeface="Consolas"/>
                <a:ea typeface="Consolas"/>
                <a:cs typeface="Consolas"/>
              </a:defRPr>
            </a:pPr>
            <a:r>
              <a:rPr sz="900" b="1" i="0">
                <a:solidFill>
                  <a:srgbClr val="FFFFFF"/>
                </a:solidFill>
                <a:latin typeface="Consolas"/>
                <a:ea typeface="Consolas"/>
                <a:cs typeface="Consolas"/>
              </a:rPr>
              <a:t>構成・解説</a:t>
            </a:r>
          </a:p>
        </p:txBody>
      </p:sp>
      <p:sp>
        <p:nvSpPr>
          <p:cNvPr id="31" name="">
            <a:extLst xmlns:a="http://schemas.openxmlformats.org/drawingml/2006/main">
              <a:ext uri="{FF2B5EF4-FFF2-40B4-BE49-F238E27FC236}">
                <a16:creationId xmlns:a16="http://schemas.microsoft.com/office/drawing/2014/main" id="{135E8218-DC8A-448E-BF4D-17BDA22A33C3}"/>
              </a:ext>
            </a:extLst>
          </p:cNvPr>
          <p:cNvSpPr>
            <a:spLocks xmlns:a="http://schemas.openxmlformats.org/drawingml/2006/main" noGrp="1"/>
          </p:cNvSpPr>
          <p:nvPr/>
        </p:nvSpPr>
        <p:spPr>
          <a:xfrm xmlns:a="http://schemas.openxmlformats.org/drawingml/2006/main">
            <a:off x="590550" y="5372100"/>
            <a:ext cx="10477500" cy="5905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3D8370C-0638-4DAC-89C2-AE1413FC0997}"/>
              </a:ext>
            </a:extLst>
          </p:cNvPr>
          <p:cNvSpPr>
            <a:spLocks xmlns:a="http://schemas.openxmlformats.org/drawingml/2006/main" noGrp="1"/>
          </p:cNvSpPr>
          <p:nvPr/>
        </p:nvSpPr>
        <p:spPr>
          <a:xfrm xmlns:a="http://schemas.openxmlformats.org/drawingml/2006/main">
            <a:off x="781050" y="554355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輪講の優先順位：実用精度の証明より、モデルの考え方と検証の読み方を身につける</a:t>
            </a:r>
          </a:p>
        </p:txBody>
      </p:sp>
    </p:spTree>
    <p:extLst>
      <p:ext uri="{BB962C8B-B14F-4D97-AF65-F5344CB8AC3E}">
        <p14:creationId xmlns:p14="http://schemas.microsoft.com/office/powerpoint/2010/main" val="17653645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B69ADC-553F-4384-94FB-D43A41124C8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B23AAB-B070-42E2-856D-F8188D74F517}"/>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CONCEPT</a:t>
            </a:r>
          </a:p>
        </p:txBody>
      </p:sp>
      <p:sp>
        <p:nvSpPr>
          <p:cNvPr id="3" name="">
            <a:extLst xmlns:a="http://schemas.openxmlformats.org/drawingml/2006/main">
              <a:ext uri="{FF2B5EF4-FFF2-40B4-BE49-F238E27FC236}">
                <a16:creationId xmlns:a16="http://schemas.microsoft.com/office/drawing/2014/main" id="{E9289995-8065-4FE8-A285-8C05B3234466}"/>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03 / 32</a:t>
            </a:r>
          </a:p>
        </p:txBody>
      </p:sp>
      <p:sp>
        <p:nvSpPr>
          <p:cNvPr id="4" name="">
            <a:extLst xmlns:a="http://schemas.openxmlformats.org/drawingml/2006/main">
              <a:ext uri="{FF2B5EF4-FFF2-40B4-BE49-F238E27FC236}">
                <a16:creationId xmlns:a16="http://schemas.microsoft.com/office/drawing/2014/main" id="{08AF85E4-3FC6-4E02-A2C9-734606FE225B}"/>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83398BA0-55D0-4D2F-B088-5D156EA83734}"/>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1CCD25A7-4AF4-41D9-8805-BECA9033B4BA}"/>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91169A-CBB8-43FB-BFF6-81F0C731F2AA}"/>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6E844395-8798-4128-9532-1924BF272286}"/>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DoMINOは、query点ごとに物理場を予測する</a:t>
            </a:r>
          </a:p>
        </p:txBody>
      </p:sp>
      <p:sp>
        <p:nvSpPr>
          <p:cNvPr id="9" name="">
            <a:extLst xmlns:a="http://schemas.openxmlformats.org/drawingml/2006/main">
              <a:ext uri="{FF2B5EF4-FFF2-40B4-BE49-F238E27FC236}">
                <a16:creationId xmlns:a16="http://schemas.microsoft.com/office/drawing/2014/main" id="{2DD9BEA0-B09E-4601-84F5-4970752F6598}"/>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7C814DD3-E401-4210-851E-ED56B173564D}"/>
              </a:ext>
            </a:extLst>
          </p:cNvPr>
          <p:cNvSpPr>
            <a:spLocks xmlns:a="http://schemas.openxmlformats.org/drawingml/2006/main" noGrp="1"/>
          </p:cNvSpPr>
          <p:nvPr/>
        </p:nvSpPr>
        <p:spPr>
          <a:xfrm xmlns:a="http://schemas.openxmlformats.org/drawingml/2006/main">
            <a:off x="590550" y="169545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1" i="0">
                <a:solidFill>
                  <a:srgbClr val="3D8DFF"/>
                </a:solidFill>
                <a:latin typeface="Yu Gothic"/>
                <a:ea typeface="Yu Gothic"/>
                <a:cs typeface="Yu Gothic"/>
              </a:defRPr>
            </a:pPr>
            <a:r>
              <a:rPr sz="2250" b="1" i="0">
                <a:solidFill>
                  <a:srgbClr val="3D8DFF"/>
                </a:solidFill>
                <a:latin typeface="Yu Gothic"/>
                <a:ea typeface="Yu Gothic"/>
                <a:cs typeface="Yu Gothic"/>
              </a:rPr>
              <a:t>Decomposable Multi-scale Iterative Neural Operator</a:t>
            </a:r>
          </a:p>
        </p:txBody>
      </p:sp>
      <p:sp>
        <p:nvSpPr>
          <p:cNvPr id="11" name="">
            <a:extLst xmlns:a="http://schemas.openxmlformats.org/drawingml/2006/main">
              <a:ext uri="{FF2B5EF4-FFF2-40B4-BE49-F238E27FC236}">
                <a16:creationId xmlns:a16="http://schemas.microsoft.com/office/drawing/2014/main" id="{4A159A83-DFA0-43A8-B66D-21CE7D8B005F}"/>
              </a:ext>
            </a:extLst>
          </p:cNvPr>
          <p:cNvSpPr>
            <a:spLocks xmlns:a="http://schemas.openxmlformats.org/drawingml/2006/main" noGrp="1"/>
          </p:cNvSpPr>
          <p:nvPr/>
        </p:nvSpPr>
        <p:spPr>
          <a:xfrm xmlns:a="http://schemas.openxmlformats.org/drawingml/2006/main">
            <a:off x="590550" y="22479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875" b="0" i="0">
                <a:solidFill>
                  <a:srgbClr val="111827"/>
                </a:solidFill>
                <a:latin typeface="Yu Gothic"/>
                <a:ea typeface="Yu Gothic"/>
                <a:cs typeface="Yu Gothic"/>
              </a:defRPr>
            </a:pPr>
            <a:r>
              <a:rPr sz="1875" b="0" i="0">
                <a:solidFill>
                  <a:srgbClr val="111827"/>
                </a:solidFill>
                <a:latin typeface="Yu Gothic"/>
                <a:ea typeface="Yu Gothic"/>
                <a:cs typeface="Yu Gothic"/>
              </a:rPr>
              <a:t>外部空力のような大規模3次元問題に対し、点群から形状を符号化し、任意のquery点で表面・体積の物理量を予測する。</a:t>
            </a:r>
          </a:p>
        </p:txBody>
      </p:sp>
      <p:sp>
        <p:nvSpPr>
          <p:cNvPr id="12" name="">
            <a:extLst xmlns:a="http://schemas.openxmlformats.org/drawingml/2006/main">
              <a:ext uri="{FF2B5EF4-FFF2-40B4-BE49-F238E27FC236}">
                <a16:creationId xmlns:a16="http://schemas.microsoft.com/office/drawing/2014/main" id="{D1F1A70B-8107-40CC-BD13-3A19B20EEBE7}"/>
              </a:ext>
            </a:extLst>
          </p:cNvPr>
          <p:cNvSpPr>
            <a:spLocks xmlns:a="http://schemas.openxmlformats.org/drawingml/2006/main" noGrp="1"/>
          </p:cNvSpPr>
          <p:nvPr/>
        </p:nvSpPr>
        <p:spPr>
          <a:xfrm xmlns:a="http://schemas.openxmlformats.org/drawingml/2006/main">
            <a:off x="590550" y="3390900"/>
            <a:ext cx="2190750" cy="0"/>
          </a:xfrm>
          <a:prstGeom xmlns:a="http://schemas.openxmlformats.org/drawingml/2006/main" prst="line">
            <a:avLst/>
          </a:prstGeom>
          <a:noFill xmlns:a="http://schemas.openxmlformats.org/drawingml/2006/main"/>
          <a:ln xmlns:a="http://schemas.openxmlformats.org/drawingml/2006/main" w="47625">
            <a:solidFill>
              <a:srgbClr val="76B900"/>
            </a:solidFill>
            <a:prstDash val="solid"/>
          </a:ln>
        </p:spPr>
      </p:sp>
      <p:sp>
        <p:nvSpPr>
          <p:cNvPr id="13" name="">
            <a:extLst xmlns:a="http://schemas.openxmlformats.org/drawingml/2006/main">
              <a:ext uri="{FF2B5EF4-FFF2-40B4-BE49-F238E27FC236}">
                <a16:creationId xmlns:a16="http://schemas.microsoft.com/office/drawing/2014/main" id="{54921884-0C05-4151-827C-73E1CBA2B4C6}"/>
              </a:ext>
            </a:extLst>
          </p:cNvPr>
          <p:cNvSpPr>
            <a:spLocks xmlns:a="http://schemas.openxmlformats.org/drawingml/2006/main" noGrp="1"/>
          </p:cNvSpPr>
          <p:nvPr/>
        </p:nvSpPr>
        <p:spPr>
          <a:xfrm xmlns:a="http://schemas.openxmlformats.org/drawingml/2006/main">
            <a:off x="590550" y="3619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76B900"/>
                </a:solidFill>
                <a:latin typeface="Consolas"/>
                <a:ea typeface="Consolas"/>
                <a:cs typeface="Consolas"/>
              </a:defRPr>
            </a:pPr>
            <a:r>
              <a:rPr sz="1350" b="1" i="0">
                <a:solidFill>
                  <a:srgbClr val="76B900"/>
                </a:solidFill>
                <a:latin typeface="Consolas"/>
                <a:ea typeface="Consolas"/>
                <a:cs typeface="Consolas"/>
              </a:rPr>
              <a:t>LOCAL</a:t>
            </a:r>
          </a:p>
        </p:txBody>
      </p:sp>
      <p:sp>
        <p:nvSpPr>
          <p:cNvPr id="14" name="">
            <a:extLst xmlns:a="http://schemas.openxmlformats.org/drawingml/2006/main">
              <a:ext uri="{FF2B5EF4-FFF2-40B4-BE49-F238E27FC236}">
                <a16:creationId xmlns:a16="http://schemas.microsoft.com/office/drawing/2014/main" id="{A08E5C00-4AB1-42C7-86B9-2DBFBE8CD8F3}"/>
              </a:ext>
            </a:extLst>
          </p:cNvPr>
          <p:cNvSpPr>
            <a:spLocks xmlns:a="http://schemas.openxmlformats.org/drawingml/2006/main" noGrp="1"/>
          </p:cNvSpPr>
          <p:nvPr/>
        </p:nvSpPr>
        <p:spPr>
          <a:xfrm xmlns:a="http://schemas.openxmlformats.org/drawingml/2006/main">
            <a:off x="590550" y="4095750"/>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query点の周囲を詳しく読む</a:t>
            </a:r>
          </a:p>
        </p:txBody>
      </p:sp>
      <p:sp>
        <p:nvSpPr>
          <p:cNvPr id="15" name="">
            <a:extLst xmlns:a="http://schemas.openxmlformats.org/drawingml/2006/main">
              <a:ext uri="{FF2B5EF4-FFF2-40B4-BE49-F238E27FC236}">
                <a16:creationId xmlns:a16="http://schemas.microsoft.com/office/drawing/2014/main" id="{3DC34BAF-33DC-4D62-AB00-FDE06CC1BAA7}"/>
              </a:ext>
            </a:extLst>
          </p:cNvPr>
          <p:cNvSpPr>
            <a:spLocks xmlns:a="http://schemas.openxmlformats.org/drawingml/2006/main" noGrp="1"/>
          </p:cNvSpPr>
          <p:nvPr/>
        </p:nvSpPr>
        <p:spPr>
          <a:xfrm xmlns:a="http://schemas.openxmlformats.org/drawingml/2006/main">
            <a:off x="3257550" y="3390900"/>
            <a:ext cx="2190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16" name="">
            <a:extLst xmlns:a="http://schemas.openxmlformats.org/drawingml/2006/main">
              <a:ext uri="{FF2B5EF4-FFF2-40B4-BE49-F238E27FC236}">
                <a16:creationId xmlns:a16="http://schemas.microsoft.com/office/drawing/2014/main" id="{B5000397-73AB-4B88-BEBA-81514C7BB2E8}"/>
              </a:ext>
            </a:extLst>
          </p:cNvPr>
          <p:cNvSpPr>
            <a:spLocks xmlns:a="http://schemas.openxmlformats.org/drawingml/2006/main" noGrp="1"/>
          </p:cNvSpPr>
          <p:nvPr/>
        </p:nvSpPr>
        <p:spPr>
          <a:xfrm xmlns:a="http://schemas.openxmlformats.org/drawingml/2006/main">
            <a:off x="3257550" y="3619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3D8DFF"/>
                </a:solidFill>
                <a:latin typeface="Consolas"/>
                <a:ea typeface="Consolas"/>
                <a:cs typeface="Consolas"/>
              </a:defRPr>
            </a:pPr>
            <a:r>
              <a:rPr sz="1350" b="1" i="0">
                <a:solidFill>
                  <a:srgbClr val="3D8DFF"/>
                </a:solidFill>
                <a:latin typeface="Consolas"/>
                <a:ea typeface="Consolas"/>
                <a:cs typeface="Consolas"/>
              </a:rPr>
              <a:t>MULTI-SCALE</a:t>
            </a:r>
          </a:p>
        </p:txBody>
      </p:sp>
      <p:sp>
        <p:nvSpPr>
          <p:cNvPr id="17" name="">
            <a:extLst xmlns:a="http://schemas.openxmlformats.org/drawingml/2006/main">
              <a:ext uri="{FF2B5EF4-FFF2-40B4-BE49-F238E27FC236}">
                <a16:creationId xmlns:a16="http://schemas.microsoft.com/office/drawing/2014/main" id="{AEE59B42-4400-4F22-A909-9D85AB752951}"/>
              </a:ext>
            </a:extLst>
          </p:cNvPr>
          <p:cNvSpPr>
            <a:spLocks xmlns:a="http://schemas.openxmlformats.org/drawingml/2006/main" noGrp="1"/>
          </p:cNvSpPr>
          <p:nvPr/>
        </p:nvSpPr>
        <p:spPr>
          <a:xfrm xmlns:a="http://schemas.openxmlformats.org/drawingml/2006/main">
            <a:off x="3257550" y="4095750"/>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短距離と長距離の依存を扱う</a:t>
            </a:r>
          </a:p>
        </p:txBody>
      </p:sp>
      <p:sp>
        <p:nvSpPr>
          <p:cNvPr id="18" name="">
            <a:extLst xmlns:a="http://schemas.openxmlformats.org/drawingml/2006/main">
              <a:ext uri="{FF2B5EF4-FFF2-40B4-BE49-F238E27FC236}">
                <a16:creationId xmlns:a16="http://schemas.microsoft.com/office/drawing/2014/main" id="{5EAB4394-CA65-4E97-8505-0E6A2F077718}"/>
              </a:ext>
            </a:extLst>
          </p:cNvPr>
          <p:cNvSpPr>
            <a:spLocks xmlns:a="http://schemas.openxmlformats.org/drawingml/2006/main" noGrp="1"/>
          </p:cNvSpPr>
          <p:nvPr/>
        </p:nvSpPr>
        <p:spPr>
          <a:xfrm xmlns:a="http://schemas.openxmlformats.org/drawingml/2006/main">
            <a:off x="5924550" y="3390900"/>
            <a:ext cx="2190750" cy="0"/>
          </a:xfrm>
          <a:prstGeom xmlns:a="http://schemas.openxmlformats.org/drawingml/2006/main" prst="line">
            <a:avLst/>
          </a:prstGeom>
          <a:noFill xmlns:a="http://schemas.openxmlformats.org/drawingml/2006/main"/>
          <a:ln xmlns:a="http://schemas.openxmlformats.org/drawingml/2006/main" w="47625">
            <a:solidFill>
              <a:srgbClr val="F58220"/>
            </a:solidFill>
            <a:prstDash val="solid"/>
          </a:ln>
        </p:spPr>
      </p:sp>
      <p:sp>
        <p:nvSpPr>
          <p:cNvPr id="19" name="">
            <a:extLst xmlns:a="http://schemas.openxmlformats.org/drawingml/2006/main">
              <a:ext uri="{FF2B5EF4-FFF2-40B4-BE49-F238E27FC236}">
                <a16:creationId xmlns:a16="http://schemas.microsoft.com/office/drawing/2014/main" id="{90EC37D6-921D-4215-93ED-D6E65173C705}"/>
              </a:ext>
            </a:extLst>
          </p:cNvPr>
          <p:cNvSpPr>
            <a:spLocks xmlns:a="http://schemas.openxmlformats.org/drawingml/2006/main" noGrp="1"/>
          </p:cNvSpPr>
          <p:nvPr/>
        </p:nvSpPr>
        <p:spPr>
          <a:xfrm xmlns:a="http://schemas.openxmlformats.org/drawingml/2006/main">
            <a:off x="5924550" y="3619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F58220"/>
                </a:solidFill>
                <a:latin typeface="Consolas"/>
                <a:ea typeface="Consolas"/>
                <a:cs typeface="Consolas"/>
              </a:defRPr>
            </a:pPr>
            <a:r>
              <a:rPr sz="1350" b="1" i="0">
                <a:solidFill>
                  <a:srgbClr val="F58220"/>
                </a:solidFill>
                <a:latin typeface="Consolas"/>
                <a:ea typeface="Consolas"/>
                <a:cs typeface="Consolas"/>
              </a:rPr>
              <a:t>POINT-CLOUD</a:t>
            </a:r>
          </a:p>
        </p:txBody>
      </p:sp>
      <p:sp>
        <p:nvSpPr>
          <p:cNvPr id="20" name="">
            <a:extLst xmlns:a="http://schemas.openxmlformats.org/drawingml/2006/main">
              <a:ext uri="{FF2B5EF4-FFF2-40B4-BE49-F238E27FC236}">
                <a16:creationId xmlns:a16="http://schemas.microsoft.com/office/drawing/2014/main" id="{5CD28F56-B856-4D67-82ED-DFA3C0B73B74}"/>
              </a:ext>
            </a:extLst>
          </p:cNvPr>
          <p:cNvSpPr>
            <a:spLocks xmlns:a="http://schemas.openxmlformats.org/drawingml/2006/main" noGrp="1"/>
          </p:cNvSpPr>
          <p:nvPr/>
        </p:nvSpPr>
        <p:spPr>
          <a:xfrm xmlns:a="http://schemas.openxmlformats.org/drawingml/2006/main">
            <a:off x="5924550" y="4095750"/>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複雑形状を点群として扱う</a:t>
            </a:r>
          </a:p>
        </p:txBody>
      </p:sp>
      <p:sp>
        <p:nvSpPr>
          <p:cNvPr id="21" name="">
            <a:extLst xmlns:a="http://schemas.openxmlformats.org/drawingml/2006/main">
              <a:ext uri="{FF2B5EF4-FFF2-40B4-BE49-F238E27FC236}">
                <a16:creationId xmlns:a16="http://schemas.microsoft.com/office/drawing/2014/main" id="{03379B6D-651A-4A31-A90A-DCC82062077C}"/>
              </a:ext>
            </a:extLst>
          </p:cNvPr>
          <p:cNvSpPr>
            <a:spLocks xmlns:a="http://schemas.openxmlformats.org/drawingml/2006/main" noGrp="1"/>
          </p:cNvSpPr>
          <p:nvPr/>
        </p:nvSpPr>
        <p:spPr>
          <a:xfrm xmlns:a="http://schemas.openxmlformats.org/drawingml/2006/main">
            <a:off x="8591550" y="3390900"/>
            <a:ext cx="2190750" cy="0"/>
          </a:xfrm>
          <a:prstGeom xmlns:a="http://schemas.openxmlformats.org/drawingml/2006/main" prst="line">
            <a:avLst/>
          </a:prstGeom>
          <a:noFill xmlns:a="http://schemas.openxmlformats.org/drawingml/2006/main"/>
          <a:ln xmlns:a="http://schemas.openxmlformats.org/drawingml/2006/main" w="47625">
            <a:solidFill>
              <a:srgbClr val="111827"/>
            </a:solidFill>
            <a:prstDash val="solid"/>
          </a:ln>
        </p:spPr>
      </p:sp>
      <p:sp>
        <p:nvSpPr>
          <p:cNvPr id="22" name="">
            <a:extLst xmlns:a="http://schemas.openxmlformats.org/drawingml/2006/main">
              <a:ext uri="{FF2B5EF4-FFF2-40B4-BE49-F238E27FC236}">
                <a16:creationId xmlns:a16="http://schemas.microsoft.com/office/drawing/2014/main" id="{302077DE-5D08-4C67-9E95-6C94ABB1BEBD}"/>
              </a:ext>
            </a:extLst>
          </p:cNvPr>
          <p:cNvSpPr>
            <a:spLocks xmlns:a="http://schemas.openxmlformats.org/drawingml/2006/main" noGrp="1"/>
          </p:cNvSpPr>
          <p:nvPr/>
        </p:nvSpPr>
        <p:spPr>
          <a:xfrm xmlns:a="http://schemas.openxmlformats.org/drawingml/2006/main">
            <a:off x="8591550" y="3619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DECOMPOSABLE</a:t>
            </a:r>
          </a:p>
        </p:txBody>
      </p:sp>
      <p:sp>
        <p:nvSpPr>
          <p:cNvPr id="23" name="">
            <a:extLst xmlns:a="http://schemas.openxmlformats.org/drawingml/2006/main">
              <a:ext uri="{FF2B5EF4-FFF2-40B4-BE49-F238E27FC236}">
                <a16:creationId xmlns:a16="http://schemas.microsoft.com/office/drawing/2014/main" id="{3962E270-FC90-4688-BF22-E8F6E1F58E68}"/>
              </a:ext>
            </a:extLst>
          </p:cNvPr>
          <p:cNvSpPr>
            <a:spLocks xmlns:a="http://schemas.openxmlformats.org/drawingml/2006/main" noGrp="1"/>
          </p:cNvSpPr>
          <p:nvPr/>
        </p:nvSpPr>
        <p:spPr>
          <a:xfrm xmlns:a="http://schemas.openxmlformats.org/drawingml/2006/main">
            <a:off x="8591550" y="4095750"/>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global表現を</a:t>
            </a:r>
          </a:p>
          <a:p xmlns:a="http://schemas.openxmlformats.org/drawingml/2006/main">
            <a:pPr algn="l">
              <a:lnSpc>
                <a:spcPct val="12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多数queryで共有</a:t>
            </a:r>
          </a:p>
        </p:txBody>
      </p:sp>
      <p:sp>
        <p:nvSpPr>
          <p:cNvPr id="24" name="">
            <a:extLst xmlns:a="http://schemas.openxmlformats.org/drawingml/2006/main">
              <a:ext uri="{FF2B5EF4-FFF2-40B4-BE49-F238E27FC236}">
                <a16:creationId xmlns:a16="http://schemas.microsoft.com/office/drawing/2014/main" id="{CD599728-19EA-417F-9563-E5CFA262A709}"/>
              </a:ext>
            </a:extLst>
          </p:cNvPr>
          <p:cNvSpPr>
            <a:spLocks xmlns:a="http://schemas.openxmlformats.org/drawingml/2006/main" noGrp="1"/>
          </p:cNvSpPr>
          <p:nvPr/>
        </p:nvSpPr>
        <p:spPr>
          <a:xfrm xmlns:a="http://schemas.openxmlformats.org/drawingml/2006/main">
            <a:off x="590550" y="547687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C8423A"/>
                </a:solidFill>
                <a:latin typeface="Yu Gothic"/>
                <a:ea typeface="Yu Gothic"/>
                <a:cs typeface="Yu Gothic"/>
              </a:defRPr>
            </a:pPr>
            <a:r>
              <a:rPr sz="1650" b="1" i="0">
                <a:solidFill>
                  <a:srgbClr val="C8423A"/>
                </a:solidFill>
                <a:latin typeface="Yu Gothic"/>
                <a:ea typeface="Yu Gothic"/>
                <a:cs typeface="Yu Gothic"/>
              </a:rPr>
              <a:t>位置づけ：CFDを置き換える“ソルバー”ではなく、CFDデータから学ぶ高速サロゲート</a:t>
            </a:r>
          </a:p>
        </p:txBody>
      </p:sp>
    </p:spTree>
    <p:extLst>
      <p:ext uri="{BB962C8B-B14F-4D97-AF65-F5344CB8AC3E}">
        <p14:creationId xmlns:p14="http://schemas.microsoft.com/office/powerpoint/2010/main" val="4585541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2FDFBD-82F9-4514-A6A8-D7972958CDD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7599A5-E1AD-4B77-8DC5-101DA8D5AD40}"/>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CONCEPT</a:t>
            </a:r>
          </a:p>
        </p:txBody>
      </p:sp>
      <p:sp>
        <p:nvSpPr>
          <p:cNvPr id="3" name="">
            <a:extLst xmlns:a="http://schemas.openxmlformats.org/drawingml/2006/main">
              <a:ext uri="{FF2B5EF4-FFF2-40B4-BE49-F238E27FC236}">
                <a16:creationId xmlns:a16="http://schemas.microsoft.com/office/drawing/2014/main" id="{91CA88D2-88E8-4AA9-94CF-2AED61AD5317}"/>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04 / 32</a:t>
            </a:r>
          </a:p>
        </p:txBody>
      </p:sp>
      <p:sp>
        <p:nvSpPr>
          <p:cNvPr id="4" name="">
            <a:extLst xmlns:a="http://schemas.openxmlformats.org/drawingml/2006/main">
              <a:ext uri="{FF2B5EF4-FFF2-40B4-BE49-F238E27FC236}">
                <a16:creationId xmlns:a16="http://schemas.microsoft.com/office/drawing/2014/main" id="{8D0D65F0-7B5E-40A7-98F4-3232476B8A31}"/>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2AF8AEFD-8C30-4035-90E7-732EC8428B90}"/>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Kovachki et al., Neural Operator, JMLR 24 (2023)</a:t>
            </a:r>
          </a:p>
        </p:txBody>
      </p:sp>
      <p:sp>
        <p:nvSpPr>
          <p:cNvPr id="6" name="">
            <a:extLst xmlns:a="http://schemas.openxmlformats.org/drawingml/2006/main">
              <a:ext uri="{FF2B5EF4-FFF2-40B4-BE49-F238E27FC236}">
                <a16:creationId xmlns:a16="http://schemas.microsoft.com/office/drawing/2014/main" id="{5BEFFADF-251D-431B-A6B7-D339E33633E1}"/>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20BBA4-B78F-4E97-B706-A2C4ED995FFB}"/>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8CC337BA-7588-4B5B-AC7E-A27EDF556B87}"/>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Neural Operatorは『場から場への写像』を学ぶ</a:t>
            </a:r>
          </a:p>
        </p:txBody>
      </p:sp>
      <p:sp>
        <p:nvSpPr>
          <p:cNvPr id="9" name="">
            <a:extLst xmlns:a="http://schemas.openxmlformats.org/drawingml/2006/main">
              <a:ext uri="{FF2B5EF4-FFF2-40B4-BE49-F238E27FC236}">
                <a16:creationId xmlns:a16="http://schemas.microsoft.com/office/drawing/2014/main" id="{BAA3D3E0-9E78-4B32-B330-DBEC601C6736}"/>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AE81D7BF-FA7B-4AD0-AC41-1370C22F9B3C}"/>
              </a:ext>
            </a:extLst>
          </p:cNvPr>
          <p:cNvSpPr>
            <a:spLocks xmlns:a="http://schemas.openxmlformats.org/drawingml/2006/main" noGrp="1"/>
          </p:cNvSpPr>
          <p:nvPr/>
        </p:nvSpPr>
        <p:spPr>
          <a:xfrm xmlns:a="http://schemas.openxmlformats.org/drawingml/2006/main">
            <a:off x="762000" y="1695450"/>
            <a:ext cx="10668000" cy="8191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58592D-52EB-4C41-B6CB-15DFF7F5E384}"/>
              </a:ext>
            </a:extLst>
          </p:cNvPr>
          <p:cNvSpPr>
            <a:spLocks xmlns:a="http://schemas.openxmlformats.org/drawingml/2006/main" noGrp="1"/>
          </p:cNvSpPr>
          <p:nvPr/>
        </p:nvSpPr>
        <p:spPr>
          <a:xfrm xmlns:a="http://schemas.openxmlformats.org/drawingml/2006/main">
            <a:off x="990600" y="194310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2100" b="1" i="0">
                <a:solidFill>
                  <a:srgbClr val="FFFFFF"/>
                </a:solidFill>
                <a:latin typeface="Consolas"/>
                <a:ea typeface="Consolas"/>
                <a:cs typeface="Consolas"/>
              </a:defRPr>
            </a:pPr>
            <a:r>
              <a:rPr sz="2100" b="1" i="0">
                <a:solidFill>
                  <a:srgbClr val="FFFFFF"/>
                </a:solidFill>
                <a:latin typeface="Consolas"/>
                <a:ea typeface="Consolas"/>
                <a:cs typeface="Consolas"/>
              </a:rPr>
              <a:t>𝒢θ : (geometry, boundary conditions, parameters)  ↦  physical field</a:t>
            </a:r>
          </a:p>
        </p:txBody>
      </p:sp>
      <p:sp>
        <p:nvSpPr>
          <p:cNvPr id="12" name="">
            <a:extLst xmlns:a="http://schemas.openxmlformats.org/drawingml/2006/main">
              <a:ext uri="{FF2B5EF4-FFF2-40B4-BE49-F238E27FC236}">
                <a16:creationId xmlns:a16="http://schemas.microsoft.com/office/drawing/2014/main" id="{C3B92A31-1CCD-4617-B9B8-D9FBE4A3F66C}"/>
              </a:ext>
            </a:extLst>
          </p:cNvPr>
          <p:cNvSpPr>
            <a:spLocks xmlns:a="http://schemas.openxmlformats.org/drawingml/2006/main" noGrp="1"/>
          </p:cNvSpPr>
          <p:nvPr/>
        </p:nvSpPr>
        <p:spPr>
          <a:xfrm xmlns:a="http://schemas.openxmlformats.org/drawingml/2006/main">
            <a:off x="762000" y="30861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i="0">
                <a:solidFill>
                  <a:srgbClr val="111827"/>
                </a:solidFill>
                <a:latin typeface="Yu Gothic"/>
                <a:ea typeface="Yu Gothic"/>
                <a:cs typeface="Yu Gothic"/>
              </a:defRPr>
            </a:pPr>
            <a:r>
              <a:rPr sz="2100" b="1" i="0">
                <a:solidFill>
                  <a:srgbClr val="111827"/>
                </a:solidFill>
                <a:latin typeface="Yu Gothic"/>
                <a:ea typeface="Yu Gothic"/>
                <a:cs typeface="Yu Gothic"/>
              </a:rPr>
              <a:t>通常の回帰</a:t>
            </a:r>
          </a:p>
        </p:txBody>
      </p:sp>
      <p:sp>
        <p:nvSpPr>
          <p:cNvPr id="13" name="">
            <a:extLst xmlns:a="http://schemas.openxmlformats.org/drawingml/2006/main">
              <a:ext uri="{FF2B5EF4-FFF2-40B4-BE49-F238E27FC236}">
                <a16:creationId xmlns:a16="http://schemas.microsoft.com/office/drawing/2014/main" id="{6082A3E0-3ABC-48ED-8E4E-6F350AB041ED}"/>
              </a:ext>
            </a:extLst>
          </p:cNvPr>
          <p:cNvSpPr>
            <a:spLocks xmlns:a="http://schemas.openxmlformats.org/drawingml/2006/main" noGrp="1"/>
          </p:cNvSpPr>
          <p:nvPr/>
        </p:nvSpPr>
        <p:spPr>
          <a:xfrm xmlns:a="http://schemas.openxmlformats.org/drawingml/2006/main">
            <a:off x="762000" y="3619500"/>
            <a:ext cx="4476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725" b="0" i="0">
                <a:solidFill>
                  <a:srgbClr val="5B6472"/>
                </a:solidFill>
                <a:latin typeface="Yu Gothic"/>
                <a:ea typeface="Yu Gothic"/>
                <a:cs typeface="Yu Gothic"/>
              </a:defRPr>
            </a:pPr>
            <a:r>
              <a:rPr sz="1725" b="0" i="0">
                <a:solidFill>
                  <a:srgbClr val="5B6472"/>
                </a:solidFill>
                <a:latin typeface="Yu Gothic"/>
                <a:ea typeface="Yu Gothic"/>
                <a:cs typeface="Yu Gothic"/>
              </a:rPr>
              <a:t>固定長ベクトル → 固定長ベクトル</a:t>
            </a:r>
          </a:p>
          <a:p xmlns:a="http://schemas.openxmlformats.org/drawingml/2006/main">
            <a:pPr algn="l">
              <a:lnSpc>
                <a:spcPct val="135000"/>
              </a:lnSpc>
              <a:buNone/>
              <a:defRPr sz="1725" b="0" i="0">
                <a:solidFill>
                  <a:srgbClr val="5B6472"/>
                </a:solidFill>
                <a:latin typeface="Yu Gothic"/>
                <a:ea typeface="Yu Gothic"/>
                <a:cs typeface="Yu Gothic"/>
              </a:defRPr>
            </a:pPr>
            <a:r>
              <a:rPr sz="1725" b="0" i="0">
                <a:solidFill>
                  <a:srgbClr val="5B6472"/>
                </a:solidFill>
                <a:latin typeface="Yu Gothic"/>
                <a:ea typeface="Yu Gothic"/>
                <a:cs typeface="Yu Gothic"/>
              </a:rPr>
              <a:t>例：迎角 → 揚力係数</a:t>
            </a:r>
          </a:p>
        </p:txBody>
      </p:sp>
      <p:sp>
        <p:nvSpPr>
          <p:cNvPr id="14" name="">
            <a:extLst xmlns:a="http://schemas.openxmlformats.org/drawingml/2006/main">
              <a:ext uri="{FF2B5EF4-FFF2-40B4-BE49-F238E27FC236}">
                <a16:creationId xmlns:a16="http://schemas.microsoft.com/office/drawing/2014/main" id="{80E7A3EA-F086-4495-A4EF-F850224FD26B}"/>
              </a:ext>
            </a:extLst>
          </p:cNvPr>
          <p:cNvSpPr>
            <a:spLocks xmlns:a="http://schemas.openxmlformats.org/drawingml/2006/main" noGrp="1"/>
          </p:cNvSpPr>
          <p:nvPr/>
        </p:nvSpPr>
        <p:spPr>
          <a:xfrm xmlns:a="http://schemas.openxmlformats.org/drawingml/2006/main">
            <a:off x="6572250" y="30861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i="0">
                <a:solidFill>
                  <a:srgbClr val="3D8DFF"/>
                </a:solidFill>
                <a:latin typeface="Yu Gothic"/>
                <a:ea typeface="Yu Gothic"/>
                <a:cs typeface="Yu Gothic"/>
              </a:defRPr>
            </a:pPr>
            <a:r>
              <a:rPr sz="2100" b="1" i="0">
                <a:solidFill>
                  <a:srgbClr val="3D8DFF"/>
                </a:solidFill>
                <a:latin typeface="Yu Gothic"/>
                <a:ea typeface="Yu Gothic"/>
                <a:cs typeface="Yu Gothic"/>
              </a:rPr>
              <a:t>Neural Operator</a:t>
            </a:r>
          </a:p>
        </p:txBody>
      </p:sp>
      <p:sp>
        <p:nvSpPr>
          <p:cNvPr id="15" name="">
            <a:extLst xmlns:a="http://schemas.openxmlformats.org/drawingml/2006/main">
              <a:ext uri="{FF2B5EF4-FFF2-40B4-BE49-F238E27FC236}">
                <a16:creationId xmlns:a16="http://schemas.microsoft.com/office/drawing/2014/main" id="{F53D57C9-B8E2-4A4B-824C-BE47F3F512CD}"/>
              </a:ext>
            </a:extLst>
          </p:cNvPr>
          <p:cNvSpPr>
            <a:spLocks xmlns:a="http://schemas.openxmlformats.org/drawingml/2006/main" noGrp="1"/>
          </p:cNvSpPr>
          <p:nvPr/>
        </p:nvSpPr>
        <p:spPr>
          <a:xfrm xmlns:a="http://schemas.openxmlformats.org/drawingml/2006/main">
            <a:off x="6572250" y="3619500"/>
            <a:ext cx="4476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725" b="0" i="0">
                <a:solidFill>
                  <a:srgbClr val="5B6472"/>
                </a:solidFill>
                <a:latin typeface="Yu Gothic"/>
                <a:ea typeface="Yu Gothic"/>
                <a:cs typeface="Yu Gothic"/>
              </a:defRPr>
            </a:pPr>
            <a:r>
              <a:rPr sz="1725" b="0" i="0">
                <a:solidFill>
                  <a:srgbClr val="5B6472"/>
                </a:solidFill>
                <a:latin typeface="Yu Gothic"/>
                <a:ea typeface="Yu Gothic"/>
                <a:cs typeface="Yu Gothic"/>
              </a:rPr>
              <a:t>形状・条件の“関数” → 空間に広がる“場”</a:t>
            </a:r>
          </a:p>
          <a:p xmlns:a="http://schemas.openxmlformats.org/drawingml/2006/main">
            <a:pPr algn="l">
              <a:lnSpc>
                <a:spcPct val="135000"/>
              </a:lnSpc>
              <a:buNone/>
              <a:defRPr sz="1725" b="0" i="0">
                <a:solidFill>
                  <a:srgbClr val="5B6472"/>
                </a:solidFill>
                <a:latin typeface="Yu Gothic"/>
                <a:ea typeface="Yu Gothic"/>
                <a:cs typeface="Yu Gothic"/>
              </a:defRPr>
            </a:pPr>
            <a:r>
              <a:rPr sz="1725" b="0" i="0">
                <a:solidFill>
                  <a:srgbClr val="5B6472"/>
                </a:solidFill>
                <a:latin typeface="Yu Gothic"/>
                <a:ea typeface="Yu Gothic"/>
                <a:cs typeface="Yu Gothic"/>
              </a:rPr>
              <a:t>例：車体形状 → 表面圧力 p(x)</a:t>
            </a:r>
          </a:p>
        </p:txBody>
      </p:sp>
      <p:sp>
        <p:nvSpPr>
          <p:cNvPr id="16" name="">
            <a:extLst xmlns:a="http://schemas.openxmlformats.org/drawingml/2006/main">
              <a:ext uri="{FF2B5EF4-FFF2-40B4-BE49-F238E27FC236}">
                <a16:creationId xmlns:a16="http://schemas.microsoft.com/office/drawing/2014/main" id="{01019CEB-F47D-4CF2-9494-BC2C80259964}"/>
              </a:ext>
            </a:extLst>
          </p:cNvPr>
          <p:cNvSpPr>
            <a:spLocks xmlns:a="http://schemas.openxmlformats.org/drawingml/2006/main" noGrp="1"/>
          </p:cNvSpPr>
          <p:nvPr/>
        </p:nvSpPr>
        <p:spPr>
          <a:xfrm xmlns:a="http://schemas.openxmlformats.org/drawingml/2006/main">
            <a:off x="5410200" y="3905250"/>
            <a:ext cx="8191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260260E2-EF37-4F54-B1DE-F4714F8BB245}"/>
              </a:ext>
            </a:extLst>
          </p:cNvPr>
          <p:cNvSpPr>
            <a:spLocks xmlns:a="http://schemas.openxmlformats.org/drawingml/2006/main" noGrp="1"/>
          </p:cNvSpPr>
          <p:nvPr/>
        </p:nvSpPr>
        <p:spPr>
          <a:xfrm xmlns:a="http://schemas.openxmlformats.org/drawingml/2006/main">
            <a:off x="762000" y="5191125"/>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875" b="1" i="0">
                <a:solidFill>
                  <a:srgbClr val="111827"/>
                </a:solidFill>
                <a:latin typeface="Yu Gothic"/>
                <a:ea typeface="Yu Gothic"/>
                <a:cs typeface="Yu Gothic"/>
              </a:defRPr>
            </a:pPr>
            <a:r>
              <a:rPr sz="1875" b="1" i="0">
                <a:solidFill>
                  <a:srgbClr val="111827"/>
                </a:solidFill>
                <a:latin typeface="Yu Gothic"/>
                <a:ea typeface="Yu Gothic"/>
                <a:cs typeface="Yu Gothic"/>
              </a:rPr>
              <a:t>DoMINOでは、出力場をquery点ごとの予測として評価する</a:t>
            </a:r>
          </a:p>
        </p:txBody>
      </p:sp>
    </p:spTree>
    <p:extLst>
      <p:ext uri="{BB962C8B-B14F-4D97-AF65-F5344CB8AC3E}">
        <p14:creationId xmlns:p14="http://schemas.microsoft.com/office/powerpoint/2010/main" val="15482683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EBCE56-3B92-495E-8197-7BCCBD3337C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B3B75C-4D7D-47D6-923E-EE60684B0A88}"/>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CFD BASELINE</a:t>
            </a:r>
          </a:p>
        </p:txBody>
      </p:sp>
      <p:sp>
        <p:nvSpPr>
          <p:cNvPr id="3" name="">
            <a:extLst xmlns:a="http://schemas.openxmlformats.org/drawingml/2006/main">
              <a:ext uri="{FF2B5EF4-FFF2-40B4-BE49-F238E27FC236}">
                <a16:creationId xmlns:a16="http://schemas.microsoft.com/office/drawing/2014/main" id="{840F00E5-0EF2-4B6C-8FFA-161B10831EB2}"/>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05 / 32</a:t>
            </a:r>
          </a:p>
        </p:txBody>
      </p:sp>
      <p:sp>
        <p:nvSpPr>
          <p:cNvPr id="4" name="">
            <a:extLst xmlns:a="http://schemas.openxmlformats.org/drawingml/2006/main">
              <a:ext uri="{FF2B5EF4-FFF2-40B4-BE49-F238E27FC236}">
                <a16:creationId xmlns:a16="http://schemas.microsoft.com/office/drawing/2014/main" id="{24498BEB-E517-48DE-8106-CE5F01A2D3E9}"/>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C4E8F8FB-074A-4E65-9AFC-8B2C3DB62FBF}"/>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a:t>
            </a:r>
          </a:p>
        </p:txBody>
      </p:sp>
      <p:sp>
        <p:nvSpPr>
          <p:cNvPr id="6" name="">
            <a:extLst xmlns:a="http://schemas.openxmlformats.org/drawingml/2006/main">
              <a:ext uri="{FF2B5EF4-FFF2-40B4-BE49-F238E27FC236}">
                <a16:creationId xmlns:a16="http://schemas.microsoft.com/office/drawing/2014/main" id="{3FA64D97-11B8-4996-BD22-4A2F96F5C4DE}"/>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61720D8-CCBF-4524-96AF-561C25DACC67}"/>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991034D5-6EB8-4746-AB00-766310329416}"/>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CFDは設計案ごとにメッシュ生成と求解を繰り返す</a:t>
            </a:r>
          </a:p>
        </p:txBody>
      </p:sp>
      <p:sp>
        <p:nvSpPr>
          <p:cNvPr id="9" name="">
            <a:extLst xmlns:a="http://schemas.openxmlformats.org/drawingml/2006/main">
              <a:ext uri="{FF2B5EF4-FFF2-40B4-BE49-F238E27FC236}">
                <a16:creationId xmlns:a16="http://schemas.microsoft.com/office/drawing/2014/main" id="{E1BDC4ED-92AD-43C6-8C87-23085E5C1EAF}"/>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07EA6096-760E-4289-88EC-4349D211DA40}"/>
              </a:ext>
            </a:extLst>
          </p:cNvPr>
          <p:cNvSpPr>
            <a:spLocks xmlns:a="http://schemas.openxmlformats.org/drawingml/2006/main" noGrp="1"/>
          </p:cNvSpPr>
          <p:nvPr/>
        </p:nvSpPr>
        <p:spPr>
          <a:xfrm xmlns:a="http://schemas.openxmlformats.org/drawingml/2006/main">
            <a:off x="2571750" y="2809875"/>
            <a:ext cx="495300" cy="114300"/>
          </a:xfrm>
          <a:prstGeom xmlns:a="http://schemas.openxmlformats.org/drawingml/2006/main" prst="rightArrow">
            <a:avLst/>
          </a:prstGeom>
          <a:solidFill xmlns:a="http://schemas.openxmlformats.org/drawingml/2006/main">
            <a:srgbClr val="5B6472"/>
          </a:solidFill>
          <a:ln xmlns:a="http://schemas.openxmlformats.org/drawingml/2006/main" w="0">
            <a:solidFill>
              <a:srgbClr val="5B6472"/>
            </a:solidFill>
            <a:prstDash val="solid"/>
          </a:ln>
        </p:spPr>
      </p:sp>
      <p:sp>
        <p:nvSpPr>
          <p:cNvPr id="11" name="">
            <a:extLst xmlns:a="http://schemas.openxmlformats.org/drawingml/2006/main">
              <a:ext uri="{FF2B5EF4-FFF2-40B4-BE49-F238E27FC236}">
                <a16:creationId xmlns:a16="http://schemas.microsoft.com/office/drawing/2014/main" id="{D4D981F2-9E1C-4C67-A98F-D1BC2890E780}"/>
              </a:ext>
            </a:extLst>
          </p:cNvPr>
          <p:cNvSpPr>
            <a:spLocks xmlns:a="http://schemas.openxmlformats.org/drawingml/2006/main" noGrp="1"/>
          </p:cNvSpPr>
          <p:nvPr/>
        </p:nvSpPr>
        <p:spPr>
          <a:xfrm xmlns:a="http://schemas.openxmlformats.org/drawingml/2006/main">
            <a:off x="5200650" y="2809875"/>
            <a:ext cx="495300" cy="114300"/>
          </a:xfrm>
          <a:prstGeom xmlns:a="http://schemas.openxmlformats.org/drawingml/2006/main" prst="rightArrow">
            <a:avLst/>
          </a:prstGeom>
          <a:solidFill xmlns:a="http://schemas.openxmlformats.org/drawingml/2006/main">
            <a:srgbClr val="5B6472"/>
          </a:solidFill>
          <a:ln xmlns:a="http://schemas.openxmlformats.org/drawingml/2006/main" w="0">
            <a:solidFill>
              <a:srgbClr val="5B6472"/>
            </a:solidFill>
            <a:prstDash val="solid"/>
          </a:ln>
        </p:spPr>
      </p:sp>
      <p:sp>
        <p:nvSpPr>
          <p:cNvPr id="12" name="">
            <a:extLst xmlns:a="http://schemas.openxmlformats.org/drawingml/2006/main">
              <a:ext uri="{FF2B5EF4-FFF2-40B4-BE49-F238E27FC236}">
                <a16:creationId xmlns:a16="http://schemas.microsoft.com/office/drawing/2014/main" id="{4C3847BB-D618-42D2-8495-692C36067A56}"/>
              </a:ext>
            </a:extLst>
          </p:cNvPr>
          <p:cNvSpPr>
            <a:spLocks xmlns:a="http://schemas.openxmlformats.org/drawingml/2006/main" noGrp="1"/>
          </p:cNvSpPr>
          <p:nvPr/>
        </p:nvSpPr>
        <p:spPr>
          <a:xfrm xmlns:a="http://schemas.openxmlformats.org/drawingml/2006/main">
            <a:off x="7829550" y="2809875"/>
            <a:ext cx="495300" cy="114300"/>
          </a:xfrm>
          <a:prstGeom xmlns:a="http://schemas.openxmlformats.org/drawingml/2006/main" prst="rightArrow">
            <a:avLst/>
          </a:prstGeom>
          <a:solidFill xmlns:a="http://schemas.openxmlformats.org/drawingml/2006/main">
            <a:srgbClr val="5B6472"/>
          </a:solidFill>
          <a:ln xmlns:a="http://schemas.openxmlformats.org/drawingml/2006/main" w="0">
            <a:solidFill>
              <a:srgbClr val="5B6472"/>
            </a:solidFill>
            <a:prstDash val="solid"/>
          </a:ln>
        </p:spPr>
      </p:sp>
      <p:sp>
        <p:nvSpPr>
          <p:cNvPr id="13" name="">
            <a:extLst xmlns:a="http://schemas.openxmlformats.org/drawingml/2006/main">
              <a:ext uri="{FF2B5EF4-FFF2-40B4-BE49-F238E27FC236}">
                <a16:creationId xmlns:a16="http://schemas.microsoft.com/office/drawing/2014/main" id="{E0ED99F6-1BE2-42BC-9994-211F8DD3C3AF}"/>
              </a:ext>
            </a:extLst>
          </p:cNvPr>
          <p:cNvSpPr>
            <a:spLocks xmlns:a="http://schemas.openxmlformats.org/drawingml/2006/main" noGrp="1"/>
          </p:cNvSpPr>
          <p:nvPr/>
        </p:nvSpPr>
        <p:spPr>
          <a:xfrm xmlns:a="http://schemas.openxmlformats.org/drawingml/2006/main">
            <a:off x="590550" y="2000250"/>
            <a:ext cx="2095500" cy="179070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815574BC-B9AA-42AE-9378-75001F528D24}"/>
              </a:ext>
            </a:extLst>
          </p:cNvPr>
          <p:cNvSpPr>
            <a:spLocks xmlns:a="http://schemas.openxmlformats.org/drawingml/2006/main" noGrp="1"/>
          </p:cNvSpPr>
          <p:nvPr/>
        </p:nvSpPr>
        <p:spPr>
          <a:xfrm xmlns:a="http://schemas.openxmlformats.org/drawingml/2006/main">
            <a:off x="742950" y="21526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3D8DFF"/>
                </a:solidFill>
                <a:latin typeface="Consolas"/>
                <a:ea typeface="Consolas"/>
                <a:cs typeface="Consolas"/>
              </a:defRPr>
            </a:pPr>
            <a:r>
              <a:rPr sz="1200" b="1" i="0">
                <a:solidFill>
                  <a:srgbClr val="3D8DFF"/>
                </a:solidFill>
                <a:latin typeface="Consolas"/>
                <a:ea typeface="Consolas"/>
                <a:cs typeface="Consolas"/>
              </a:rPr>
              <a:t>01</a:t>
            </a:r>
          </a:p>
        </p:txBody>
      </p:sp>
      <p:sp>
        <p:nvSpPr>
          <p:cNvPr id="15" name="">
            <a:extLst xmlns:a="http://schemas.openxmlformats.org/drawingml/2006/main">
              <a:ext uri="{FF2B5EF4-FFF2-40B4-BE49-F238E27FC236}">
                <a16:creationId xmlns:a16="http://schemas.microsoft.com/office/drawing/2014/main" id="{4C2F01A5-CB41-4D80-B7B3-1DC505EA01EC}"/>
              </a:ext>
            </a:extLst>
          </p:cNvPr>
          <p:cNvSpPr>
            <a:spLocks xmlns:a="http://schemas.openxmlformats.org/drawingml/2006/main" noGrp="1"/>
          </p:cNvSpPr>
          <p:nvPr/>
        </p:nvSpPr>
        <p:spPr>
          <a:xfrm xmlns:a="http://schemas.openxmlformats.org/drawingml/2006/main">
            <a:off x="742950" y="25717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形状準備</a:t>
            </a:r>
          </a:p>
        </p:txBody>
      </p:sp>
      <p:sp>
        <p:nvSpPr>
          <p:cNvPr id="16" name="">
            <a:extLst xmlns:a="http://schemas.openxmlformats.org/drawingml/2006/main">
              <a:ext uri="{FF2B5EF4-FFF2-40B4-BE49-F238E27FC236}">
                <a16:creationId xmlns:a16="http://schemas.microsoft.com/office/drawing/2014/main" id="{72A432A8-12C3-4D43-8051-F14FC9B17BA8}"/>
              </a:ext>
            </a:extLst>
          </p:cNvPr>
          <p:cNvSpPr>
            <a:spLocks xmlns:a="http://schemas.openxmlformats.org/drawingml/2006/main" noGrp="1"/>
          </p:cNvSpPr>
          <p:nvPr/>
        </p:nvSpPr>
        <p:spPr>
          <a:xfrm xmlns:a="http://schemas.openxmlformats.org/drawingml/2006/main">
            <a:off x="742950" y="31051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CAD修正・領域設定</a:t>
            </a:r>
          </a:p>
        </p:txBody>
      </p:sp>
      <p:sp>
        <p:nvSpPr>
          <p:cNvPr id="17" name="">
            <a:extLst xmlns:a="http://schemas.openxmlformats.org/drawingml/2006/main">
              <a:ext uri="{FF2B5EF4-FFF2-40B4-BE49-F238E27FC236}">
                <a16:creationId xmlns:a16="http://schemas.microsoft.com/office/drawing/2014/main" id="{85ABA09A-8F5D-40D7-AE71-852E5EC7B362}"/>
              </a:ext>
            </a:extLst>
          </p:cNvPr>
          <p:cNvSpPr>
            <a:spLocks xmlns:a="http://schemas.openxmlformats.org/drawingml/2006/main" noGrp="1"/>
          </p:cNvSpPr>
          <p:nvPr/>
        </p:nvSpPr>
        <p:spPr>
          <a:xfrm xmlns:a="http://schemas.openxmlformats.org/drawingml/2006/main">
            <a:off x="3219450" y="2000250"/>
            <a:ext cx="2095500" cy="179070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55EAACE0-3993-4AAD-8ABB-F292374EAC98}"/>
              </a:ext>
            </a:extLst>
          </p:cNvPr>
          <p:cNvSpPr>
            <a:spLocks xmlns:a="http://schemas.openxmlformats.org/drawingml/2006/main" noGrp="1"/>
          </p:cNvSpPr>
          <p:nvPr/>
        </p:nvSpPr>
        <p:spPr>
          <a:xfrm xmlns:a="http://schemas.openxmlformats.org/drawingml/2006/main">
            <a:off x="3371850" y="21526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F58220"/>
                </a:solidFill>
                <a:latin typeface="Consolas"/>
                <a:ea typeface="Consolas"/>
                <a:cs typeface="Consolas"/>
              </a:defRPr>
            </a:pPr>
            <a:r>
              <a:rPr sz="1200" b="1" i="0">
                <a:solidFill>
                  <a:srgbClr val="F58220"/>
                </a:solidFill>
                <a:latin typeface="Consolas"/>
                <a:ea typeface="Consolas"/>
                <a:cs typeface="Consolas"/>
              </a:rPr>
              <a:t>02</a:t>
            </a:r>
          </a:p>
        </p:txBody>
      </p:sp>
      <p:sp>
        <p:nvSpPr>
          <p:cNvPr id="19" name="">
            <a:extLst xmlns:a="http://schemas.openxmlformats.org/drawingml/2006/main">
              <a:ext uri="{FF2B5EF4-FFF2-40B4-BE49-F238E27FC236}">
                <a16:creationId xmlns:a16="http://schemas.microsoft.com/office/drawing/2014/main" id="{05BEFF9B-54B3-4EF2-9CBC-679E9454D814}"/>
              </a:ext>
            </a:extLst>
          </p:cNvPr>
          <p:cNvSpPr>
            <a:spLocks xmlns:a="http://schemas.openxmlformats.org/drawingml/2006/main" noGrp="1"/>
          </p:cNvSpPr>
          <p:nvPr/>
        </p:nvSpPr>
        <p:spPr>
          <a:xfrm xmlns:a="http://schemas.openxmlformats.org/drawingml/2006/main">
            <a:off x="3371850" y="25717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メッシュ生成</a:t>
            </a:r>
          </a:p>
        </p:txBody>
      </p:sp>
      <p:sp>
        <p:nvSpPr>
          <p:cNvPr id="20" name="">
            <a:extLst xmlns:a="http://schemas.openxmlformats.org/drawingml/2006/main">
              <a:ext uri="{FF2B5EF4-FFF2-40B4-BE49-F238E27FC236}">
                <a16:creationId xmlns:a16="http://schemas.microsoft.com/office/drawing/2014/main" id="{B12D2BE1-2ABB-463F-AA69-5FBD8C4A0049}"/>
              </a:ext>
            </a:extLst>
          </p:cNvPr>
          <p:cNvSpPr>
            <a:spLocks xmlns:a="http://schemas.openxmlformats.org/drawingml/2006/main" noGrp="1"/>
          </p:cNvSpPr>
          <p:nvPr/>
        </p:nvSpPr>
        <p:spPr>
          <a:xfrm xmlns:a="http://schemas.openxmlformats.org/drawingml/2006/main">
            <a:off x="3371850" y="31051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境界層・局所細分化</a:t>
            </a:r>
          </a:p>
        </p:txBody>
      </p:sp>
      <p:sp>
        <p:nvSpPr>
          <p:cNvPr id="21" name="">
            <a:extLst xmlns:a="http://schemas.openxmlformats.org/drawingml/2006/main">
              <a:ext uri="{FF2B5EF4-FFF2-40B4-BE49-F238E27FC236}">
                <a16:creationId xmlns:a16="http://schemas.microsoft.com/office/drawing/2014/main" id="{00C9BD4C-7393-4A38-8156-113343AE0C49}"/>
              </a:ext>
            </a:extLst>
          </p:cNvPr>
          <p:cNvSpPr>
            <a:spLocks xmlns:a="http://schemas.openxmlformats.org/drawingml/2006/main" noGrp="1"/>
          </p:cNvSpPr>
          <p:nvPr/>
        </p:nvSpPr>
        <p:spPr>
          <a:xfrm xmlns:a="http://schemas.openxmlformats.org/drawingml/2006/main">
            <a:off x="5848350" y="2000250"/>
            <a:ext cx="2095500" cy="179070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E82DD45A-FA66-42A5-8409-03C3AC48569E}"/>
              </a:ext>
            </a:extLst>
          </p:cNvPr>
          <p:cNvSpPr>
            <a:spLocks xmlns:a="http://schemas.openxmlformats.org/drawingml/2006/main" noGrp="1"/>
          </p:cNvSpPr>
          <p:nvPr/>
        </p:nvSpPr>
        <p:spPr>
          <a:xfrm xmlns:a="http://schemas.openxmlformats.org/drawingml/2006/main">
            <a:off x="6000750" y="21526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C8423A"/>
                </a:solidFill>
                <a:latin typeface="Consolas"/>
                <a:ea typeface="Consolas"/>
                <a:cs typeface="Consolas"/>
              </a:defRPr>
            </a:pPr>
            <a:r>
              <a:rPr sz="1200" b="1" i="0">
                <a:solidFill>
                  <a:srgbClr val="C8423A"/>
                </a:solidFill>
                <a:latin typeface="Consolas"/>
                <a:ea typeface="Consolas"/>
                <a:cs typeface="Consolas"/>
              </a:rPr>
              <a:t>03</a:t>
            </a:r>
          </a:p>
        </p:txBody>
      </p:sp>
      <p:sp>
        <p:nvSpPr>
          <p:cNvPr id="23" name="">
            <a:extLst xmlns:a="http://schemas.openxmlformats.org/drawingml/2006/main">
              <a:ext uri="{FF2B5EF4-FFF2-40B4-BE49-F238E27FC236}">
                <a16:creationId xmlns:a16="http://schemas.microsoft.com/office/drawing/2014/main" id="{CF578025-B4A0-40CA-B274-BCE685798A6D}"/>
              </a:ext>
            </a:extLst>
          </p:cNvPr>
          <p:cNvSpPr>
            <a:spLocks xmlns:a="http://schemas.openxmlformats.org/drawingml/2006/main" noGrp="1"/>
          </p:cNvSpPr>
          <p:nvPr/>
        </p:nvSpPr>
        <p:spPr>
          <a:xfrm xmlns:a="http://schemas.openxmlformats.org/drawingml/2006/main">
            <a:off x="6000750" y="25717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方程式を解く</a:t>
            </a:r>
          </a:p>
        </p:txBody>
      </p:sp>
      <p:sp>
        <p:nvSpPr>
          <p:cNvPr id="24" name="">
            <a:extLst xmlns:a="http://schemas.openxmlformats.org/drawingml/2006/main">
              <a:ext uri="{FF2B5EF4-FFF2-40B4-BE49-F238E27FC236}">
                <a16:creationId xmlns:a16="http://schemas.microsoft.com/office/drawing/2014/main" id="{7A3BC680-ACE7-4D21-9E14-FC487B2F082C}"/>
              </a:ext>
            </a:extLst>
          </p:cNvPr>
          <p:cNvSpPr>
            <a:spLocks xmlns:a="http://schemas.openxmlformats.org/drawingml/2006/main" noGrp="1"/>
          </p:cNvSpPr>
          <p:nvPr/>
        </p:nvSpPr>
        <p:spPr>
          <a:xfrm xmlns:a="http://schemas.openxmlformats.org/drawingml/2006/main">
            <a:off x="6000750" y="31051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反復収束・HPC計算</a:t>
            </a:r>
          </a:p>
        </p:txBody>
      </p:sp>
      <p:sp>
        <p:nvSpPr>
          <p:cNvPr id="25" name="">
            <a:extLst xmlns:a="http://schemas.openxmlformats.org/drawingml/2006/main">
              <a:ext uri="{FF2B5EF4-FFF2-40B4-BE49-F238E27FC236}">
                <a16:creationId xmlns:a16="http://schemas.microsoft.com/office/drawing/2014/main" id="{BF011845-BD4C-4621-9B78-A4676DAF3523}"/>
              </a:ext>
            </a:extLst>
          </p:cNvPr>
          <p:cNvSpPr>
            <a:spLocks xmlns:a="http://schemas.openxmlformats.org/drawingml/2006/main" noGrp="1"/>
          </p:cNvSpPr>
          <p:nvPr/>
        </p:nvSpPr>
        <p:spPr>
          <a:xfrm xmlns:a="http://schemas.openxmlformats.org/drawingml/2006/main">
            <a:off x="8477250" y="2000250"/>
            <a:ext cx="2095500" cy="179070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B19828AA-72BE-446C-BBF1-5B488CC5CFF5}"/>
              </a:ext>
            </a:extLst>
          </p:cNvPr>
          <p:cNvSpPr>
            <a:spLocks xmlns:a="http://schemas.openxmlformats.org/drawingml/2006/main" noGrp="1"/>
          </p:cNvSpPr>
          <p:nvPr/>
        </p:nvSpPr>
        <p:spPr>
          <a:xfrm xmlns:a="http://schemas.openxmlformats.org/drawingml/2006/main">
            <a:off x="8629650" y="21526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4F7D00"/>
                </a:solidFill>
                <a:latin typeface="Consolas"/>
                <a:ea typeface="Consolas"/>
                <a:cs typeface="Consolas"/>
              </a:defRPr>
            </a:pPr>
            <a:r>
              <a:rPr sz="1200" b="1" i="0">
                <a:solidFill>
                  <a:srgbClr val="4F7D00"/>
                </a:solidFill>
                <a:latin typeface="Consolas"/>
                <a:ea typeface="Consolas"/>
                <a:cs typeface="Consolas"/>
              </a:rPr>
              <a:t>04</a:t>
            </a:r>
          </a:p>
        </p:txBody>
      </p:sp>
      <p:sp>
        <p:nvSpPr>
          <p:cNvPr id="27" name="">
            <a:extLst xmlns:a="http://schemas.openxmlformats.org/drawingml/2006/main">
              <a:ext uri="{FF2B5EF4-FFF2-40B4-BE49-F238E27FC236}">
                <a16:creationId xmlns:a16="http://schemas.microsoft.com/office/drawing/2014/main" id="{96A190EE-71CA-4D9A-BCAC-0E4BFEA34AE9}"/>
              </a:ext>
            </a:extLst>
          </p:cNvPr>
          <p:cNvSpPr>
            <a:spLocks xmlns:a="http://schemas.openxmlformats.org/drawingml/2006/main" noGrp="1"/>
          </p:cNvSpPr>
          <p:nvPr/>
        </p:nvSpPr>
        <p:spPr>
          <a:xfrm xmlns:a="http://schemas.openxmlformats.org/drawingml/2006/main">
            <a:off x="8629650" y="25717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後処理</a:t>
            </a:r>
          </a:p>
        </p:txBody>
      </p:sp>
      <p:sp>
        <p:nvSpPr>
          <p:cNvPr id="28" name="">
            <a:extLst xmlns:a="http://schemas.openxmlformats.org/drawingml/2006/main">
              <a:ext uri="{FF2B5EF4-FFF2-40B4-BE49-F238E27FC236}">
                <a16:creationId xmlns:a16="http://schemas.microsoft.com/office/drawing/2014/main" id="{8A2F9983-9E17-4A27-9779-643087A05864}"/>
              </a:ext>
            </a:extLst>
          </p:cNvPr>
          <p:cNvSpPr>
            <a:spLocks xmlns:a="http://schemas.openxmlformats.org/drawingml/2006/main" noGrp="1"/>
          </p:cNvSpPr>
          <p:nvPr/>
        </p:nvSpPr>
        <p:spPr>
          <a:xfrm xmlns:a="http://schemas.openxmlformats.org/drawingml/2006/main">
            <a:off x="8629650" y="31051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圧力場・抗力を比較</a:t>
            </a:r>
          </a:p>
        </p:txBody>
      </p:sp>
      <p:sp>
        <p:nvSpPr>
          <p:cNvPr id="29" name="">
            <a:extLst xmlns:a="http://schemas.openxmlformats.org/drawingml/2006/main">
              <a:ext uri="{FF2B5EF4-FFF2-40B4-BE49-F238E27FC236}">
                <a16:creationId xmlns:a16="http://schemas.microsoft.com/office/drawing/2014/main" id="{91CDA44B-8869-4ECE-95EB-232101409B9F}"/>
              </a:ext>
            </a:extLst>
          </p:cNvPr>
          <p:cNvSpPr>
            <a:spLocks xmlns:a="http://schemas.openxmlformats.org/drawingml/2006/main" noGrp="1"/>
          </p:cNvSpPr>
          <p:nvPr/>
        </p:nvSpPr>
        <p:spPr>
          <a:xfrm xmlns:a="http://schemas.openxmlformats.org/drawingml/2006/main">
            <a:off x="590550" y="4324350"/>
            <a:ext cx="10287000" cy="8191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A2697CF-7466-477C-B9C4-D2FA85F54FC7}"/>
              </a:ext>
            </a:extLst>
          </p:cNvPr>
          <p:cNvSpPr>
            <a:spLocks xmlns:a="http://schemas.openxmlformats.org/drawingml/2006/main" noGrp="1"/>
          </p:cNvSpPr>
          <p:nvPr/>
        </p:nvSpPr>
        <p:spPr>
          <a:xfrm xmlns:a="http://schemas.openxmlformats.org/drawingml/2006/main">
            <a:off x="819150" y="4524375"/>
            <a:ext cx="982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725" b="1" i="0">
                <a:solidFill>
                  <a:srgbClr val="FFFFFF"/>
                </a:solidFill>
                <a:latin typeface="Yu Gothic"/>
                <a:ea typeface="Yu Gothic"/>
                <a:cs typeface="Yu Gothic"/>
              </a:defRPr>
            </a:pPr>
            <a:r>
              <a:rPr sz="1725" b="1" i="0">
                <a:solidFill>
                  <a:srgbClr val="FFFFFF"/>
                </a:solidFill>
                <a:latin typeface="Yu Gothic"/>
                <a:ea typeface="Yu Gothic"/>
                <a:cs typeface="Yu Gothic"/>
              </a:rPr>
              <a:t>従来CFD：設計案が増えるほど、メッシュ＋求解の費用がほぼ繰り返される</a:t>
            </a:r>
          </a:p>
        </p:txBody>
      </p:sp>
      <p:sp>
        <p:nvSpPr>
          <p:cNvPr id="31" name="">
            <a:extLst xmlns:a="http://schemas.openxmlformats.org/drawingml/2006/main">
              <a:ext uri="{FF2B5EF4-FFF2-40B4-BE49-F238E27FC236}">
                <a16:creationId xmlns:a16="http://schemas.microsoft.com/office/drawing/2014/main" id="{037B9069-AFE6-49E4-A3D3-8A589FE288C0}"/>
              </a:ext>
            </a:extLst>
          </p:cNvPr>
          <p:cNvSpPr>
            <a:spLocks xmlns:a="http://schemas.openxmlformats.org/drawingml/2006/main" noGrp="1"/>
          </p:cNvSpPr>
          <p:nvPr/>
        </p:nvSpPr>
        <p:spPr>
          <a:xfrm xmlns:a="http://schemas.openxmlformats.org/drawingml/2006/main">
            <a:off x="819150" y="5391150"/>
            <a:ext cx="982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725" b="1" i="0">
                <a:solidFill>
                  <a:srgbClr val="3D8DFF"/>
                </a:solidFill>
                <a:latin typeface="Yu Gothic"/>
                <a:ea typeface="Yu Gothic"/>
                <a:cs typeface="Yu Gothic"/>
              </a:defRPr>
            </a:pPr>
            <a:r>
              <a:rPr sz="1725" b="1" i="0">
                <a:solidFill>
                  <a:srgbClr val="3D8DFF"/>
                </a:solidFill>
                <a:latin typeface="Yu Gothic"/>
                <a:ea typeface="Yu Gothic"/>
                <a:cs typeface="Yu Gothic"/>
              </a:rPr>
              <a:t>サロゲート：CFDデータ作成と学習を先に負担し、その後の多数評価を軽くする</a:t>
            </a:r>
          </a:p>
        </p:txBody>
      </p:sp>
    </p:spTree>
    <p:extLst>
      <p:ext uri="{BB962C8B-B14F-4D97-AF65-F5344CB8AC3E}">
        <p14:creationId xmlns:p14="http://schemas.microsoft.com/office/powerpoint/2010/main" val="9579079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0F2336-C070-4085-95D1-1D5A135D617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809354-D161-4515-BA80-6DED28499FAA}"/>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SURROGATE LANDSCAPE</a:t>
            </a:r>
          </a:p>
        </p:txBody>
      </p:sp>
      <p:sp>
        <p:nvSpPr>
          <p:cNvPr id="3" name="">
            <a:extLst xmlns:a="http://schemas.openxmlformats.org/drawingml/2006/main">
              <a:ext uri="{FF2B5EF4-FFF2-40B4-BE49-F238E27FC236}">
                <a16:creationId xmlns:a16="http://schemas.microsoft.com/office/drawing/2014/main" id="{6C4EF7B7-D487-48CD-B021-B1C4F4A4F447}"/>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06 / 32</a:t>
            </a:r>
          </a:p>
        </p:txBody>
      </p:sp>
      <p:sp>
        <p:nvSpPr>
          <p:cNvPr id="4" name="">
            <a:extLst xmlns:a="http://schemas.openxmlformats.org/drawingml/2006/main">
              <a:ext uri="{FF2B5EF4-FFF2-40B4-BE49-F238E27FC236}">
                <a16:creationId xmlns:a16="http://schemas.microsoft.com/office/drawing/2014/main" id="{A126FF18-E077-4888-B761-4B6454AD619A}"/>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1C842A86-B352-4318-8042-D39D00CC4401}"/>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Kovachki et al., Neural Operator, JMLR 24 (2023) | External: Lu et al., DeepONet, NMI 3 (2021)</a:t>
            </a:r>
          </a:p>
        </p:txBody>
      </p:sp>
      <p:sp>
        <p:nvSpPr>
          <p:cNvPr id="6" name="">
            <a:extLst xmlns:a="http://schemas.openxmlformats.org/drawingml/2006/main">
              <a:ext uri="{FF2B5EF4-FFF2-40B4-BE49-F238E27FC236}">
                <a16:creationId xmlns:a16="http://schemas.microsoft.com/office/drawing/2014/main" id="{8CCDE48E-4980-4EB9-818D-ED9FDCA5C81A}"/>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418720-BB1E-4B39-B618-7FCD8E7E09D9}"/>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DCE9C3DC-A7A5-4D32-8401-6D09FAF626F6}"/>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サロゲートは形状・解像度・長距離依存に弱点が出る</a:t>
            </a:r>
          </a:p>
        </p:txBody>
      </p:sp>
      <p:sp>
        <p:nvSpPr>
          <p:cNvPr id="9" name="">
            <a:extLst xmlns:a="http://schemas.openxmlformats.org/drawingml/2006/main">
              <a:ext uri="{FF2B5EF4-FFF2-40B4-BE49-F238E27FC236}">
                <a16:creationId xmlns:a16="http://schemas.microsoft.com/office/drawing/2014/main" id="{2D23BD1A-9544-475E-8E7A-8DB68D0AFC46}"/>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211DB23A-DAA5-464F-92BA-219D2E72D98D}"/>
              </a:ext>
            </a:extLst>
          </p:cNvPr>
          <p:cNvSpPr>
            <a:spLocks xmlns:a="http://schemas.openxmlformats.org/drawingml/2006/main" noGrp="1"/>
          </p:cNvSpPr>
          <p:nvPr/>
        </p:nvSpPr>
        <p:spPr>
          <a:xfrm xmlns:a="http://schemas.openxmlformats.org/drawingml/2006/main">
            <a:off x="495300" y="1657350"/>
            <a:ext cx="1771650" cy="400050"/>
          </a:xfrm>
          <a:prstGeom xmlns:a="http://schemas.openxmlformats.org/drawingml/2006/main" prst="rect">
            <a:avLst/>
          </a:prstGeom>
          <a:solidFill xmlns:a="http://schemas.openxmlformats.org/drawingml/2006/main">
            <a:srgbClr val="111827"/>
          </a:solidFill>
          <a:ln xmlns:a="http://schemas.openxmlformats.org/drawingml/2006/main" w="4763">
            <a:solidFill>
              <a:srgbClr val="FFFFFF"/>
            </a:solidFill>
            <a:prstDash val="solid"/>
          </a:ln>
        </p:spPr>
      </p:sp>
      <p:sp>
        <p:nvSpPr>
          <p:cNvPr id="11" name="">
            <a:extLst xmlns:a="http://schemas.openxmlformats.org/drawingml/2006/main">
              <a:ext uri="{FF2B5EF4-FFF2-40B4-BE49-F238E27FC236}">
                <a16:creationId xmlns:a16="http://schemas.microsoft.com/office/drawing/2014/main" id="{E92B1886-6C59-40B4-93C0-0EF83E02142A}"/>
              </a:ext>
            </a:extLst>
          </p:cNvPr>
          <p:cNvSpPr>
            <a:spLocks xmlns:a="http://schemas.openxmlformats.org/drawingml/2006/main" noGrp="1"/>
          </p:cNvSpPr>
          <p:nvPr/>
        </p:nvSpPr>
        <p:spPr>
          <a:xfrm xmlns:a="http://schemas.openxmlformats.org/drawingml/2006/main">
            <a:off x="590550" y="17526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i="0">
                <a:solidFill>
                  <a:srgbClr val="FFFFFF"/>
                </a:solidFill>
                <a:latin typeface="Consolas"/>
                <a:ea typeface="Consolas"/>
                <a:cs typeface="Consolas"/>
              </a:defRPr>
            </a:pPr>
            <a:r>
              <a:rPr sz="1125" b="1" i="0">
                <a:solidFill>
                  <a:srgbClr val="FFFFFF"/>
                </a:solidFill>
                <a:latin typeface="Consolas"/>
                <a:ea typeface="Consolas"/>
                <a:cs typeface="Consolas"/>
              </a:rPr>
              <a:t>方法</a:t>
            </a:r>
          </a:p>
        </p:txBody>
      </p:sp>
      <p:sp>
        <p:nvSpPr>
          <p:cNvPr id="12" name="">
            <a:extLst xmlns:a="http://schemas.openxmlformats.org/drawingml/2006/main">
              <a:ext uri="{FF2B5EF4-FFF2-40B4-BE49-F238E27FC236}">
                <a16:creationId xmlns:a16="http://schemas.microsoft.com/office/drawing/2014/main" id="{AA74036E-ECF3-4074-BF1F-D2C3456B2CF0}"/>
              </a:ext>
            </a:extLst>
          </p:cNvPr>
          <p:cNvSpPr>
            <a:spLocks xmlns:a="http://schemas.openxmlformats.org/drawingml/2006/main" noGrp="1"/>
          </p:cNvSpPr>
          <p:nvPr/>
        </p:nvSpPr>
        <p:spPr>
          <a:xfrm xmlns:a="http://schemas.openxmlformats.org/drawingml/2006/main">
            <a:off x="2266950" y="1657350"/>
            <a:ext cx="2686050" cy="400050"/>
          </a:xfrm>
          <a:prstGeom xmlns:a="http://schemas.openxmlformats.org/drawingml/2006/main" prst="rect">
            <a:avLst/>
          </a:prstGeom>
          <a:solidFill xmlns:a="http://schemas.openxmlformats.org/drawingml/2006/main">
            <a:srgbClr val="111827"/>
          </a:solidFill>
          <a:ln xmlns:a="http://schemas.openxmlformats.org/drawingml/2006/main" w="4763">
            <a:solidFill>
              <a:srgbClr val="FFFFFF"/>
            </a:solidFill>
            <a:prstDash val="solid"/>
          </a:ln>
        </p:spPr>
      </p:sp>
      <p:sp>
        <p:nvSpPr>
          <p:cNvPr id="13" name="">
            <a:extLst xmlns:a="http://schemas.openxmlformats.org/drawingml/2006/main">
              <a:ext uri="{FF2B5EF4-FFF2-40B4-BE49-F238E27FC236}">
                <a16:creationId xmlns:a16="http://schemas.microsoft.com/office/drawing/2014/main" id="{EC460D80-3959-41CD-B8B0-997BBE7BE8EA}"/>
              </a:ext>
            </a:extLst>
          </p:cNvPr>
          <p:cNvSpPr>
            <a:spLocks xmlns:a="http://schemas.openxmlformats.org/drawingml/2006/main" noGrp="1"/>
          </p:cNvSpPr>
          <p:nvPr/>
        </p:nvSpPr>
        <p:spPr>
          <a:xfrm xmlns:a="http://schemas.openxmlformats.org/drawingml/2006/main">
            <a:off x="2362200" y="1752600"/>
            <a:ext cx="2495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i="0">
                <a:solidFill>
                  <a:srgbClr val="FFFFFF"/>
                </a:solidFill>
                <a:latin typeface="Consolas"/>
                <a:ea typeface="Consolas"/>
                <a:cs typeface="Consolas"/>
              </a:defRPr>
            </a:pPr>
            <a:r>
              <a:rPr sz="1125" b="1" i="0">
                <a:solidFill>
                  <a:srgbClr val="FFFFFF"/>
                </a:solidFill>
                <a:latin typeface="Consolas"/>
                <a:ea typeface="Consolas"/>
                <a:cs typeface="Consolas"/>
              </a:rPr>
              <a:t>形状・離散化</a:t>
            </a:r>
          </a:p>
        </p:txBody>
      </p:sp>
      <p:sp>
        <p:nvSpPr>
          <p:cNvPr id="14" name="">
            <a:extLst xmlns:a="http://schemas.openxmlformats.org/drawingml/2006/main">
              <a:ext uri="{FF2B5EF4-FFF2-40B4-BE49-F238E27FC236}">
                <a16:creationId xmlns:a16="http://schemas.microsoft.com/office/drawing/2014/main" id="{A783C0EB-662F-44D4-A213-DA44A9A292CB}"/>
              </a:ext>
            </a:extLst>
          </p:cNvPr>
          <p:cNvSpPr>
            <a:spLocks xmlns:a="http://schemas.openxmlformats.org/drawingml/2006/main" noGrp="1"/>
          </p:cNvSpPr>
          <p:nvPr/>
        </p:nvSpPr>
        <p:spPr>
          <a:xfrm xmlns:a="http://schemas.openxmlformats.org/drawingml/2006/main">
            <a:off x="4953000" y="1657350"/>
            <a:ext cx="2571750" cy="400050"/>
          </a:xfrm>
          <a:prstGeom xmlns:a="http://schemas.openxmlformats.org/drawingml/2006/main" prst="rect">
            <a:avLst/>
          </a:prstGeom>
          <a:solidFill xmlns:a="http://schemas.openxmlformats.org/drawingml/2006/main">
            <a:srgbClr val="111827"/>
          </a:solidFill>
          <a:ln xmlns:a="http://schemas.openxmlformats.org/drawingml/2006/main" w="4763">
            <a:solidFill>
              <a:srgbClr val="FFFFFF"/>
            </a:solidFill>
            <a:prstDash val="solid"/>
          </a:ln>
        </p:spPr>
      </p:sp>
      <p:sp>
        <p:nvSpPr>
          <p:cNvPr id="15" name="">
            <a:extLst xmlns:a="http://schemas.openxmlformats.org/drawingml/2006/main">
              <a:ext uri="{FF2B5EF4-FFF2-40B4-BE49-F238E27FC236}">
                <a16:creationId xmlns:a16="http://schemas.microsoft.com/office/drawing/2014/main" id="{9C9FFCF6-C017-43E2-B1B7-3F0FEBC2CEEC}"/>
              </a:ext>
            </a:extLst>
          </p:cNvPr>
          <p:cNvSpPr>
            <a:spLocks xmlns:a="http://schemas.openxmlformats.org/drawingml/2006/main" noGrp="1"/>
          </p:cNvSpPr>
          <p:nvPr/>
        </p:nvSpPr>
        <p:spPr>
          <a:xfrm xmlns:a="http://schemas.openxmlformats.org/drawingml/2006/main">
            <a:off x="5048250" y="1752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i="0">
                <a:solidFill>
                  <a:srgbClr val="FFFFFF"/>
                </a:solidFill>
                <a:latin typeface="Consolas"/>
                <a:ea typeface="Consolas"/>
                <a:cs typeface="Consolas"/>
              </a:defRPr>
            </a:pPr>
            <a:r>
              <a:rPr sz="1125" b="1" i="0">
                <a:solidFill>
                  <a:srgbClr val="FFFFFF"/>
                </a:solidFill>
                <a:latin typeface="Consolas"/>
                <a:ea typeface="Consolas"/>
                <a:cs typeface="Consolas"/>
              </a:rPr>
              <a:t>計算のスケール</a:t>
            </a:r>
          </a:p>
        </p:txBody>
      </p:sp>
      <p:sp>
        <p:nvSpPr>
          <p:cNvPr id="16" name="">
            <a:extLst xmlns:a="http://schemas.openxmlformats.org/drawingml/2006/main">
              <a:ext uri="{FF2B5EF4-FFF2-40B4-BE49-F238E27FC236}">
                <a16:creationId xmlns:a16="http://schemas.microsoft.com/office/drawing/2014/main" id="{F2AD09A2-6F90-4E1D-95FA-DA127E2B7C41}"/>
              </a:ext>
            </a:extLst>
          </p:cNvPr>
          <p:cNvSpPr>
            <a:spLocks xmlns:a="http://schemas.openxmlformats.org/drawingml/2006/main" noGrp="1"/>
          </p:cNvSpPr>
          <p:nvPr/>
        </p:nvSpPr>
        <p:spPr>
          <a:xfrm xmlns:a="http://schemas.openxmlformats.org/drawingml/2006/main">
            <a:off x="7524750" y="1657350"/>
            <a:ext cx="4171950" cy="400050"/>
          </a:xfrm>
          <a:prstGeom xmlns:a="http://schemas.openxmlformats.org/drawingml/2006/main" prst="rect">
            <a:avLst/>
          </a:prstGeom>
          <a:solidFill xmlns:a="http://schemas.openxmlformats.org/drawingml/2006/main">
            <a:srgbClr val="111827"/>
          </a:solidFill>
          <a:ln xmlns:a="http://schemas.openxmlformats.org/drawingml/2006/main" w="4763">
            <a:solidFill>
              <a:srgbClr val="FFFFFF"/>
            </a:solidFill>
            <a:prstDash val="solid"/>
          </a:ln>
        </p:spPr>
      </p:sp>
      <p:sp>
        <p:nvSpPr>
          <p:cNvPr id="17" name="">
            <a:extLst xmlns:a="http://schemas.openxmlformats.org/drawingml/2006/main">
              <a:ext uri="{FF2B5EF4-FFF2-40B4-BE49-F238E27FC236}">
                <a16:creationId xmlns:a16="http://schemas.microsoft.com/office/drawing/2014/main" id="{DBA7A0CE-075E-4650-9D27-3926A5E40CFC}"/>
              </a:ext>
            </a:extLst>
          </p:cNvPr>
          <p:cNvSpPr>
            <a:spLocks xmlns:a="http://schemas.openxmlformats.org/drawingml/2006/main" noGrp="1"/>
          </p:cNvSpPr>
          <p:nvPr/>
        </p:nvSpPr>
        <p:spPr>
          <a:xfrm xmlns:a="http://schemas.openxmlformats.org/drawingml/2006/main">
            <a:off x="7620000" y="1752600"/>
            <a:ext cx="398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i="0">
                <a:solidFill>
                  <a:srgbClr val="FFFFFF"/>
                </a:solidFill>
                <a:latin typeface="Consolas"/>
                <a:ea typeface="Consolas"/>
                <a:cs typeface="Consolas"/>
              </a:defRPr>
            </a:pPr>
            <a:r>
              <a:rPr sz="1125" b="1" i="0">
                <a:solidFill>
                  <a:srgbClr val="FFFFFF"/>
                </a:solidFill>
                <a:latin typeface="Consolas"/>
                <a:ea typeface="Consolas"/>
                <a:cs typeface="Consolas"/>
              </a:rPr>
              <a:t>強みと注意点</a:t>
            </a:r>
          </a:p>
        </p:txBody>
      </p:sp>
      <p:sp>
        <p:nvSpPr>
          <p:cNvPr id="18" name="">
            <a:extLst xmlns:a="http://schemas.openxmlformats.org/drawingml/2006/main">
              <a:ext uri="{FF2B5EF4-FFF2-40B4-BE49-F238E27FC236}">
                <a16:creationId xmlns:a16="http://schemas.microsoft.com/office/drawing/2014/main" id="{2A2962E8-B36A-43B9-9B0B-792EA3C8180C}"/>
              </a:ext>
            </a:extLst>
          </p:cNvPr>
          <p:cNvSpPr>
            <a:spLocks xmlns:a="http://schemas.openxmlformats.org/drawingml/2006/main" noGrp="1"/>
          </p:cNvSpPr>
          <p:nvPr/>
        </p:nvSpPr>
        <p:spPr>
          <a:xfrm xmlns:a="http://schemas.openxmlformats.org/drawingml/2006/main">
            <a:off x="495300" y="2057400"/>
            <a:ext cx="17716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9" name="">
            <a:extLst xmlns:a="http://schemas.openxmlformats.org/drawingml/2006/main">
              <a:ext uri="{FF2B5EF4-FFF2-40B4-BE49-F238E27FC236}">
                <a16:creationId xmlns:a16="http://schemas.microsoft.com/office/drawing/2014/main" id="{BD89A0D8-F244-4531-957C-A2F0F1D4EF58}"/>
              </a:ext>
            </a:extLst>
          </p:cNvPr>
          <p:cNvSpPr>
            <a:spLocks xmlns:a="http://schemas.openxmlformats.org/drawingml/2006/main" noGrp="1"/>
          </p:cNvSpPr>
          <p:nvPr/>
        </p:nvSpPr>
        <p:spPr>
          <a:xfrm xmlns:a="http://schemas.openxmlformats.org/drawingml/2006/main">
            <a:off x="590550" y="2181225"/>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CFD</a:t>
            </a:r>
          </a:p>
        </p:txBody>
      </p:sp>
      <p:sp>
        <p:nvSpPr>
          <p:cNvPr id="20" name="">
            <a:extLst xmlns:a="http://schemas.openxmlformats.org/drawingml/2006/main">
              <a:ext uri="{FF2B5EF4-FFF2-40B4-BE49-F238E27FC236}">
                <a16:creationId xmlns:a16="http://schemas.microsoft.com/office/drawing/2014/main" id="{F953C8E0-EFC5-439E-B66D-0D9A36EC1573}"/>
              </a:ext>
            </a:extLst>
          </p:cNvPr>
          <p:cNvSpPr>
            <a:spLocks xmlns:a="http://schemas.openxmlformats.org/drawingml/2006/main" noGrp="1"/>
          </p:cNvSpPr>
          <p:nvPr/>
        </p:nvSpPr>
        <p:spPr>
          <a:xfrm xmlns:a="http://schemas.openxmlformats.org/drawingml/2006/main">
            <a:off x="2266950" y="2057400"/>
            <a:ext cx="26860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1" name="">
            <a:extLst xmlns:a="http://schemas.openxmlformats.org/drawingml/2006/main">
              <a:ext uri="{FF2B5EF4-FFF2-40B4-BE49-F238E27FC236}">
                <a16:creationId xmlns:a16="http://schemas.microsoft.com/office/drawing/2014/main" id="{659B6AAE-DD26-4E15-9C5C-C939E3EC9D3F}"/>
              </a:ext>
            </a:extLst>
          </p:cNvPr>
          <p:cNvSpPr>
            <a:spLocks xmlns:a="http://schemas.openxmlformats.org/drawingml/2006/main" noGrp="1"/>
          </p:cNvSpPr>
          <p:nvPr/>
        </p:nvSpPr>
        <p:spPr>
          <a:xfrm xmlns:a="http://schemas.openxmlformats.org/drawingml/2006/main">
            <a:off x="2362200" y="2181225"/>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任意形状／メッシュ</a:t>
            </a:r>
          </a:p>
        </p:txBody>
      </p:sp>
      <p:sp>
        <p:nvSpPr>
          <p:cNvPr id="22" name="">
            <a:extLst xmlns:a="http://schemas.openxmlformats.org/drawingml/2006/main">
              <a:ext uri="{FF2B5EF4-FFF2-40B4-BE49-F238E27FC236}">
                <a16:creationId xmlns:a16="http://schemas.microsoft.com/office/drawing/2014/main" id="{43823B92-D9F5-4FCC-8179-6A9EB4946156}"/>
              </a:ext>
            </a:extLst>
          </p:cNvPr>
          <p:cNvSpPr>
            <a:spLocks xmlns:a="http://schemas.openxmlformats.org/drawingml/2006/main" noGrp="1"/>
          </p:cNvSpPr>
          <p:nvPr/>
        </p:nvSpPr>
        <p:spPr>
          <a:xfrm xmlns:a="http://schemas.openxmlformats.org/drawingml/2006/main">
            <a:off x="4953000" y="2057400"/>
            <a:ext cx="25717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3" name="">
            <a:extLst xmlns:a="http://schemas.openxmlformats.org/drawingml/2006/main">
              <a:ext uri="{FF2B5EF4-FFF2-40B4-BE49-F238E27FC236}">
                <a16:creationId xmlns:a16="http://schemas.microsoft.com/office/drawing/2014/main" id="{8A18FD5F-BB8D-4C43-BAE7-ED4274BE5097}"/>
              </a:ext>
            </a:extLst>
          </p:cNvPr>
          <p:cNvSpPr>
            <a:spLocks xmlns:a="http://schemas.openxmlformats.org/drawingml/2006/main" noGrp="1"/>
          </p:cNvSpPr>
          <p:nvPr/>
        </p:nvSpPr>
        <p:spPr>
          <a:xfrm xmlns:a="http://schemas.openxmlformats.org/drawingml/2006/main">
            <a:off x="5048250" y="21812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形状ごとに求解</a:t>
            </a:r>
          </a:p>
        </p:txBody>
      </p:sp>
      <p:sp>
        <p:nvSpPr>
          <p:cNvPr id="24" name="">
            <a:extLst xmlns:a="http://schemas.openxmlformats.org/drawingml/2006/main">
              <a:ext uri="{FF2B5EF4-FFF2-40B4-BE49-F238E27FC236}">
                <a16:creationId xmlns:a16="http://schemas.microsoft.com/office/drawing/2014/main" id="{E09FBCB8-DD32-4746-A705-CAB2024EB6D3}"/>
              </a:ext>
            </a:extLst>
          </p:cNvPr>
          <p:cNvSpPr>
            <a:spLocks xmlns:a="http://schemas.openxmlformats.org/drawingml/2006/main" noGrp="1"/>
          </p:cNvSpPr>
          <p:nvPr/>
        </p:nvSpPr>
        <p:spPr>
          <a:xfrm xmlns:a="http://schemas.openxmlformats.org/drawingml/2006/main">
            <a:off x="7524750" y="2057400"/>
            <a:ext cx="41719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5" name="">
            <a:extLst xmlns:a="http://schemas.openxmlformats.org/drawingml/2006/main">
              <a:ext uri="{FF2B5EF4-FFF2-40B4-BE49-F238E27FC236}">
                <a16:creationId xmlns:a16="http://schemas.microsoft.com/office/drawing/2014/main" id="{94D32B7C-385B-4851-9E78-A9DE3C0E1C37}"/>
              </a:ext>
            </a:extLst>
          </p:cNvPr>
          <p:cNvSpPr>
            <a:spLocks xmlns:a="http://schemas.openxmlformats.org/drawingml/2006/main" noGrp="1"/>
          </p:cNvSpPr>
          <p:nvPr/>
        </p:nvSpPr>
        <p:spPr>
          <a:xfrm xmlns:a="http://schemas.openxmlformats.org/drawingml/2006/main">
            <a:off x="7620000" y="2181225"/>
            <a:ext cx="3981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高忠実度。メッシュ生成と反復計算が重い</a:t>
            </a:r>
          </a:p>
        </p:txBody>
      </p:sp>
      <p:sp>
        <p:nvSpPr>
          <p:cNvPr id="26" name="">
            <a:extLst xmlns:a="http://schemas.openxmlformats.org/drawingml/2006/main">
              <a:ext uri="{FF2B5EF4-FFF2-40B4-BE49-F238E27FC236}">
                <a16:creationId xmlns:a16="http://schemas.microsoft.com/office/drawing/2014/main" id="{C7BFAA81-17B8-468F-B918-A073F3298D68}"/>
              </a:ext>
            </a:extLst>
          </p:cNvPr>
          <p:cNvSpPr>
            <a:spLocks xmlns:a="http://schemas.openxmlformats.org/drawingml/2006/main" noGrp="1"/>
          </p:cNvSpPr>
          <p:nvPr/>
        </p:nvSpPr>
        <p:spPr>
          <a:xfrm xmlns:a="http://schemas.openxmlformats.org/drawingml/2006/main">
            <a:off x="495300" y="2952750"/>
            <a:ext cx="1771650" cy="895350"/>
          </a:xfrm>
          <a:prstGeom xmlns:a="http://schemas.openxmlformats.org/drawingml/2006/main" prst="rect">
            <a:avLst/>
          </a:prstGeom>
          <a:solidFill xmlns:a="http://schemas.openxmlformats.org/drawingml/2006/main">
            <a:srgbClr val="F1F3F5"/>
          </a:solidFill>
          <a:ln xmlns:a="http://schemas.openxmlformats.org/drawingml/2006/main" w="5715">
            <a:solidFill>
              <a:srgbClr val="B8BCC4"/>
            </a:solidFill>
            <a:prstDash val="solid"/>
          </a:ln>
        </p:spPr>
      </p:sp>
      <p:sp>
        <p:nvSpPr>
          <p:cNvPr id="27" name="">
            <a:extLst xmlns:a="http://schemas.openxmlformats.org/drawingml/2006/main">
              <a:ext uri="{FF2B5EF4-FFF2-40B4-BE49-F238E27FC236}">
                <a16:creationId xmlns:a16="http://schemas.microsoft.com/office/drawing/2014/main" id="{4D2AAA01-F1BB-4CC1-8A34-B1A198BF0FCE}"/>
              </a:ext>
            </a:extLst>
          </p:cNvPr>
          <p:cNvSpPr>
            <a:spLocks xmlns:a="http://schemas.openxmlformats.org/drawingml/2006/main" noGrp="1"/>
          </p:cNvSpPr>
          <p:nvPr/>
        </p:nvSpPr>
        <p:spPr>
          <a:xfrm xmlns:a="http://schemas.openxmlformats.org/drawingml/2006/main">
            <a:off x="590550" y="3076575"/>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固定格子系</a:t>
            </a:r>
          </a:p>
          <a:p xmlns:a="http://schemas.openxmlformats.org/drawingml/2006/main">
            <a:pPr algn="l">
              <a:lnSpc>
                <a:spcPct val="120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CNN / FNO</a:t>
            </a:r>
          </a:p>
        </p:txBody>
      </p:sp>
      <p:sp>
        <p:nvSpPr>
          <p:cNvPr id="28" name="">
            <a:extLst xmlns:a="http://schemas.openxmlformats.org/drawingml/2006/main">
              <a:ext uri="{FF2B5EF4-FFF2-40B4-BE49-F238E27FC236}">
                <a16:creationId xmlns:a16="http://schemas.microsoft.com/office/drawing/2014/main" id="{25AFB027-2581-4904-91AE-027580C239B0}"/>
              </a:ext>
            </a:extLst>
          </p:cNvPr>
          <p:cNvSpPr>
            <a:spLocks xmlns:a="http://schemas.openxmlformats.org/drawingml/2006/main" noGrp="1"/>
          </p:cNvSpPr>
          <p:nvPr/>
        </p:nvSpPr>
        <p:spPr>
          <a:xfrm xmlns:a="http://schemas.openxmlformats.org/drawingml/2006/main">
            <a:off x="2266950" y="2952750"/>
            <a:ext cx="2686050" cy="895350"/>
          </a:xfrm>
          <a:prstGeom xmlns:a="http://schemas.openxmlformats.org/drawingml/2006/main" prst="rect">
            <a:avLst/>
          </a:prstGeom>
          <a:solidFill xmlns:a="http://schemas.openxmlformats.org/drawingml/2006/main">
            <a:srgbClr val="F1F3F5"/>
          </a:solidFill>
          <a:ln xmlns:a="http://schemas.openxmlformats.org/drawingml/2006/main" w="5715">
            <a:solidFill>
              <a:srgbClr val="B8BCC4"/>
            </a:solidFill>
            <a:prstDash val="solid"/>
          </a:ln>
        </p:spPr>
      </p:sp>
      <p:sp>
        <p:nvSpPr>
          <p:cNvPr id="29" name="">
            <a:extLst xmlns:a="http://schemas.openxmlformats.org/drawingml/2006/main">
              <a:ext uri="{FF2B5EF4-FFF2-40B4-BE49-F238E27FC236}">
                <a16:creationId xmlns:a16="http://schemas.microsoft.com/office/drawing/2014/main" id="{4739532D-494C-4C62-80B5-8F318A1396E9}"/>
              </a:ext>
            </a:extLst>
          </p:cNvPr>
          <p:cNvSpPr>
            <a:spLocks xmlns:a="http://schemas.openxmlformats.org/drawingml/2006/main" noGrp="1"/>
          </p:cNvSpPr>
          <p:nvPr/>
        </p:nvSpPr>
        <p:spPr>
          <a:xfrm xmlns:a="http://schemas.openxmlformats.org/drawingml/2006/main">
            <a:off x="2362200" y="3076575"/>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格子・SDFへ写像</a:t>
            </a:r>
          </a:p>
        </p:txBody>
      </p:sp>
      <p:sp>
        <p:nvSpPr>
          <p:cNvPr id="30" name="">
            <a:extLst xmlns:a="http://schemas.openxmlformats.org/drawingml/2006/main">
              <a:ext uri="{FF2B5EF4-FFF2-40B4-BE49-F238E27FC236}">
                <a16:creationId xmlns:a16="http://schemas.microsoft.com/office/drawing/2014/main" id="{C8BD5FD8-B479-44C6-850B-0F7ED354A15F}"/>
              </a:ext>
            </a:extLst>
          </p:cNvPr>
          <p:cNvSpPr>
            <a:spLocks xmlns:a="http://schemas.openxmlformats.org/drawingml/2006/main" noGrp="1"/>
          </p:cNvSpPr>
          <p:nvPr/>
        </p:nvSpPr>
        <p:spPr>
          <a:xfrm xmlns:a="http://schemas.openxmlformats.org/drawingml/2006/main">
            <a:off x="4953000" y="2952750"/>
            <a:ext cx="2571750" cy="895350"/>
          </a:xfrm>
          <a:prstGeom xmlns:a="http://schemas.openxmlformats.org/drawingml/2006/main" prst="rect">
            <a:avLst/>
          </a:prstGeom>
          <a:solidFill xmlns:a="http://schemas.openxmlformats.org/drawingml/2006/main">
            <a:srgbClr val="F1F3F5"/>
          </a:solidFill>
          <a:ln xmlns:a="http://schemas.openxmlformats.org/drawingml/2006/main" w="5715">
            <a:solidFill>
              <a:srgbClr val="B8BCC4"/>
            </a:solidFill>
            <a:prstDash val="solid"/>
          </a:ln>
        </p:spPr>
      </p:sp>
      <p:sp>
        <p:nvSpPr>
          <p:cNvPr id="31" name="">
            <a:extLst xmlns:a="http://schemas.openxmlformats.org/drawingml/2006/main">
              <a:ext uri="{FF2B5EF4-FFF2-40B4-BE49-F238E27FC236}">
                <a16:creationId xmlns:a16="http://schemas.microsoft.com/office/drawing/2014/main" id="{B2705E0B-1339-4F8C-A771-987A4A541CF2}"/>
              </a:ext>
            </a:extLst>
          </p:cNvPr>
          <p:cNvSpPr>
            <a:spLocks xmlns:a="http://schemas.openxmlformats.org/drawingml/2006/main" noGrp="1"/>
          </p:cNvSpPr>
          <p:nvPr/>
        </p:nvSpPr>
        <p:spPr>
          <a:xfrm xmlns:a="http://schemas.openxmlformats.org/drawingml/2006/main">
            <a:off x="5048250" y="3076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構造化演算は高速</a:t>
            </a:r>
          </a:p>
        </p:txBody>
      </p:sp>
      <p:sp>
        <p:nvSpPr>
          <p:cNvPr id="32" name="">
            <a:extLst xmlns:a="http://schemas.openxmlformats.org/drawingml/2006/main">
              <a:ext uri="{FF2B5EF4-FFF2-40B4-BE49-F238E27FC236}">
                <a16:creationId xmlns:a16="http://schemas.microsoft.com/office/drawing/2014/main" id="{9313FDC0-C088-4931-96E6-991FE8A6A140}"/>
              </a:ext>
            </a:extLst>
          </p:cNvPr>
          <p:cNvSpPr>
            <a:spLocks xmlns:a="http://schemas.openxmlformats.org/drawingml/2006/main" noGrp="1"/>
          </p:cNvSpPr>
          <p:nvPr/>
        </p:nvSpPr>
        <p:spPr>
          <a:xfrm xmlns:a="http://schemas.openxmlformats.org/drawingml/2006/main">
            <a:off x="7524750" y="2952750"/>
            <a:ext cx="4171950" cy="895350"/>
          </a:xfrm>
          <a:prstGeom xmlns:a="http://schemas.openxmlformats.org/drawingml/2006/main" prst="rect">
            <a:avLst/>
          </a:prstGeom>
          <a:solidFill xmlns:a="http://schemas.openxmlformats.org/drawingml/2006/main">
            <a:srgbClr val="F1F3F5"/>
          </a:solidFill>
          <a:ln xmlns:a="http://schemas.openxmlformats.org/drawingml/2006/main" w="5715">
            <a:solidFill>
              <a:srgbClr val="B8BCC4"/>
            </a:solidFill>
            <a:prstDash val="solid"/>
          </a:ln>
        </p:spPr>
      </p:sp>
      <p:sp>
        <p:nvSpPr>
          <p:cNvPr id="33" name="">
            <a:extLst xmlns:a="http://schemas.openxmlformats.org/drawingml/2006/main">
              <a:ext uri="{FF2B5EF4-FFF2-40B4-BE49-F238E27FC236}">
                <a16:creationId xmlns:a16="http://schemas.microsoft.com/office/drawing/2014/main" id="{4EC00F94-24FF-453F-B710-7F8581F47BB7}"/>
              </a:ext>
            </a:extLst>
          </p:cNvPr>
          <p:cNvSpPr>
            <a:spLocks xmlns:a="http://schemas.openxmlformats.org/drawingml/2006/main" noGrp="1"/>
          </p:cNvSpPr>
          <p:nvPr/>
        </p:nvSpPr>
        <p:spPr>
          <a:xfrm xmlns:a="http://schemas.openxmlformats.org/drawingml/2006/main">
            <a:off x="7620000" y="3076575"/>
            <a:ext cx="3981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境界の再標本化や細部解像度がボトルネックになり得る</a:t>
            </a:r>
          </a:p>
        </p:txBody>
      </p:sp>
      <p:sp>
        <p:nvSpPr>
          <p:cNvPr id="34" name="">
            <a:extLst xmlns:a="http://schemas.openxmlformats.org/drawingml/2006/main">
              <a:ext uri="{FF2B5EF4-FFF2-40B4-BE49-F238E27FC236}">
                <a16:creationId xmlns:a16="http://schemas.microsoft.com/office/drawing/2014/main" id="{071D3D61-9743-473A-9E47-C17BD65A093D}"/>
              </a:ext>
            </a:extLst>
          </p:cNvPr>
          <p:cNvSpPr>
            <a:spLocks xmlns:a="http://schemas.openxmlformats.org/drawingml/2006/main" noGrp="1"/>
          </p:cNvSpPr>
          <p:nvPr/>
        </p:nvSpPr>
        <p:spPr>
          <a:xfrm xmlns:a="http://schemas.openxmlformats.org/drawingml/2006/main">
            <a:off x="495300" y="3848100"/>
            <a:ext cx="17716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5" name="">
            <a:extLst xmlns:a="http://schemas.openxmlformats.org/drawingml/2006/main">
              <a:ext uri="{FF2B5EF4-FFF2-40B4-BE49-F238E27FC236}">
                <a16:creationId xmlns:a16="http://schemas.microsoft.com/office/drawing/2014/main" id="{49743F68-9A86-472B-B3F2-C2A8927B642D}"/>
              </a:ext>
            </a:extLst>
          </p:cNvPr>
          <p:cNvSpPr>
            <a:spLocks xmlns:a="http://schemas.openxmlformats.org/drawingml/2006/main" noGrp="1"/>
          </p:cNvSpPr>
          <p:nvPr/>
        </p:nvSpPr>
        <p:spPr>
          <a:xfrm xmlns:a="http://schemas.openxmlformats.org/drawingml/2006/main">
            <a:off x="590550" y="3971925"/>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Mesh / Graph</a:t>
            </a:r>
          </a:p>
        </p:txBody>
      </p:sp>
      <p:sp>
        <p:nvSpPr>
          <p:cNvPr id="36" name="">
            <a:extLst xmlns:a="http://schemas.openxmlformats.org/drawingml/2006/main">
              <a:ext uri="{FF2B5EF4-FFF2-40B4-BE49-F238E27FC236}">
                <a16:creationId xmlns:a16="http://schemas.microsoft.com/office/drawing/2014/main" id="{23CBB235-750A-4B1D-9755-A9DFAE95251D}"/>
              </a:ext>
            </a:extLst>
          </p:cNvPr>
          <p:cNvSpPr>
            <a:spLocks xmlns:a="http://schemas.openxmlformats.org/drawingml/2006/main" noGrp="1"/>
          </p:cNvSpPr>
          <p:nvPr/>
        </p:nvSpPr>
        <p:spPr>
          <a:xfrm xmlns:a="http://schemas.openxmlformats.org/drawingml/2006/main">
            <a:off x="2266950" y="3848100"/>
            <a:ext cx="26860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7" name="">
            <a:extLst xmlns:a="http://schemas.openxmlformats.org/drawingml/2006/main">
              <a:ext uri="{FF2B5EF4-FFF2-40B4-BE49-F238E27FC236}">
                <a16:creationId xmlns:a16="http://schemas.microsoft.com/office/drawing/2014/main" id="{0C520FA2-97BE-49D3-B2AC-97B5A61A188B}"/>
              </a:ext>
            </a:extLst>
          </p:cNvPr>
          <p:cNvSpPr>
            <a:spLocks xmlns:a="http://schemas.openxmlformats.org/drawingml/2006/main" noGrp="1"/>
          </p:cNvSpPr>
          <p:nvPr/>
        </p:nvSpPr>
        <p:spPr>
          <a:xfrm xmlns:a="http://schemas.openxmlformats.org/drawingml/2006/main">
            <a:off x="2362200" y="3971925"/>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メッシュ・グラフを直接利用</a:t>
            </a:r>
          </a:p>
        </p:txBody>
      </p:sp>
      <p:sp>
        <p:nvSpPr>
          <p:cNvPr id="38" name="">
            <a:extLst xmlns:a="http://schemas.openxmlformats.org/drawingml/2006/main">
              <a:ext uri="{FF2B5EF4-FFF2-40B4-BE49-F238E27FC236}">
                <a16:creationId xmlns:a16="http://schemas.microsoft.com/office/drawing/2014/main" id="{06F1B465-18D3-416F-9A7E-5E7EDC143915}"/>
              </a:ext>
            </a:extLst>
          </p:cNvPr>
          <p:cNvSpPr>
            <a:spLocks xmlns:a="http://schemas.openxmlformats.org/drawingml/2006/main" noGrp="1"/>
          </p:cNvSpPr>
          <p:nvPr/>
        </p:nvSpPr>
        <p:spPr>
          <a:xfrm xmlns:a="http://schemas.openxmlformats.org/drawingml/2006/main">
            <a:off x="4953000" y="3848100"/>
            <a:ext cx="25717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9" name="">
            <a:extLst xmlns:a="http://schemas.openxmlformats.org/drawingml/2006/main">
              <a:ext uri="{FF2B5EF4-FFF2-40B4-BE49-F238E27FC236}">
                <a16:creationId xmlns:a16="http://schemas.microsoft.com/office/drawing/2014/main" id="{89CD5C3C-7CB3-4987-906E-FA9C4821F706}"/>
              </a:ext>
            </a:extLst>
          </p:cNvPr>
          <p:cNvSpPr>
            <a:spLocks xmlns:a="http://schemas.openxmlformats.org/drawingml/2006/main" noGrp="1"/>
          </p:cNvSpPr>
          <p:nvPr/>
        </p:nvSpPr>
        <p:spPr>
          <a:xfrm xmlns:a="http://schemas.openxmlformats.org/drawingml/2006/main">
            <a:off x="5048250" y="39719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節点・辺数に依存</a:t>
            </a:r>
          </a:p>
        </p:txBody>
      </p:sp>
      <p:sp>
        <p:nvSpPr>
          <p:cNvPr id="40" name="">
            <a:extLst xmlns:a="http://schemas.openxmlformats.org/drawingml/2006/main">
              <a:ext uri="{FF2B5EF4-FFF2-40B4-BE49-F238E27FC236}">
                <a16:creationId xmlns:a16="http://schemas.microsoft.com/office/drawing/2014/main" id="{1560EC1F-89A9-43BE-B6B4-D312CAC3C2CC}"/>
              </a:ext>
            </a:extLst>
          </p:cNvPr>
          <p:cNvSpPr>
            <a:spLocks xmlns:a="http://schemas.openxmlformats.org/drawingml/2006/main" noGrp="1"/>
          </p:cNvSpPr>
          <p:nvPr/>
        </p:nvSpPr>
        <p:spPr>
          <a:xfrm xmlns:a="http://schemas.openxmlformats.org/drawingml/2006/main">
            <a:off x="7524750" y="3848100"/>
            <a:ext cx="41719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1" name="">
            <a:extLst xmlns:a="http://schemas.openxmlformats.org/drawingml/2006/main">
              <a:ext uri="{FF2B5EF4-FFF2-40B4-BE49-F238E27FC236}">
                <a16:creationId xmlns:a16="http://schemas.microsoft.com/office/drawing/2014/main" id="{4D233215-4429-446F-8E00-48B4500A3F22}"/>
              </a:ext>
            </a:extLst>
          </p:cNvPr>
          <p:cNvSpPr>
            <a:spLocks xmlns:a="http://schemas.openxmlformats.org/drawingml/2006/main" noGrp="1"/>
          </p:cNvSpPr>
          <p:nvPr/>
        </p:nvSpPr>
        <p:spPr>
          <a:xfrm xmlns:a="http://schemas.openxmlformats.org/drawingml/2006/main">
            <a:off x="7620000" y="3971925"/>
            <a:ext cx="3981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i="0">
                <a:solidFill>
                  <a:srgbClr val="111827"/>
                </a:solidFill>
                <a:latin typeface="Yu Gothic"/>
                <a:ea typeface="Yu Gothic"/>
                <a:cs typeface="Yu Gothic"/>
              </a:defRPr>
            </a:pPr>
            <a:r>
              <a:rPr sz="1200" b="0" i="0">
                <a:solidFill>
                  <a:srgbClr val="111827"/>
                </a:solidFill>
                <a:latin typeface="Yu Gothic"/>
                <a:ea typeface="Yu Gothic"/>
                <a:cs typeface="Yu Gothic"/>
              </a:rPr>
              <a:t>複雑形状に強いが、長距離依存と大規模化が課題</a:t>
            </a:r>
          </a:p>
        </p:txBody>
      </p:sp>
      <p:sp>
        <p:nvSpPr>
          <p:cNvPr id="42" name="">
            <a:extLst xmlns:a="http://schemas.openxmlformats.org/drawingml/2006/main">
              <a:ext uri="{FF2B5EF4-FFF2-40B4-BE49-F238E27FC236}">
                <a16:creationId xmlns:a16="http://schemas.microsoft.com/office/drawing/2014/main" id="{7738B4F2-9269-4180-9033-EC1F21FBEED4}"/>
              </a:ext>
            </a:extLst>
          </p:cNvPr>
          <p:cNvSpPr>
            <a:spLocks xmlns:a="http://schemas.openxmlformats.org/drawingml/2006/main" noGrp="1"/>
          </p:cNvSpPr>
          <p:nvPr/>
        </p:nvSpPr>
        <p:spPr>
          <a:xfrm xmlns:a="http://schemas.openxmlformats.org/drawingml/2006/main">
            <a:off x="495300" y="4743450"/>
            <a:ext cx="1771650" cy="895350"/>
          </a:xfrm>
          <a:prstGeom xmlns:a="http://schemas.openxmlformats.org/drawingml/2006/main" prst="rect">
            <a:avLst/>
          </a:prstGeom>
          <a:solidFill xmlns:a="http://schemas.openxmlformats.org/drawingml/2006/main">
            <a:srgbClr val="EAF5FB"/>
          </a:solidFill>
          <a:ln xmlns:a="http://schemas.openxmlformats.org/drawingml/2006/main" w="5715">
            <a:solidFill>
              <a:srgbClr val="B8BCC4"/>
            </a:solidFill>
            <a:prstDash val="solid"/>
          </a:ln>
        </p:spPr>
      </p:sp>
      <p:sp>
        <p:nvSpPr>
          <p:cNvPr id="43" name="">
            <a:extLst xmlns:a="http://schemas.openxmlformats.org/drawingml/2006/main">
              <a:ext uri="{FF2B5EF4-FFF2-40B4-BE49-F238E27FC236}">
                <a16:creationId xmlns:a16="http://schemas.microsoft.com/office/drawing/2014/main" id="{20027056-BB76-40F8-BD64-F581D2C61719}"/>
              </a:ext>
            </a:extLst>
          </p:cNvPr>
          <p:cNvSpPr>
            <a:spLocks xmlns:a="http://schemas.openxmlformats.org/drawingml/2006/main" noGrp="1"/>
          </p:cNvSpPr>
          <p:nvPr/>
        </p:nvSpPr>
        <p:spPr>
          <a:xfrm xmlns:a="http://schemas.openxmlformats.org/drawingml/2006/main">
            <a:off x="590550" y="4867275"/>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i="0">
                <a:solidFill>
                  <a:srgbClr val="3D8DFF"/>
                </a:solidFill>
                <a:latin typeface="Consolas"/>
                <a:ea typeface="Consolas"/>
                <a:cs typeface="Consolas"/>
              </a:defRPr>
            </a:pPr>
            <a:r>
              <a:rPr sz="1350" b="1" i="0">
                <a:solidFill>
                  <a:srgbClr val="3D8DFF"/>
                </a:solidFill>
                <a:latin typeface="Consolas"/>
                <a:ea typeface="Consolas"/>
                <a:cs typeface="Consolas"/>
              </a:rPr>
              <a:t>DoMINO</a:t>
            </a:r>
          </a:p>
        </p:txBody>
      </p:sp>
      <p:sp>
        <p:nvSpPr>
          <p:cNvPr id="44" name="">
            <a:extLst xmlns:a="http://schemas.openxmlformats.org/drawingml/2006/main">
              <a:ext uri="{FF2B5EF4-FFF2-40B4-BE49-F238E27FC236}">
                <a16:creationId xmlns:a16="http://schemas.microsoft.com/office/drawing/2014/main" id="{6B9BBAD9-2DD9-41B3-8146-5F885D4812C5}"/>
              </a:ext>
            </a:extLst>
          </p:cNvPr>
          <p:cNvSpPr>
            <a:spLocks xmlns:a="http://schemas.openxmlformats.org/drawingml/2006/main" noGrp="1"/>
          </p:cNvSpPr>
          <p:nvPr/>
        </p:nvSpPr>
        <p:spPr>
          <a:xfrm xmlns:a="http://schemas.openxmlformats.org/drawingml/2006/main">
            <a:off x="2266950" y="4743450"/>
            <a:ext cx="2686050" cy="895350"/>
          </a:xfrm>
          <a:prstGeom xmlns:a="http://schemas.openxmlformats.org/drawingml/2006/main" prst="rect">
            <a:avLst/>
          </a:prstGeom>
          <a:solidFill xmlns:a="http://schemas.openxmlformats.org/drawingml/2006/main">
            <a:srgbClr val="EAF5FB"/>
          </a:solidFill>
          <a:ln xmlns:a="http://schemas.openxmlformats.org/drawingml/2006/main" w="5715">
            <a:solidFill>
              <a:srgbClr val="B8BCC4"/>
            </a:solidFill>
            <a:prstDash val="solid"/>
          </a:ln>
        </p:spPr>
      </p:sp>
      <p:sp>
        <p:nvSpPr>
          <p:cNvPr id="45" name="">
            <a:extLst xmlns:a="http://schemas.openxmlformats.org/drawingml/2006/main">
              <a:ext uri="{FF2B5EF4-FFF2-40B4-BE49-F238E27FC236}">
                <a16:creationId xmlns:a16="http://schemas.microsoft.com/office/drawing/2014/main" id="{F48427EB-DD65-4BAE-B7DA-7F41FDF2FDFD}"/>
              </a:ext>
            </a:extLst>
          </p:cNvPr>
          <p:cNvSpPr>
            <a:spLocks xmlns:a="http://schemas.openxmlformats.org/drawingml/2006/main" noGrp="1"/>
          </p:cNvSpPr>
          <p:nvPr/>
        </p:nvSpPr>
        <p:spPr>
          <a:xfrm xmlns:a="http://schemas.openxmlformats.org/drawingml/2006/main">
            <a:off x="2362200" y="4867275"/>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1" i="0">
                <a:solidFill>
                  <a:srgbClr val="111827"/>
                </a:solidFill>
                <a:latin typeface="Yu Gothic"/>
                <a:ea typeface="Yu Gothic"/>
                <a:cs typeface="Yu Gothic"/>
              </a:defRPr>
            </a:pPr>
            <a:r>
              <a:rPr sz="1200" b="1" i="0">
                <a:solidFill>
                  <a:srgbClr val="111827"/>
                </a:solidFill>
                <a:latin typeface="Yu Gothic"/>
                <a:ea typeface="Yu Gothic"/>
                <a:cs typeface="Yu Gothic"/>
              </a:rPr>
              <a:t>点群入力／query出力</a:t>
            </a:r>
          </a:p>
        </p:txBody>
      </p:sp>
      <p:sp>
        <p:nvSpPr>
          <p:cNvPr id="46" name="">
            <a:extLst xmlns:a="http://schemas.openxmlformats.org/drawingml/2006/main">
              <a:ext uri="{FF2B5EF4-FFF2-40B4-BE49-F238E27FC236}">
                <a16:creationId xmlns:a16="http://schemas.microsoft.com/office/drawing/2014/main" id="{DC3DDCE6-BE93-45B5-993A-AEEB1D3255B2}"/>
              </a:ext>
            </a:extLst>
          </p:cNvPr>
          <p:cNvSpPr>
            <a:spLocks xmlns:a="http://schemas.openxmlformats.org/drawingml/2006/main" noGrp="1"/>
          </p:cNvSpPr>
          <p:nvPr/>
        </p:nvSpPr>
        <p:spPr>
          <a:xfrm xmlns:a="http://schemas.openxmlformats.org/drawingml/2006/main">
            <a:off x="4953000" y="4743450"/>
            <a:ext cx="2571750" cy="895350"/>
          </a:xfrm>
          <a:prstGeom xmlns:a="http://schemas.openxmlformats.org/drawingml/2006/main" prst="rect">
            <a:avLst/>
          </a:prstGeom>
          <a:solidFill xmlns:a="http://schemas.openxmlformats.org/drawingml/2006/main">
            <a:srgbClr val="EAF5FB"/>
          </a:solidFill>
          <a:ln xmlns:a="http://schemas.openxmlformats.org/drawingml/2006/main" w="5715">
            <a:solidFill>
              <a:srgbClr val="B8BCC4"/>
            </a:solidFill>
            <a:prstDash val="solid"/>
          </a:ln>
        </p:spPr>
      </p:sp>
      <p:sp>
        <p:nvSpPr>
          <p:cNvPr id="47" name="">
            <a:extLst xmlns:a="http://schemas.openxmlformats.org/drawingml/2006/main">
              <a:ext uri="{FF2B5EF4-FFF2-40B4-BE49-F238E27FC236}">
                <a16:creationId xmlns:a16="http://schemas.microsoft.com/office/drawing/2014/main" id="{5FCFC5CA-F003-4EDC-88A4-2C629E40EBBC}"/>
              </a:ext>
            </a:extLst>
          </p:cNvPr>
          <p:cNvSpPr>
            <a:spLocks xmlns:a="http://schemas.openxmlformats.org/drawingml/2006/main" noGrp="1"/>
          </p:cNvSpPr>
          <p:nvPr/>
        </p:nvSpPr>
        <p:spPr>
          <a:xfrm xmlns:a="http://schemas.openxmlformats.org/drawingml/2006/main">
            <a:off x="5048250" y="48672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1" i="0">
                <a:solidFill>
                  <a:srgbClr val="111827"/>
                </a:solidFill>
                <a:latin typeface="Yu Gothic"/>
                <a:ea typeface="Yu Gothic"/>
                <a:cs typeface="Yu Gothic"/>
              </a:defRPr>
            </a:pPr>
            <a:r>
              <a:rPr sz="1200" b="1" i="0">
                <a:solidFill>
                  <a:srgbClr val="111827"/>
                </a:solidFill>
                <a:latin typeface="Yu Gothic"/>
                <a:ea typeface="Yu Gothic"/>
                <a:cs typeface="Yu Gothic"/>
              </a:rPr>
              <a:t>global共有＋localを分割</a:t>
            </a:r>
          </a:p>
        </p:txBody>
      </p:sp>
      <p:sp>
        <p:nvSpPr>
          <p:cNvPr id="48" name="">
            <a:extLst xmlns:a="http://schemas.openxmlformats.org/drawingml/2006/main">
              <a:ext uri="{FF2B5EF4-FFF2-40B4-BE49-F238E27FC236}">
                <a16:creationId xmlns:a16="http://schemas.microsoft.com/office/drawing/2014/main" id="{1E2FDBE5-854E-4468-BB19-A256205525AE}"/>
              </a:ext>
            </a:extLst>
          </p:cNvPr>
          <p:cNvSpPr>
            <a:spLocks xmlns:a="http://schemas.openxmlformats.org/drawingml/2006/main" noGrp="1"/>
          </p:cNvSpPr>
          <p:nvPr/>
        </p:nvSpPr>
        <p:spPr>
          <a:xfrm xmlns:a="http://schemas.openxmlformats.org/drawingml/2006/main">
            <a:off x="7524750" y="4743450"/>
            <a:ext cx="4171950" cy="895350"/>
          </a:xfrm>
          <a:prstGeom xmlns:a="http://schemas.openxmlformats.org/drawingml/2006/main" prst="rect">
            <a:avLst/>
          </a:prstGeom>
          <a:solidFill xmlns:a="http://schemas.openxmlformats.org/drawingml/2006/main">
            <a:srgbClr val="EAF5FB"/>
          </a:solidFill>
          <a:ln xmlns:a="http://schemas.openxmlformats.org/drawingml/2006/main" w="5715">
            <a:solidFill>
              <a:srgbClr val="B8BCC4"/>
            </a:solidFill>
            <a:prstDash val="solid"/>
          </a:ln>
        </p:spPr>
      </p:sp>
      <p:sp>
        <p:nvSpPr>
          <p:cNvPr id="49" name="">
            <a:extLst xmlns:a="http://schemas.openxmlformats.org/drawingml/2006/main">
              <a:ext uri="{FF2B5EF4-FFF2-40B4-BE49-F238E27FC236}">
                <a16:creationId xmlns:a16="http://schemas.microsoft.com/office/drawing/2014/main" id="{C57B024A-3BE9-4B83-B4CD-D50817CBCD81}"/>
              </a:ext>
            </a:extLst>
          </p:cNvPr>
          <p:cNvSpPr>
            <a:spLocks xmlns:a="http://schemas.openxmlformats.org/drawingml/2006/main" noGrp="1"/>
          </p:cNvSpPr>
          <p:nvPr/>
        </p:nvSpPr>
        <p:spPr>
          <a:xfrm xmlns:a="http://schemas.openxmlformats.org/drawingml/2006/main">
            <a:off x="7620000" y="4867275"/>
            <a:ext cx="3981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1" i="0">
                <a:solidFill>
                  <a:srgbClr val="111827"/>
                </a:solidFill>
                <a:latin typeface="Yu Gothic"/>
                <a:ea typeface="Yu Gothic"/>
                <a:cs typeface="Yu Gothic"/>
              </a:defRPr>
            </a:pPr>
            <a:r>
              <a:rPr sz="1200" b="1" i="0">
                <a:solidFill>
                  <a:srgbClr val="111827"/>
                </a:solidFill>
                <a:latin typeface="Yu Gothic"/>
                <a:ea typeface="Yu Gothic"/>
                <a:cs typeface="Yu Gothic"/>
              </a:rPr>
              <a:t>任意点をバッチ評価。データ依存と未知形状検証は残る</a:t>
            </a:r>
          </a:p>
        </p:txBody>
      </p:sp>
      <p:sp>
        <p:nvSpPr>
          <p:cNvPr id="50" name="">
            <a:extLst xmlns:a="http://schemas.openxmlformats.org/drawingml/2006/main">
              <a:ext uri="{FF2B5EF4-FFF2-40B4-BE49-F238E27FC236}">
                <a16:creationId xmlns:a16="http://schemas.microsoft.com/office/drawing/2014/main" id="{370FF4C4-C2E2-4C5B-8F3A-D5636DC4E24F}"/>
              </a:ext>
            </a:extLst>
          </p:cNvPr>
          <p:cNvSpPr>
            <a:spLocks xmlns:a="http://schemas.openxmlformats.org/drawingml/2006/main" noGrp="1"/>
          </p:cNvSpPr>
          <p:nvPr/>
        </p:nvSpPr>
        <p:spPr>
          <a:xfrm xmlns:a="http://schemas.openxmlformats.org/drawingml/2006/main">
            <a:off x="495300" y="5810250"/>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C8423A"/>
                </a:solidFill>
                <a:latin typeface="Yu Gothic"/>
                <a:ea typeface="Yu Gothic"/>
                <a:cs typeface="Yu Gothic"/>
              </a:defRPr>
            </a:pPr>
            <a:r>
              <a:rPr sz="1200" b="1" i="0">
                <a:solidFill>
                  <a:srgbClr val="C8423A"/>
                </a:solidFill>
                <a:latin typeface="Yu Gothic"/>
                <a:ea typeface="Yu Gothic"/>
                <a:cs typeface="Yu Gothic"/>
              </a:rPr>
              <a:t>※ 同一データ・同一計算資源での直接ベンチマークではなく、論文が述べる設計上の比較</a:t>
            </a:r>
          </a:p>
        </p:txBody>
      </p:sp>
    </p:spTree>
    <p:extLst>
      <p:ext uri="{BB962C8B-B14F-4D97-AF65-F5344CB8AC3E}">
        <p14:creationId xmlns:p14="http://schemas.microsoft.com/office/powerpoint/2010/main" val="1090339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926516-78EF-4205-8693-6657FF043FE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49CF12-EE66-46C4-A738-CDF326F35DE8}"/>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RELATIONSHIP</a:t>
            </a:r>
          </a:p>
        </p:txBody>
      </p:sp>
      <p:sp>
        <p:nvSpPr>
          <p:cNvPr id="3" name="">
            <a:extLst xmlns:a="http://schemas.openxmlformats.org/drawingml/2006/main">
              <a:ext uri="{FF2B5EF4-FFF2-40B4-BE49-F238E27FC236}">
                <a16:creationId xmlns:a16="http://schemas.microsoft.com/office/drawing/2014/main" id="{23CF9670-6EAF-49A8-9C5D-98C9679D847F}"/>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07 / 32</a:t>
            </a:r>
          </a:p>
        </p:txBody>
      </p:sp>
      <p:sp>
        <p:nvSpPr>
          <p:cNvPr id="4" name="">
            <a:extLst xmlns:a="http://schemas.openxmlformats.org/drawingml/2006/main">
              <a:ext uri="{FF2B5EF4-FFF2-40B4-BE49-F238E27FC236}">
                <a16:creationId xmlns:a16="http://schemas.microsoft.com/office/drawing/2014/main" id="{CE4288C4-AC95-4016-90DB-D1B2A7D8493A}"/>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2D598568-C5E5-405E-972E-EB7711BB2EE0}"/>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Kovachki et al., Neural Operator, JMLR 24 (2023) | External: Lu et al., DeepONet, NMI 3 (2021)</a:t>
            </a:r>
          </a:p>
        </p:txBody>
      </p:sp>
      <p:sp>
        <p:nvSpPr>
          <p:cNvPr id="6" name="">
            <a:extLst xmlns:a="http://schemas.openxmlformats.org/drawingml/2006/main">
              <a:ext uri="{FF2B5EF4-FFF2-40B4-BE49-F238E27FC236}">
                <a16:creationId xmlns:a16="http://schemas.microsoft.com/office/drawing/2014/main" id="{A258AE02-FADA-4D51-B210-A2C7BD1C3FCE}"/>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1B38344-650B-43CB-81BA-20E6607077FC}"/>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78B76653-825B-418B-AEEA-A2CC51D87C40}"/>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Neural Operatorは概念、DoMINOは具体設計</a:t>
            </a:r>
          </a:p>
        </p:txBody>
      </p:sp>
      <p:sp>
        <p:nvSpPr>
          <p:cNvPr id="9" name="">
            <a:extLst xmlns:a="http://schemas.openxmlformats.org/drawingml/2006/main">
              <a:ext uri="{FF2B5EF4-FFF2-40B4-BE49-F238E27FC236}">
                <a16:creationId xmlns:a16="http://schemas.microsoft.com/office/drawing/2014/main" id="{466A29E6-7DC3-4488-ABB3-C0F7F71AA44E}"/>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59BA82A7-9360-4DC8-B87C-672E50AD5766}"/>
              </a:ext>
            </a:extLst>
          </p:cNvPr>
          <p:cNvSpPr>
            <a:spLocks xmlns:a="http://schemas.openxmlformats.org/drawingml/2006/main" noGrp="1"/>
          </p:cNvSpPr>
          <p:nvPr/>
        </p:nvSpPr>
        <p:spPr>
          <a:xfrm xmlns:a="http://schemas.openxmlformats.org/drawingml/2006/main">
            <a:off x="2543175" y="2571750"/>
            <a:ext cx="914400" cy="114300"/>
          </a:xfrm>
          <a:prstGeom xmlns:a="http://schemas.openxmlformats.org/drawingml/2006/main" prst="rightArrow">
            <a:avLst/>
          </a:prstGeom>
          <a:solidFill xmlns:a="http://schemas.openxmlformats.org/drawingml/2006/main">
            <a:srgbClr val="5B6472"/>
          </a:solidFill>
          <a:ln xmlns:a="http://schemas.openxmlformats.org/drawingml/2006/main" w="0">
            <a:solidFill>
              <a:srgbClr val="5B6472"/>
            </a:solidFill>
            <a:prstDash val="solid"/>
          </a:ln>
        </p:spPr>
      </p:sp>
      <p:sp>
        <p:nvSpPr>
          <p:cNvPr id="11" name="">
            <a:extLst xmlns:a="http://schemas.openxmlformats.org/drawingml/2006/main">
              <a:ext uri="{FF2B5EF4-FFF2-40B4-BE49-F238E27FC236}">
                <a16:creationId xmlns:a16="http://schemas.microsoft.com/office/drawing/2014/main" id="{CF22F9F1-4E8E-4D35-8068-77905317F8A2}"/>
              </a:ext>
            </a:extLst>
          </p:cNvPr>
          <p:cNvSpPr>
            <a:spLocks xmlns:a="http://schemas.openxmlformats.org/drawingml/2006/main" noGrp="1"/>
          </p:cNvSpPr>
          <p:nvPr/>
        </p:nvSpPr>
        <p:spPr>
          <a:xfrm xmlns:a="http://schemas.openxmlformats.org/drawingml/2006/main">
            <a:off x="5676900" y="2571750"/>
            <a:ext cx="914400" cy="114300"/>
          </a:xfrm>
          <a:prstGeom xmlns:a="http://schemas.openxmlformats.org/drawingml/2006/main" prst="rightArrow">
            <a:avLst/>
          </a:prstGeom>
          <a:solidFill xmlns:a="http://schemas.openxmlformats.org/drawingml/2006/main">
            <a:srgbClr val="5B6472"/>
          </a:solidFill>
          <a:ln xmlns:a="http://schemas.openxmlformats.org/drawingml/2006/main" w="0">
            <a:solidFill>
              <a:srgbClr val="5B6472"/>
            </a:solidFill>
            <a:prstDash val="solid"/>
          </a:ln>
        </p:spPr>
      </p:sp>
      <p:sp>
        <p:nvSpPr>
          <p:cNvPr id="12" name="">
            <a:extLst xmlns:a="http://schemas.openxmlformats.org/drawingml/2006/main">
              <a:ext uri="{FF2B5EF4-FFF2-40B4-BE49-F238E27FC236}">
                <a16:creationId xmlns:a16="http://schemas.microsoft.com/office/drawing/2014/main" id="{5B52F762-BE2F-4DF5-9481-FD6B122E5B43}"/>
              </a:ext>
            </a:extLst>
          </p:cNvPr>
          <p:cNvSpPr>
            <a:spLocks xmlns:a="http://schemas.openxmlformats.org/drawingml/2006/main" noGrp="1"/>
          </p:cNvSpPr>
          <p:nvPr/>
        </p:nvSpPr>
        <p:spPr>
          <a:xfrm xmlns:a="http://schemas.openxmlformats.org/drawingml/2006/main">
            <a:off x="8810625" y="2571750"/>
            <a:ext cx="91440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46314B15-8FF7-4D4A-9B0D-B45643EB53B2}"/>
              </a:ext>
            </a:extLst>
          </p:cNvPr>
          <p:cNvSpPr>
            <a:spLocks xmlns:a="http://schemas.openxmlformats.org/drawingml/2006/main" noGrp="1"/>
          </p:cNvSpPr>
          <p:nvPr/>
        </p:nvSpPr>
        <p:spPr>
          <a:xfrm xmlns:a="http://schemas.openxmlformats.org/drawingml/2006/main">
            <a:off x="590550" y="1943100"/>
            <a:ext cx="2095500"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111827"/>
            </a:solidFill>
            <a:prstDash val="solid"/>
          </a:ln>
        </p:spPr>
      </p:sp>
      <p:sp>
        <p:nvSpPr>
          <p:cNvPr id="14" name="">
            <a:extLst xmlns:a="http://schemas.openxmlformats.org/drawingml/2006/main">
              <a:ext uri="{FF2B5EF4-FFF2-40B4-BE49-F238E27FC236}">
                <a16:creationId xmlns:a16="http://schemas.microsoft.com/office/drawing/2014/main" id="{9EBDE824-C3A0-4DC6-B812-7141DDA8352A}"/>
              </a:ext>
            </a:extLst>
          </p:cNvPr>
          <p:cNvSpPr>
            <a:spLocks xmlns:a="http://schemas.openxmlformats.org/drawingml/2006/main" noGrp="1"/>
          </p:cNvSpPr>
          <p:nvPr/>
        </p:nvSpPr>
        <p:spPr>
          <a:xfrm xmlns:a="http://schemas.openxmlformats.org/drawingml/2006/main">
            <a:off x="723900" y="2152650"/>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Operator learning</a:t>
            </a:r>
          </a:p>
        </p:txBody>
      </p:sp>
      <p:sp>
        <p:nvSpPr>
          <p:cNvPr id="15" name="">
            <a:extLst xmlns:a="http://schemas.openxmlformats.org/drawingml/2006/main">
              <a:ext uri="{FF2B5EF4-FFF2-40B4-BE49-F238E27FC236}">
                <a16:creationId xmlns:a16="http://schemas.microsoft.com/office/drawing/2014/main" id="{BEACBCBE-CF82-46FA-9AAA-A87FCD75D910}"/>
              </a:ext>
            </a:extLst>
          </p:cNvPr>
          <p:cNvSpPr>
            <a:spLocks xmlns:a="http://schemas.openxmlformats.org/drawingml/2006/main" noGrp="1"/>
          </p:cNvSpPr>
          <p:nvPr/>
        </p:nvSpPr>
        <p:spPr>
          <a:xfrm xmlns:a="http://schemas.openxmlformats.org/drawingml/2006/main">
            <a:off x="723900" y="266700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入力の関数・場から</a:t>
            </a:r>
          </a:p>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出力の関数・場を学ぶ</a:t>
            </a:r>
          </a:p>
        </p:txBody>
      </p:sp>
      <p:sp>
        <p:nvSpPr>
          <p:cNvPr id="16" name="">
            <a:extLst xmlns:a="http://schemas.openxmlformats.org/drawingml/2006/main">
              <a:ext uri="{FF2B5EF4-FFF2-40B4-BE49-F238E27FC236}">
                <a16:creationId xmlns:a16="http://schemas.microsoft.com/office/drawing/2014/main" id="{71F22653-7BC7-4AB5-A4B9-22EE34924D08}"/>
              </a:ext>
            </a:extLst>
          </p:cNvPr>
          <p:cNvSpPr>
            <a:spLocks xmlns:a="http://schemas.openxmlformats.org/drawingml/2006/main" noGrp="1"/>
          </p:cNvSpPr>
          <p:nvPr/>
        </p:nvSpPr>
        <p:spPr>
          <a:xfrm xmlns:a="http://schemas.openxmlformats.org/drawingml/2006/main">
            <a:off x="3724275" y="1943100"/>
            <a:ext cx="2095500"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3D8DFF"/>
            </a:solidFill>
            <a:prstDash val="solid"/>
          </a:ln>
        </p:spPr>
      </p:sp>
      <p:sp>
        <p:nvSpPr>
          <p:cNvPr id="17" name="">
            <a:extLst xmlns:a="http://schemas.openxmlformats.org/drawingml/2006/main">
              <a:ext uri="{FF2B5EF4-FFF2-40B4-BE49-F238E27FC236}">
                <a16:creationId xmlns:a16="http://schemas.microsoft.com/office/drawing/2014/main" id="{4CB9563F-974E-4C8B-AF90-6872244DC5DD}"/>
              </a:ext>
            </a:extLst>
          </p:cNvPr>
          <p:cNvSpPr>
            <a:spLocks xmlns:a="http://schemas.openxmlformats.org/drawingml/2006/main" noGrp="1"/>
          </p:cNvSpPr>
          <p:nvPr/>
        </p:nvSpPr>
        <p:spPr>
          <a:xfrm xmlns:a="http://schemas.openxmlformats.org/drawingml/2006/main">
            <a:off x="3857625" y="2152650"/>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3D8DFF"/>
                </a:solidFill>
                <a:latin typeface="Consolas"/>
                <a:ea typeface="Consolas"/>
                <a:cs typeface="Consolas"/>
              </a:defRPr>
            </a:pPr>
            <a:r>
              <a:rPr sz="1500" b="1" i="0">
                <a:solidFill>
                  <a:srgbClr val="3D8DFF"/>
                </a:solidFill>
                <a:latin typeface="Consolas"/>
                <a:ea typeface="Consolas"/>
                <a:cs typeface="Consolas"/>
              </a:rPr>
              <a:t>Neural Operator</a:t>
            </a:r>
          </a:p>
        </p:txBody>
      </p:sp>
      <p:sp>
        <p:nvSpPr>
          <p:cNvPr id="18" name="">
            <a:extLst xmlns:a="http://schemas.openxmlformats.org/drawingml/2006/main">
              <a:ext uri="{FF2B5EF4-FFF2-40B4-BE49-F238E27FC236}">
                <a16:creationId xmlns:a16="http://schemas.microsoft.com/office/drawing/2014/main" id="{18F40C49-453D-4BBC-8FC2-1B9702641129}"/>
              </a:ext>
            </a:extLst>
          </p:cNvPr>
          <p:cNvSpPr>
            <a:spLocks xmlns:a="http://schemas.openxmlformats.org/drawingml/2006/main" noGrp="1"/>
          </p:cNvSpPr>
          <p:nvPr/>
        </p:nvSpPr>
        <p:spPr>
          <a:xfrm xmlns:a="http://schemas.openxmlformats.org/drawingml/2006/main">
            <a:off x="3857625" y="266700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離散化に依らない</a:t>
            </a:r>
          </a:p>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関数空間の写像を目指す</a:t>
            </a:r>
          </a:p>
        </p:txBody>
      </p:sp>
      <p:sp>
        <p:nvSpPr>
          <p:cNvPr id="19" name="">
            <a:extLst xmlns:a="http://schemas.openxmlformats.org/drawingml/2006/main">
              <a:ext uri="{FF2B5EF4-FFF2-40B4-BE49-F238E27FC236}">
                <a16:creationId xmlns:a16="http://schemas.microsoft.com/office/drawing/2014/main" id="{42A92AC6-3A18-4D19-A639-3F90A7C94C1E}"/>
              </a:ext>
            </a:extLst>
          </p:cNvPr>
          <p:cNvSpPr>
            <a:spLocks xmlns:a="http://schemas.openxmlformats.org/drawingml/2006/main" noGrp="1"/>
          </p:cNvSpPr>
          <p:nvPr/>
        </p:nvSpPr>
        <p:spPr>
          <a:xfrm xmlns:a="http://schemas.openxmlformats.org/drawingml/2006/main">
            <a:off x="6858000" y="1943100"/>
            <a:ext cx="2095500"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4F7D00"/>
            </a:solidFill>
            <a:prstDash val="solid"/>
          </a:ln>
        </p:spPr>
      </p:sp>
      <p:sp>
        <p:nvSpPr>
          <p:cNvPr id="20" name="">
            <a:extLst xmlns:a="http://schemas.openxmlformats.org/drawingml/2006/main">
              <a:ext uri="{FF2B5EF4-FFF2-40B4-BE49-F238E27FC236}">
                <a16:creationId xmlns:a16="http://schemas.microsoft.com/office/drawing/2014/main" id="{DE586DDB-75E4-4EED-A29A-4E84E2019CC7}"/>
              </a:ext>
            </a:extLst>
          </p:cNvPr>
          <p:cNvSpPr>
            <a:spLocks xmlns:a="http://schemas.openxmlformats.org/drawingml/2006/main" noGrp="1"/>
          </p:cNvSpPr>
          <p:nvPr/>
        </p:nvSpPr>
        <p:spPr>
          <a:xfrm xmlns:a="http://schemas.openxmlformats.org/drawingml/2006/main">
            <a:off x="6991350" y="2152650"/>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4F7D00"/>
                </a:solidFill>
                <a:latin typeface="Consolas"/>
                <a:ea typeface="Consolas"/>
                <a:cs typeface="Consolas"/>
              </a:defRPr>
            </a:pPr>
            <a:r>
              <a:rPr sz="1500" b="1" i="0">
                <a:solidFill>
                  <a:srgbClr val="4F7D00"/>
                </a:solidFill>
                <a:latin typeface="Consolas"/>
                <a:ea typeface="Consolas"/>
                <a:cs typeface="Consolas"/>
              </a:rPr>
              <a:t>Geometry-aware NO</a:t>
            </a:r>
          </a:p>
        </p:txBody>
      </p:sp>
      <p:sp>
        <p:nvSpPr>
          <p:cNvPr id="21" name="">
            <a:extLst xmlns:a="http://schemas.openxmlformats.org/drawingml/2006/main">
              <a:ext uri="{FF2B5EF4-FFF2-40B4-BE49-F238E27FC236}">
                <a16:creationId xmlns:a16="http://schemas.microsoft.com/office/drawing/2014/main" id="{D4FE3992-DD1C-40B4-891C-2EC0DFE1046C}"/>
              </a:ext>
            </a:extLst>
          </p:cNvPr>
          <p:cNvSpPr>
            <a:spLocks xmlns:a="http://schemas.openxmlformats.org/drawingml/2006/main" noGrp="1"/>
          </p:cNvSpPr>
          <p:nvPr/>
        </p:nvSpPr>
        <p:spPr>
          <a:xfrm xmlns:a="http://schemas.openxmlformats.org/drawingml/2006/main">
            <a:off x="6991350" y="266700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形状・境界・query座標を</a:t>
            </a:r>
          </a:p>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写像へ組み込む</a:t>
            </a:r>
          </a:p>
        </p:txBody>
      </p:sp>
      <p:sp>
        <p:nvSpPr>
          <p:cNvPr id="22" name="">
            <a:extLst xmlns:a="http://schemas.openxmlformats.org/drawingml/2006/main">
              <a:ext uri="{FF2B5EF4-FFF2-40B4-BE49-F238E27FC236}">
                <a16:creationId xmlns:a16="http://schemas.microsoft.com/office/drawing/2014/main" id="{816320B3-059C-45A2-BAD5-DFA6EE465E1C}"/>
              </a:ext>
            </a:extLst>
          </p:cNvPr>
          <p:cNvSpPr>
            <a:spLocks xmlns:a="http://schemas.openxmlformats.org/drawingml/2006/main" noGrp="1"/>
          </p:cNvSpPr>
          <p:nvPr/>
        </p:nvSpPr>
        <p:spPr>
          <a:xfrm xmlns:a="http://schemas.openxmlformats.org/drawingml/2006/main">
            <a:off x="9991725" y="1943100"/>
            <a:ext cx="2095500" cy="1619250"/>
          </a:xfrm>
          <a:prstGeom xmlns:a="http://schemas.openxmlformats.org/drawingml/2006/main" prst="rect">
            <a:avLst/>
          </a:prstGeom>
          <a:solidFill xmlns:a="http://schemas.openxmlformats.org/drawingml/2006/main">
            <a:srgbClr val="FFFFFF"/>
          </a:solidFill>
          <a:ln xmlns:a="http://schemas.openxmlformats.org/drawingml/2006/main" w="28575">
            <a:solidFill>
              <a:srgbClr val="F58220"/>
            </a:solidFill>
            <a:prstDash val="solid"/>
          </a:ln>
        </p:spPr>
      </p:sp>
      <p:sp>
        <p:nvSpPr>
          <p:cNvPr id="23" name="">
            <a:extLst xmlns:a="http://schemas.openxmlformats.org/drawingml/2006/main">
              <a:ext uri="{FF2B5EF4-FFF2-40B4-BE49-F238E27FC236}">
                <a16:creationId xmlns:a16="http://schemas.microsoft.com/office/drawing/2014/main" id="{D0662DD5-5610-45D7-97D8-41C1788F8455}"/>
              </a:ext>
            </a:extLst>
          </p:cNvPr>
          <p:cNvSpPr>
            <a:spLocks xmlns:a="http://schemas.openxmlformats.org/drawingml/2006/main" noGrp="1"/>
          </p:cNvSpPr>
          <p:nvPr/>
        </p:nvSpPr>
        <p:spPr>
          <a:xfrm xmlns:a="http://schemas.openxmlformats.org/drawingml/2006/main">
            <a:off x="10125075" y="2152650"/>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F58220"/>
                </a:solidFill>
                <a:latin typeface="Consolas"/>
                <a:ea typeface="Consolas"/>
                <a:cs typeface="Consolas"/>
              </a:defRPr>
            </a:pPr>
            <a:r>
              <a:rPr sz="1500" b="1" i="0">
                <a:solidFill>
                  <a:srgbClr val="F58220"/>
                </a:solidFill>
                <a:latin typeface="Consolas"/>
                <a:ea typeface="Consolas"/>
                <a:cs typeface="Consolas"/>
              </a:rPr>
              <a:t>DoMINO</a:t>
            </a:r>
          </a:p>
        </p:txBody>
      </p:sp>
      <p:sp>
        <p:nvSpPr>
          <p:cNvPr id="24" name="">
            <a:extLst xmlns:a="http://schemas.openxmlformats.org/drawingml/2006/main">
              <a:ext uri="{FF2B5EF4-FFF2-40B4-BE49-F238E27FC236}">
                <a16:creationId xmlns:a16="http://schemas.microsoft.com/office/drawing/2014/main" id="{3E784B08-B3E9-4036-A45E-2C453EB6C086}"/>
              </a:ext>
            </a:extLst>
          </p:cNvPr>
          <p:cNvSpPr>
            <a:spLocks xmlns:a="http://schemas.openxmlformats.org/drawingml/2006/main" noGrp="1"/>
          </p:cNvSpPr>
          <p:nvPr/>
        </p:nvSpPr>
        <p:spPr>
          <a:xfrm xmlns:a="http://schemas.openxmlformats.org/drawingml/2006/main">
            <a:off x="10125075" y="266700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global / local / multi-scaleを</a:t>
            </a:r>
          </a:p>
          <a:p xmlns:a="http://schemas.openxmlformats.org/drawingml/2006/main">
            <a:pPr algn="l">
              <a:lnSpc>
                <a:spcPct val="12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外部空力へ具体化</a:t>
            </a:r>
          </a:p>
        </p:txBody>
      </p:sp>
      <p:sp>
        <p:nvSpPr>
          <p:cNvPr id="25" name="">
            <a:extLst xmlns:a="http://schemas.openxmlformats.org/drawingml/2006/main">
              <a:ext uri="{FF2B5EF4-FFF2-40B4-BE49-F238E27FC236}">
                <a16:creationId xmlns:a16="http://schemas.microsoft.com/office/drawing/2014/main" id="{A1A7A883-12D3-4188-B1CA-61796A9745A5}"/>
              </a:ext>
            </a:extLst>
          </p:cNvPr>
          <p:cNvSpPr>
            <a:spLocks xmlns:a="http://schemas.openxmlformats.org/drawingml/2006/main" noGrp="1"/>
          </p:cNvSpPr>
          <p:nvPr/>
        </p:nvSpPr>
        <p:spPr>
          <a:xfrm xmlns:a="http://schemas.openxmlformats.org/drawingml/2006/main">
            <a:off x="590550" y="4171950"/>
            <a:ext cx="10544175" cy="10858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2672779-9ADB-42FC-B4A4-2868FEADE7BB}"/>
              </a:ext>
            </a:extLst>
          </p:cNvPr>
          <p:cNvSpPr>
            <a:spLocks xmlns:a="http://schemas.openxmlformats.org/drawingml/2006/main" noGrp="1"/>
          </p:cNvSpPr>
          <p:nvPr/>
        </p:nvSpPr>
        <p:spPr>
          <a:xfrm xmlns:a="http://schemas.openxmlformats.org/drawingml/2006/main">
            <a:off x="781050" y="4362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3D8DFF"/>
                </a:solidFill>
                <a:latin typeface="Consolas"/>
                <a:ea typeface="Consolas"/>
                <a:cs typeface="Consolas"/>
              </a:defRPr>
            </a:pPr>
            <a:r>
              <a:rPr sz="1500" b="1" i="0">
                <a:solidFill>
                  <a:srgbClr val="3D8DFF"/>
                </a:solidFill>
                <a:latin typeface="Consolas"/>
                <a:ea typeface="Consolas"/>
                <a:cs typeface="Consolas"/>
              </a:rPr>
              <a:t>DoMINO固有の答え</a:t>
            </a:r>
          </a:p>
        </p:txBody>
      </p:sp>
      <p:sp>
        <p:nvSpPr>
          <p:cNvPr id="27" name="">
            <a:extLst xmlns:a="http://schemas.openxmlformats.org/drawingml/2006/main">
              <a:ext uri="{FF2B5EF4-FFF2-40B4-BE49-F238E27FC236}">
                <a16:creationId xmlns:a16="http://schemas.microsoft.com/office/drawing/2014/main" id="{A027EBE9-C606-4C97-84C6-8F21C1715577}"/>
              </a:ext>
            </a:extLst>
          </p:cNvPr>
          <p:cNvSpPr>
            <a:spLocks xmlns:a="http://schemas.openxmlformats.org/drawingml/2006/main" noGrp="1"/>
          </p:cNvSpPr>
          <p:nvPr/>
        </p:nvSpPr>
        <p:spPr>
          <a:xfrm xmlns:a="http://schemas.openxmlformats.org/drawingml/2006/main">
            <a:off x="781050" y="4772025"/>
            <a:ext cx="10067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点群 → multi-scaleなglobal形状表現 → query周辺のlocal encoding＋stencil → 物理量</a:t>
            </a:r>
          </a:p>
        </p:txBody>
      </p:sp>
      <p:sp>
        <p:nvSpPr>
          <p:cNvPr id="28" name="">
            <a:extLst xmlns:a="http://schemas.openxmlformats.org/drawingml/2006/main">
              <a:ext uri="{FF2B5EF4-FFF2-40B4-BE49-F238E27FC236}">
                <a16:creationId xmlns:a16="http://schemas.microsoft.com/office/drawing/2014/main" id="{52C868FD-269A-4829-A5B1-AB8E90AFCBAE}"/>
              </a:ext>
            </a:extLst>
          </p:cNvPr>
          <p:cNvSpPr>
            <a:spLocks xmlns:a="http://schemas.openxmlformats.org/drawingml/2006/main" noGrp="1"/>
          </p:cNvSpPr>
          <p:nvPr/>
        </p:nvSpPr>
        <p:spPr>
          <a:xfrm xmlns:a="http://schemas.openxmlformats.org/drawingml/2006/main">
            <a:off x="590550" y="5619750"/>
            <a:ext cx="1054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500" b="1" i="0">
                <a:solidFill>
                  <a:srgbClr val="C8423A"/>
                </a:solidFill>
                <a:latin typeface="Yu Gothic"/>
                <a:ea typeface="Yu Gothic"/>
                <a:cs typeface="Yu Gothic"/>
              </a:defRPr>
            </a:pPr>
            <a:r>
              <a:rPr sz="1500" b="1" i="0">
                <a:solidFill>
                  <a:srgbClr val="C8423A"/>
                </a:solidFill>
                <a:latin typeface="Yu Gothic"/>
                <a:ea typeface="Yu Gothic"/>
                <a:cs typeface="Yu Gothic"/>
              </a:rPr>
              <a:t>FNOやDeepONetと並ぶ“同義語”ではなく、Neural Operatorの考え方を複雑3Dへ実装した一方式</a:t>
            </a:r>
          </a:p>
        </p:txBody>
      </p:sp>
    </p:spTree>
    <p:extLst>
      <p:ext uri="{BB962C8B-B14F-4D97-AF65-F5344CB8AC3E}">
        <p14:creationId xmlns:p14="http://schemas.microsoft.com/office/powerpoint/2010/main" val="539124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827A2D-F7C7-4124-8E6F-2B039162070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1B4868-0802-41B3-A8D4-EA3BFE367035}"/>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FIT AND BOUNDARIES</a:t>
            </a:r>
          </a:p>
        </p:txBody>
      </p:sp>
      <p:sp>
        <p:nvSpPr>
          <p:cNvPr id="3" name="">
            <a:extLst xmlns:a="http://schemas.openxmlformats.org/drawingml/2006/main">
              <a:ext uri="{FF2B5EF4-FFF2-40B4-BE49-F238E27FC236}">
                <a16:creationId xmlns:a16="http://schemas.microsoft.com/office/drawing/2014/main" id="{2AEA06AF-2491-4377-8BB0-462ABFA6B342}"/>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08 / 32</a:t>
            </a:r>
          </a:p>
        </p:txBody>
      </p:sp>
      <p:sp>
        <p:nvSpPr>
          <p:cNvPr id="4" name="">
            <a:extLst xmlns:a="http://schemas.openxmlformats.org/drawingml/2006/main">
              <a:ext uri="{FF2B5EF4-FFF2-40B4-BE49-F238E27FC236}">
                <a16:creationId xmlns:a16="http://schemas.microsoft.com/office/drawing/2014/main" id="{2D2C7980-91D6-4346-B263-DBBCCE7948D2}"/>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0F1053BE-345A-403E-9AED-BD2E43DF9DC6}"/>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4A684300-5D93-49E6-BED0-F1A67E7ED089}"/>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8509BAE-651E-4859-9A63-8157AA0AFBF8}"/>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0C91B79A-325B-44B9-BCF0-AA9B45FADF7E}"/>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DoMINOは多数の設計候補を繰り返すときに効く</a:t>
            </a:r>
          </a:p>
        </p:txBody>
      </p:sp>
      <p:sp>
        <p:nvSpPr>
          <p:cNvPr id="9" name="">
            <a:extLst xmlns:a="http://schemas.openxmlformats.org/drawingml/2006/main">
              <a:ext uri="{FF2B5EF4-FFF2-40B4-BE49-F238E27FC236}">
                <a16:creationId xmlns:a16="http://schemas.microsoft.com/office/drawing/2014/main" id="{DB9B47BA-B506-4973-9E03-83D5426EC6C7}"/>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B94027BA-C572-4F85-9F79-E8DFF26AE4CB}"/>
              </a:ext>
            </a:extLst>
          </p:cNvPr>
          <p:cNvSpPr>
            <a:spLocks xmlns:a="http://schemas.openxmlformats.org/drawingml/2006/main" noGrp="1"/>
          </p:cNvSpPr>
          <p:nvPr/>
        </p:nvSpPr>
        <p:spPr>
          <a:xfrm xmlns:a="http://schemas.openxmlformats.org/drawingml/2006/main">
            <a:off x="6096000" y="1752600"/>
            <a:ext cx="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ED93A810-DF9C-4053-9ABE-9B4AC89EC7D5}"/>
              </a:ext>
            </a:extLst>
          </p:cNvPr>
          <p:cNvSpPr>
            <a:spLocks xmlns:a="http://schemas.openxmlformats.org/drawingml/2006/main" noGrp="1"/>
          </p:cNvSpPr>
          <p:nvPr/>
        </p:nvSpPr>
        <p:spPr>
          <a:xfrm xmlns:a="http://schemas.openxmlformats.org/drawingml/2006/main">
            <a:off x="590550" y="17526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i="0">
                <a:solidFill>
                  <a:srgbClr val="4F7D00"/>
                </a:solidFill>
                <a:latin typeface="Yu Gothic"/>
                <a:ea typeface="Yu Gothic"/>
                <a:cs typeface="Yu Gothic"/>
              </a:defRPr>
            </a:pPr>
            <a:r>
              <a:rPr sz="1950" b="1" i="0">
                <a:solidFill>
                  <a:srgbClr val="4F7D00"/>
                </a:solidFill>
                <a:latin typeface="Yu Gothic"/>
                <a:ea typeface="Yu Gothic"/>
                <a:cs typeface="Yu Gothic"/>
              </a:rPr>
              <a:t>向いている状況</a:t>
            </a:r>
          </a:p>
        </p:txBody>
      </p:sp>
      <p:sp>
        <p:nvSpPr>
          <p:cNvPr id="12" name="">
            <a:extLst xmlns:a="http://schemas.openxmlformats.org/drawingml/2006/main">
              <a:ext uri="{FF2B5EF4-FFF2-40B4-BE49-F238E27FC236}">
                <a16:creationId xmlns:a16="http://schemas.microsoft.com/office/drawing/2014/main" id="{1C27462A-CC53-4494-97E5-8885B7ECEB22}"/>
              </a:ext>
            </a:extLst>
          </p:cNvPr>
          <p:cNvSpPr>
            <a:spLocks xmlns:a="http://schemas.openxmlformats.org/drawingml/2006/main" noGrp="1"/>
          </p:cNvSpPr>
          <p:nvPr/>
        </p:nvSpPr>
        <p:spPr>
          <a:xfrm xmlns:a="http://schemas.openxmlformats.org/drawingml/2006/main">
            <a:off x="590550" y="2305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同じ物理設定で形状候補を多数比較</a:t>
            </a:r>
          </a:p>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STL・点群から必要なqueryだけ評価</a:t>
            </a:r>
          </a:p>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global形状表現を多数点で再利用</a:t>
            </a:r>
          </a:p>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表面・体積場を設計指標へつなぐ</a:t>
            </a:r>
          </a:p>
        </p:txBody>
      </p:sp>
      <p:sp>
        <p:nvSpPr>
          <p:cNvPr id="13" name="">
            <a:extLst xmlns:a="http://schemas.openxmlformats.org/drawingml/2006/main">
              <a:ext uri="{FF2B5EF4-FFF2-40B4-BE49-F238E27FC236}">
                <a16:creationId xmlns:a16="http://schemas.microsoft.com/office/drawing/2014/main" id="{8513141A-D3F5-40D3-892C-7250FD8902CC}"/>
              </a:ext>
            </a:extLst>
          </p:cNvPr>
          <p:cNvSpPr>
            <a:spLocks xmlns:a="http://schemas.openxmlformats.org/drawingml/2006/main" noGrp="1"/>
          </p:cNvSpPr>
          <p:nvPr/>
        </p:nvSpPr>
        <p:spPr>
          <a:xfrm xmlns:a="http://schemas.openxmlformats.org/drawingml/2006/main">
            <a:off x="6629400" y="17526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i="0">
                <a:solidFill>
                  <a:srgbClr val="C8423A"/>
                </a:solidFill>
                <a:latin typeface="Yu Gothic"/>
                <a:ea typeface="Yu Gothic"/>
                <a:cs typeface="Yu Gothic"/>
              </a:defRPr>
            </a:pPr>
            <a:r>
              <a:rPr sz="1950" b="1" i="0">
                <a:solidFill>
                  <a:srgbClr val="C8423A"/>
                </a:solidFill>
                <a:latin typeface="Yu Gothic"/>
                <a:ea typeface="Yu Gothic"/>
                <a:cs typeface="Yu Gothic"/>
              </a:rPr>
              <a:t>CFDが引き続き必要な場面</a:t>
            </a:r>
          </a:p>
        </p:txBody>
      </p:sp>
      <p:sp>
        <p:nvSpPr>
          <p:cNvPr id="14" name="">
            <a:extLst xmlns:a="http://schemas.openxmlformats.org/drawingml/2006/main">
              <a:ext uri="{FF2B5EF4-FFF2-40B4-BE49-F238E27FC236}">
                <a16:creationId xmlns:a16="http://schemas.microsoft.com/office/drawing/2014/main" id="{230548ED-BBD4-4E99-BD6F-AEC39BC7C40D}"/>
              </a:ext>
            </a:extLst>
          </p:cNvPr>
          <p:cNvSpPr>
            <a:spLocks xmlns:a="http://schemas.openxmlformats.org/drawingml/2006/main" noGrp="1"/>
          </p:cNvSpPr>
          <p:nvPr/>
        </p:nvSpPr>
        <p:spPr>
          <a:xfrm xmlns:a="http://schemas.openxmlformats.org/drawingml/2006/main">
            <a:off x="6629400" y="23050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学習範囲外の形状・境界条件の確認</a:t>
            </a:r>
          </a:p>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新しい忠実度・乱流モデルの教師データ生成</a:t>
            </a:r>
          </a:p>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保存則・不確かさを厳密に確認</a:t>
            </a:r>
          </a:p>
          <a:p xmlns:a="http://schemas.openxmlformats.org/drawingml/2006/main">
            <a:pPr algn="l">
              <a:lnSpc>
                <a:spcPct val="155000"/>
              </a:lnSpc>
              <a:buNone/>
              <a:defRPr sz="1650" b="0" i="0">
                <a:solidFill>
                  <a:srgbClr val="111827"/>
                </a:solidFill>
                <a:latin typeface="Yu Gothic"/>
                <a:ea typeface="Yu Gothic"/>
                <a:cs typeface="Yu Gothic"/>
              </a:defRPr>
            </a:pPr>
            <a:r>
              <a:rPr sz="1650" b="0" i="0">
                <a:solidFill>
                  <a:srgbClr val="111827"/>
                </a:solidFill>
                <a:latin typeface="Yu Gothic"/>
                <a:ea typeface="Yu Gothic"/>
                <a:cs typeface="Yu Gothic"/>
              </a:rPr>
              <a:t>• 最終設計の認証・高忠実度検証</a:t>
            </a:r>
          </a:p>
        </p:txBody>
      </p:sp>
      <p:sp>
        <p:nvSpPr>
          <p:cNvPr id="15" name="">
            <a:extLst xmlns:a="http://schemas.openxmlformats.org/drawingml/2006/main">
              <a:ext uri="{FF2B5EF4-FFF2-40B4-BE49-F238E27FC236}">
                <a16:creationId xmlns:a16="http://schemas.microsoft.com/office/drawing/2014/main" id="{C207F0F9-3835-40C6-BAE0-245F3F0C9D57}"/>
              </a:ext>
            </a:extLst>
          </p:cNvPr>
          <p:cNvSpPr>
            <a:spLocks xmlns:a="http://schemas.openxmlformats.org/drawingml/2006/main" noGrp="1"/>
          </p:cNvSpPr>
          <p:nvPr/>
        </p:nvSpPr>
        <p:spPr>
          <a:xfrm xmlns:a="http://schemas.openxmlformats.org/drawingml/2006/main">
            <a:off x="590550" y="4933950"/>
            <a:ext cx="10801350" cy="781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D85E72E-3A1F-46E6-A483-341008CC00B2}"/>
              </a:ext>
            </a:extLst>
          </p:cNvPr>
          <p:cNvSpPr>
            <a:spLocks xmlns:a="http://schemas.openxmlformats.org/drawingml/2006/main" noGrp="1"/>
          </p:cNvSpPr>
          <p:nvPr/>
        </p:nvSpPr>
        <p:spPr>
          <a:xfrm xmlns:a="http://schemas.openxmlformats.org/drawingml/2006/main">
            <a:off x="800100" y="5153025"/>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875" b="1" i="0">
                <a:solidFill>
                  <a:srgbClr val="FFFFFF"/>
                </a:solidFill>
                <a:latin typeface="Yu Gothic"/>
                <a:ea typeface="Yu Gothic"/>
                <a:cs typeface="Yu Gothic"/>
              </a:defRPr>
            </a:pPr>
            <a:r>
              <a:rPr sz="1875" b="1" i="0">
                <a:solidFill>
                  <a:srgbClr val="FFFFFF"/>
                </a:solidFill>
                <a:latin typeface="Yu Gothic"/>
                <a:ea typeface="Yu Gothic"/>
                <a:cs typeface="Yu Gothic"/>
              </a:rPr>
              <a:t>使い分け：DoMINOで候補を広く絞り、CFDで重要案を深く確かめる</a:t>
            </a:r>
          </a:p>
        </p:txBody>
      </p:sp>
    </p:spTree>
    <p:extLst>
      <p:ext uri="{BB962C8B-B14F-4D97-AF65-F5344CB8AC3E}">
        <p14:creationId xmlns:p14="http://schemas.microsoft.com/office/powerpoint/2010/main" val="18868858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0479BC-C124-4954-B834-AAD4AC102CD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BE22D7-22A6-467D-BE6D-90D5D65C174D}"/>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PROBLEM FRAMING</a:t>
            </a:r>
          </a:p>
        </p:txBody>
      </p:sp>
      <p:sp>
        <p:nvSpPr>
          <p:cNvPr id="3" name="">
            <a:extLst xmlns:a="http://schemas.openxmlformats.org/drawingml/2006/main">
              <a:ext uri="{FF2B5EF4-FFF2-40B4-BE49-F238E27FC236}">
                <a16:creationId xmlns:a16="http://schemas.microsoft.com/office/drawing/2014/main" id="{26D8C714-B2D5-4FF2-A789-94DACDCE046B}"/>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09 / 32</a:t>
            </a:r>
          </a:p>
        </p:txBody>
      </p:sp>
      <p:sp>
        <p:nvSpPr>
          <p:cNvPr id="4" name="">
            <a:extLst xmlns:a="http://schemas.openxmlformats.org/drawingml/2006/main">
              <a:ext uri="{FF2B5EF4-FFF2-40B4-BE49-F238E27FC236}">
                <a16:creationId xmlns:a16="http://schemas.microsoft.com/office/drawing/2014/main" id="{A1E0093C-BC22-4D87-B820-CA7F8E483F09}"/>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6E7366A2-33EE-4529-987E-D5014C6CD1BA}"/>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C65B134E-920C-4617-9F60-386BB18C21D9}"/>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9EEB82-7B41-4C7F-9550-C278310E88A3}"/>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F6A5644E-B9E5-4437-BE7C-32E63D032947}"/>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外部空力は、複雑形状と広い空間スケールを同時に扱う</a:t>
            </a:r>
          </a:p>
        </p:txBody>
      </p:sp>
      <p:sp>
        <p:nvSpPr>
          <p:cNvPr id="9" name="">
            <a:extLst xmlns:a="http://schemas.openxmlformats.org/drawingml/2006/main">
              <a:ext uri="{FF2B5EF4-FFF2-40B4-BE49-F238E27FC236}">
                <a16:creationId xmlns:a16="http://schemas.microsoft.com/office/drawing/2014/main" id="{97EEB782-775C-486D-A175-DC55DDF6D90E}"/>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6AFA0C4B-CF39-4757-B4ED-DA5527396028}"/>
              </a:ext>
            </a:extLst>
          </p:cNvPr>
          <p:cNvSpPr>
            <a:spLocks xmlns:a="http://schemas.openxmlformats.org/drawingml/2006/main" noGrp="1"/>
          </p:cNvSpPr>
          <p:nvPr/>
        </p:nvSpPr>
        <p:spPr>
          <a:xfrm xmlns:a="http://schemas.openxmlformats.org/drawingml/2006/main">
            <a:off x="590550" y="1809750"/>
            <a:ext cx="4857750" cy="0"/>
          </a:xfrm>
          <a:prstGeom xmlns:a="http://schemas.openxmlformats.org/drawingml/2006/main" prst="line">
            <a:avLst/>
          </a:prstGeom>
          <a:noFill xmlns:a="http://schemas.openxmlformats.org/drawingml/2006/main"/>
          <a:ln xmlns:a="http://schemas.openxmlformats.org/drawingml/2006/main" w="38100">
            <a:solidFill>
              <a:srgbClr val="F58220"/>
            </a:solidFill>
            <a:prstDash val="solid"/>
          </a:ln>
        </p:spPr>
      </p:sp>
      <p:sp>
        <p:nvSpPr>
          <p:cNvPr id="11" name="">
            <a:extLst xmlns:a="http://schemas.openxmlformats.org/drawingml/2006/main">
              <a:ext uri="{FF2B5EF4-FFF2-40B4-BE49-F238E27FC236}">
                <a16:creationId xmlns:a16="http://schemas.microsoft.com/office/drawing/2014/main" id="{152B6EED-FEFF-4980-AC04-C693B077AE37}"/>
              </a:ext>
            </a:extLst>
          </p:cNvPr>
          <p:cNvSpPr>
            <a:spLocks xmlns:a="http://schemas.openxmlformats.org/drawingml/2006/main" noGrp="1"/>
          </p:cNvSpPr>
          <p:nvPr/>
        </p:nvSpPr>
        <p:spPr>
          <a:xfrm xmlns:a="http://schemas.openxmlformats.org/drawingml/2006/main">
            <a:off x="590550" y="20193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F58220"/>
                </a:solidFill>
                <a:latin typeface="Consolas"/>
                <a:ea typeface="Consolas"/>
                <a:cs typeface="Consolas"/>
              </a:defRPr>
            </a:pPr>
            <a:r>
              <a:rPr sz="1200" b="1" i="0">
                <a:solidFill>
                  <a:srgbClr val="F58220"/>
                </a:solidFill>
                <a:latin typeface="Consolas"/>
                <a:ea typeface="Consolas"/>
                <a:cs typeface="Consolas"/>
              </a:rPr>
              <a:t>ARBITRARY GEOMETRY</a:t>
            </a:r>
          </a:p>
        </p:txBody>
      </p:sp>
      <p:sp>
        <p:nvSpPr>
          <p:cNvPr id="12" name="">
            <a:extLst xmlns:a="http://schemas.openxmlformats.org/drawingml/2006/main">
              <a:ext uri="{FF2B5EF4-FFF2-40B4-BE49-F238E27FC236}">
                <a16:creationId xmlns:a16="http://schemas.microsoft.com/office/drawing/2014/main" id="{AA584E3B-74B2-406A-AA2A-864B90AD3C04}"/>
              </a:ext>
            </a:extLst>
          </p:cNvPr>
          <p:cNvSpPr>
            <a:spLocks xmlns:a="http://schemas.openxmlformats.org/drawingml/2006/main" noGrp="1"/>
          </p:cNvSpPr>
          <p:nvPr/>
        </p:nvSpPr>
        <p:spPr>
          <a:xfrm xmlns:a="http://schemas.openxmlformats.org/drawingml/2006/main">
            <a:off x="590550" y="2476500"/>
            <a:ext cx="4857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車輪・窓・後流など、規則格子に載せにくい複雑形状</a:t>
            </a:r>
          </a:p>
        </p:txBody>
      </p:sp>
      <p:sp>
        <p:nvSpPr>
          <p:cNvPr id="13" name="">
            <a:extLst xmlns:a="http://schemas.openxmlformats.org/drawingml/2006/main">
              <a:ext uri="{FF2B5EF4-FFF2-40B4-BE49-F238E27FC236}">
                <a16:creationId xmlns:a16="http://schemas.microsoft.com/office/drawing/2014/main" id="{BD88D3E7-C7BD-4307-A9CC-0042A45F374C}"/>
              </a:ext>
            </a:extLst>
          </p:cNvPr>
          <p:cNvSpPr>
            <a:spLocks xmlns:a="http://schemas.openxmlformats.org/drawingml/2006/main" noGrp="1"/>
          </p:cNvSpPr>
          <p:nvPr/>
        </p:nvSpPr>
        <p:spPr>
          <a:xfrm xmlns:a="http://schemas.openxmlformats.org/drawingml/2006/main">
            <a:off x="6019800" y="1809750"/>
            <a:ext cx="485775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14" name="">
            <a:extLst xmlns:a="http://schemas.openxmlformats.org/drawingml/2006/main">
              <a:ext uri="{FF2B5EF4-FFF2-40B4-BE49-F238E27FC236}">
                <a16:creationId xmlns:a16="http://schemas.microsoft.com/office/drawing/2014/main" id="{CBEEBA8C-662D-474B-8F0E-3B9DD1242E24}"/>
              </a:ext>
            </a:extLst>
          </p:cNvPr>
          <p:cNvSpPr>
            <a:spLocks xmlns:a="http://schemas.openxmlformats.org/drawingml/2006/main" noGrp="1"/>
          </p:cNvSpPr>
          <p:nvPr/>
        </p:nvSpPr>
        <p:spPr>
          <a:xfrm xmlns:a="http://schemas.openxmlformats.org/drawingml/2006/main">
            <a:off x="6019800" y="20193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3D8DFF"/>
                </a:solidFill>
                <a:latin typeface="Consolas"/>
                <a:ea typeface="Consolas"/>
                <a:cs typeface="Consolas"/>
              </a:defRPr>
            </a:pPr>
            <a:r>
              <a:rPr sz="1200" b="1" i="0">
                <a:solidFill>
                  <a:srgbClr val="3D8DFF"/>
                </a:solidFill>
                <a:latin typeface="Consolas"/>
                <a:ea typeface="Consolas"/>
                <a:cs typeface="Consolas"/>
              </a:rPr>
              <a:t>SHORT + LONG RANGE</a:t>
            </a:r>
          </a:p>
        </p:txBody>
      </p:sp>
      <p:sp>
        <p:nvSpPr>
          <p:cNvPr id="15" name="">
            <a:extLst xmlns:a="http://schemas.openxmlformats.org/drawingml/2006/main">
              <a:ext uri="{FF2B5EF4-FFF2-40B4-BE49-F238E27FC236}">
                <a16:creationId xmlns:a16="http://schemas.microsoft.com/office/drawing/2014/main" id="{3A5DC905-DEBF-42AE-B6F6-79A5DD451F88}"/>
              </a:ext>
            </a:extLst>
          </p:cNvPr>
          <p:cNvSpPr>
            <a:spLocks xmlns:a="http://schemas.openxmlformats.org/drawingml/2006/main" noGrp="1"/>
          </p:cNvSpPr>
          <p:nvPr/>
        </p:nvSpPr>
        <p:spPr>
          <a:xfrm xmlns:a="http://schemas.openxmlformats.org/drawingml/2006/main">
            <a:off x="6019800" y="2476500"/>
            <a:ext cx="4857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局所ピークと、車体全体・遠方境界の影響が共存</a:t>
            </a:r>
          </a:p>
        </p:txBody>
      </p:sp>
      <p:sp>
        <p:nvSpPr>
          <p:cNvPr id="16" name="">
            <a:extLst xmlns:a="http://schemas.openxmlformats.org/drawingml/2006/main">
              <a:ext uri="{FF2B5EF4-FFF2-40B4-BE49-F238E27FC236}">
                <a16:creationId xmlns:a16="http://schemas.microsoft.com/office/drawing/2014/main" id="{40F1707D-F78A-4969-8C4F-EFB71E4A9CA2}"/>
              </a:ext>
            </a:extLst>
          </p:cNvPr>
          <p:cNvSpPr>
            <a:spLocks xmlns:a="http://schemas.openxmlformats.org/drawingml/2006/main" noGrp="1"/>
          </p:cNvSpPr>
          <p:nvPr/>
        </p:nvSpPr>
        <p:spPr>
          <a:xfrm xmlns:a="http://schemas.openxmlformats.org/drawingml/2006/main">
            <a:off x="590550" y="3619500"/>
            <a:ext cx="4857750" cy="0"/>
          </a:xfrm>
          <a:prstGeom xmlns:a="http://schemas.openxmlformats.org/drawingml/2006/main" prst="line">
            <a:avLst/>
          </a:prstGeom>
          <a:noFill xmlns:a="http://schemas.openxmlformats.org/drawingml/2006/main"/>
          <a:ln xmlns:a="http://schemas.openxmlformats.org/drawingml/2006/main" w="38100">
            <a:solidFill>
              <a:srgbClr val="76B900"/>
            </a:solidFill>
            <a:prstDash val="solid"/>
          </a:ln>
        </p:spPr>
      </p:sp>
      <p:sp>
        <p:nvSpPr>
          <p:cNvPr id="17" name="">
            <a:extLst xmlns:a="http://schemas.openxmlformats.org/drawingml/2006/main">
              <a:ext uri="{FF2B5EF4-FFF2-40B4-BE49-F238E27FC236}">
                <a16:creationId xmlns:a16="http://schemas.microsoft.com/office/drawing/2014/main" id="{41FBC158-C835-4C64-8BEB-38CC1E5133E1}"/>
              </a:ext>
            </a:extLst>
          </p:cNvPr>
          <p:cNvSpPr>
            <a:spLocks xmlns:a="http://schemas.openxmlformats.org/drawingml/2006/main" noGrp="1"/>
          </p:cNvSpPr>
          <p:nvPr/>
        </p:nvSpPr>
        <p:spPr>
          <a:xfrm xmlns:a="http://schemas.openxmlformats.org/drawingml/2006/main">
            <a:off x="590550" y="38290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76B900"/>
                </a:solidFill>
                <a:latin typeface="Consolas"/>
                <a:ea typeface="Consolas"/>
                <a:cs typeface="Consolas"/>
              </a:defRPr>
            </a:pPr>
            <a:r>
              <a:rPr sz="1200" b="1" i="0">
                <a:solidFill>
                  <a:srgbClr val="76B900"/>
                </a:solidFill>
                <a:latin typeface="Consolas"/>
                <a:ea typeface="Consolas"/>
                <a:cs typeface="Consolas"/>
              </a:rPr>
              <a:t>LARGE OUTPUT FIELD</a:t>
            </a:r>
          </a:p>
        </p:txBody>
      </p:sp>
      <p:sp>
        <p:nvSpPr>
          <p:cNvPr id="18" name="">
            <a:extLst xmlns:a="http://schemas.openxmlformats.org/drawingml/2006/main">
              <a:ext uri="{FF2B5EF4-FFF2-40B4-BE49-F238E27FC236}">
                <a16:creationId xmlns:a16="http://schemas.microsoft.com/office/drawing/2014/main" id="{8D60305E-B4C7-4261-AD63-1386ECA9D5AC}"/>
              </a:ext>
            </a:extLst>
          </p:cNvPr>
          <p:cNvSpPr>
            <a:spLocks xmlns:a="http://schemas.openxmlformats.org/drawingml/2006/main" noGrp="1"/>
          </p:cNvSpPr>
          <p:nvPr/>
        </p:nvSpPr>
        <p:spPr>
          <a:xfrm xmlns:a="http://schemas.openxmlformats.org/drawingml/2006/main">
            <a:off x="590550" y="4286250"/>
            <a:ext cx="4857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表面・体積に多数の予測点があり、全点の一括出力は重い</a:t>
            </a:r>
          </a:p>
        </p:txBody>
      </p:sp>
      <p:sp>
        <p:nvSpPr>
          <p:cNvPr id="19" name="">
            <a:extLst xmlns:a="http://schemas.openxmlformats.org/drawingml/2006/main">
              <a:ext uri="{FF2B5EF4-FFF2-40B4-BE49-F238E27FC236}">
                <a16:creationId xmlns:a16="http://schemas.microsoft.com/office/drawing/2014/main" id="{13BF9081-D9C3-460E-9588-45C5F8F265B1}"/>
              </a:ext>
            </a:extLst>
          </p:cNvPr>
          <p:cNvSpPr>
            <a:spLocks xmlns:a="http://schemas.openxmlformats.org/drawingml/2006/main" noGrp="1"/>
          </p:cNvSpPr>
          <p:nvPr/>
        </p:nvSpPr>
        <p:spPr>
          <a:xfrm xmlns:a="http://schemas.openxmlformats.org/drawingml/2006/main">
            <a:off x="6019800" y="3619500"/>
            <a:ext cx="4857750" cy="0"/>
          </a:xfrm>
          <a:prstGeom xmlns:a="http://schemas.openxmlformats.org/drawingml/2006/main" prst="line">
            <a:avLst/>
          </a:prstGeom>
          <a:noFill xmlns:a="http://schemas.openxmlformats.org/drawingml/2006/main"/>
          <a:ln xmlns:a="http://schemas.openxmlformats.org/drawingml/2006/main" w="38100">
            <a:solidFill>
              <a:srgbClr val="111827"/>
            </a:solidFill>
            <a:prstDash val="solid"/>
          </a:ln>
        </p:spPr>
      </p:sp>
      <p:sp>
        <p:nvSpPr>
          <p:cNvPr id="20" name="">
            <a:extLst xmlns:a="http://schemas.openxmlformats.org/drawingml/2006/main">
              <a:ext uri="{FF2B5EF4-FFF2-40B4-BE49-F238E27FC236}">
                <a16:creationId xmlns:a16="http://schemas.microsoft.com/office/drawing/2014/main" id="{C53E4A1B-97D0-4E7E-A622-5778F97A39DC}"/>
              </a:ext>
            </a:extLst>
          </p:cNvPr>
          <p:cNvSpPr>
            <a:spLocks xmlns:a="http://schemas.openxmlformats.org/drawingml/2006/main" noGrp="1"/>
          </p:cNvSpPr>
          <p:nvPr/>
        </p:nvSpPr>
        <p:spPr>
          <a:xfrm xmlns:a="http://schemas.openxmlformats.org/drawingml/2006/main">
            <a:off x="6019800" y="38290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111827"/>
                </a:solidFill>
                <a:latin typeface="Consolas"/>
                <a:ea typeface="Consolas"/>
                <a:cs typeface="Consolas"/>
              </a:defRPr>
            </a:pPr>
            <a:r>
              <a:rPr sz="1200" b="1" i="0">
                <a:solidFill>
                  <a:srgbClr val="111827"/>
                </a:solidFill>
                <a:latin typeface="Consolas"/>
                <a:ea typeface="Consolas"/>
                <a:cs typeface="Consolas"/>
              </a:rPr>
              <a:t>GENERALIZATION</a:t>
            </a:r>
          </a:p>
        </p:txBody>
      </p:sp>
      <p:sp>
        <p:nvSpPr>
          <p:cNvPr id="21" name="">
            <a:extLst xmlns:a="http://schemas.openxmlformats.org/drawingml/2006/main">
              <a:ext uri="{FF2B5EF4-FFF2-40B4-BE49-F238E27FC236}">
                <a16:creationId xmlns:a16="http://schemas.microsoft.com/office/drawing/2014/main" id="{B8C3D234-CB03-4F2E-B81A-0E33E2965B05}"/>
              </a:ext>
            </a:extLst>
          </p:cNvPr>
          <p:cNvSpPr>
            <a:spLocks xmlns:a="http://schemas.openxmlformats.org/drawingml/2006/main" noGrp="1"/>
          </p:cNvSpPr>
          <p:nvPr/>
        </p:nvSpPr>
        <p:spPr>
          <a:xfrm xmlns:a="http://schemas.openxmlformats.org/drawingml/2006/main">
            <a:off x="6019800" y="4286250"/>
            <a:ext cx="4857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未知形状でも大域パターンと局所変動の両方が必要</a:t>
            </a:r>
          </a:p>
        </p:txBody>
      </p:sp>
      <p:sp>
        <p:nvSpPr>
          <p:cNvPr id="22" name="">
            <a:extLst xmlns:a="http://schemas.openxmlformats.org/drawingml/2006/main">
              <a:ext uri="{FF2B5EF4-FFF2-40B4-BE49-F238E27FC236}">
                <a16:creationId xmlns:a16="http://schemas.microsoft.com/office/drawing/2014/main" id="{C9E97D6E-A248-47FF-B8CE-258C37C14432}"/>
              </a:ext>
            </a:extLst>
          </p:cNvPr>
          <p:cNvSpPr>
            <a:spLocks xmlns:a="http://schemas.openxmlformats.org/drawingml/2006/main" noGrp="1"/>
          </p:cNvSpPr>
          <p:nvPr/>
        </p:nvSpPr>
        <p:spPr>
          <a:xfrm xmlns:a="http://schemas.openxmlformats.org/drawingml/2006/main">
            <a:off x="590550" y="5391150"/>
            <a:ext cx="10287000" cy="5715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BACCD34-DE10-4F67-8036-4D8985DE7846}"/>
              </a:ext>
            </a:extLst>
          </p:cNvPr>
          <p:cNvSpPr>
            <a:spLocks xmlns:a="http://schemas.openxmlformats.org/drawingml/2006/main" noGrp="1"/>
          </p:cNvSpPr>
          <p:nvPr/>
        </p:nvSpPr>
        <p:spPr>
          <a:xfrm xmlns:a="http://schemas.openxmlformats.org/drawingml/2006/main">
            <a:off x="781050" y="55530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DoMINOの設計仮説：大域形状は共有して一度学び、query周辺だけを局所的に詳しく読む</a:t>
            </a:r>
          </a:p>
        </p:txBody>
      </p:sp>
    </p:spTree>
    <p:extLst>
      <p:ext uri="{BB962C8B-B14F-4D97-AF65-F5344CB8AC3E}">
        <p14:creationId xmlns:p14="http://schemas.microsoft.com/office/powerpoint/2010/main" val="13833577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F362B5-F6C3-4357-9A97-557A5700075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7FDBB3-0965-44C9-BB5E-D283C5953366}"/>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ARCHITECTURE</a:t>
            </a:r>
          </a:p>
        </p:txBody>
      </p:sp>
      <p:sp>
        <p:nvSpPr>
          <p:cNvPr id="3" name="">
            <a:extLst xmlns:a="http://schemas.openxmlformats.org/drawingml/2006/main">
              <a:ext uri="{FF2B5EF4-FFF2-40B4-BE49-F238E27FC236}">
                <a16:creationId xmlns:a16="http://schemas.microsoft.com/office/drawing/2014/main" id="{D0436347-94D6-4BB2-B116-A9624167DAF4}"/>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10 / 32</a:t>
            </a:r>
          </a:p>
        </p:txBody>
      </p:sp>
      <p:sp>
        <p:nvSpPr>
          <p:cNvPr id="4" name="">
            <a:extLst xmlns:a="http://schemas.openxmlformats.org/drawingml/2006/main">
              <a:ext uri="{FF2B5EF4-FFF2-40B4-BE49-F238E27FC236}">
                <a16:creationId xmlns:a16="http://schemas.microsoft.com/office/drawing/2014/main" id="{D6E13265-67E2-4B3F-BEC9-4CC05AE1B71B}"/>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25972F9C-E7FC-4290-BF5C-73FE0492D3A1}"/>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6BBBBE43-4BDC-4CC1-BAEA-80E6AAB34D28}"/>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0DF400-9B01-459C-8A92-3CE38FCA4663}"/>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F14AD869-C86A-4B25-B264-93D66F77FC11}"/>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核は、global形状表現とqueryごとのlocal表現</a:t>
            </a:r>
          </a:p>
        </p:txBody>
      </p:sp>
      <p:sp>
        <p:nvSpPr>
          <p:cNvPr id="9" name="">
            <a:extLst xmlns:a="http://schemas.openxmlformats.org/drawingml/2006/main">
              <a:ext uri="{FF2B5EF4-FFF2-40B4-BE49-F238E27FC236}">
                <a16:creationId xmlns:a16="http://schemas.microsoft.com/office/drawing/2014/main" id="{2ED6BD45-CABB-4072-B1D3-73AA4F640E17}"/>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1DDFFC5F-3691-4A56-A782-8501D3412A09}"/>
              </a:ext>
            </a:extLst>
          </p:cNvPr>
          <p:cNvSpPr>
            <a:spLocks xmlns:a="http://schemas.openxmlformats.org/drawingml/2006/main" noGrp="1"/>
          </p:cNvSpPr>
          <p:nvPr/>
        </p:nvSpPr>
        <p:spPr>
          <a:xfrm xmlns:a="http://schemas.openxmlformats.org/drawingml/2006/main">
            <a:off x="2476500" y="3067050"/>
            <a:ext cx="5524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DBE184A2-6BAB-4E35-AE56-99770287B0CB}"/>
              </a:ext>
            </a:extLst>
          </p:cNvPr>
          <p:cNvSpPr>
            <a:spLocks xmlns:a="http://schemas.openxmlformats.org/drawingml/2006/main" noGrp="1"/>
          </p:cNvSpPr>
          <p:nvPr/>
        </p:nvSpPr>
        <p:spPr>
          <a:xfrm xmlns:a="http://schemas.openxmlformats.org/drawingml/2006/main">
            <a:off x="4610100" y="3067050"/>
            <a:ext cx="5524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E2ADA7D3-1639-46B8-9920-290DB5B987F8}"/>
              </a:ext>
            </a:extLst>
          </p:cNvPr>
          <p:cNvSpPr>
            <a:spLocks xmlns:a="http://schemas.openxmlformats.org/drawingml/2006/main" noGrp="1"/>
          </p:cNvSpPr>
          <p:nvPr/>
        </p:nvSpPr>
        <p:spPr>
          <a:xfrm xmlns:a="http://schemas.openxmlformats.org/drawingml/2006/main">
            <a:off x="6743700" y="3067050"/>
            <a:ext cx="5524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AAA037A2-FCC2-4BAA-A8CD-997D7D73355B}"/>
              </a:ext>
            </a:extLst>
          </p:cNvPr>
          <p:cNvSpPr>
            <a:spLocks xmlns:a="http://schemas.openxmlformats.org/drawingml/2006/main" noGrp="1"/>
          </p:cNvSpPr>
          <p:nvPr/>
        </p:nvSpPr>
        <p:spPr>
          <a:xfrm xmlns:a="http://schemas.openxmlformats.org/drawingml/2006/main">
            <a:off x="8877300" y="3067050"/>
            <a:ext cx="5524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42B9BA0B-33D7-4A69-9C13-6D3CB077CBF5}"/>
              </a:ext>
            </a:extLst>
          </p:cNvPr>
          <p:cNvSpPr>
            <a:spLocks xmlns:a="http://schemas.openxmlformats.org/drawingml/2006/main" noGrp="1"/>
          </p:cNvSpPr>
          <p:nvPr/>
        </p:nvSpPr>
        <p:spPr>
          <a:xfrm xmlns:a="http://schemas.openxmlformats.org/drawingml/2006/main">
            <a:off x="590550" y="2324100"/>
            <a:ext cx="180975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0A2FBA1-15FA-4F4A-A341-99A89C79BE49}"/>
              </a:ext>
            </a:extLst>
          </p:cNvPr>
          <p:cNvSpPr>
            <a:spLocks xmlns:a="http://schemas.openxmlformats.org/drawingml/2006/main" noGrp="1"/>
          </p:cNvSpPr>
          <p:nvPr/>
        </p:nvSpPr>
        <p:spPr>
          <a:xfrm xmlns:a="http://schemas.openxmlformats.org/drawingml/2006/main">
            <a:off x="590550" y="2324100"/>
            <a:ext cx="1809750" cy="76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E4FCA8C-683F-402D-81B9-94FAD4783C0F}"/>
              </a:ext>
            </a:extLst>
          </p:cNvPr>
          <p:cNvSpPr>
            <a:spLocks xmlns:a="http://schemas.openxmlformats.org/drawingml/2006/main" noGrp="1"/>
          </p:cNvSpPr>
          <p:nvPr/>
        </p:nvSpPr>
        <p:spPr>
          <a:xfrm xmlns:a="http://schemas.openxmlformats.org/drawingml/2006/main">
            <a:off x="742950" y="255270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Geometry</a:t>
            </a:r>
          </a:p>
        </p:txBody>
      </p:sp>
      <p:sp>
        <p:nvSpPr>
          <p:cNvPr id="17" name="">
            <a:extLst xmlns:a="http://schemas.openxmlformats.org/drawingml/2006/main">
              <a:ext uri="{FF2B5EF4-FFF2-40B4-BE49-F238E27FC236}">
                <a16:creationId xmlns:a16="http://schemas.microsoft.com/office/drawing/2014/main" id="{3816BE4A-327D-4E1A-BB00-AB4F5B4B4B10}"/>
              </a:ext>
            </a:extLst>
          </p:cNvPr>
          <p:cNvSpPr>
            <a:spLocks xmlns:a="http://schemas.openxmlformats.org/drawingml/2006/main" noGrp="1"/>
          </p:cNvSpPr>
          <p:nvPr/>
        </p:nvSpPr>
        <p:spPr>
          <a:xfrm xmlns:a="http://schemas.openxmlformats.org/drawingml/2006/main">
            <a:off x="742950" y="304800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表面 / STL</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point cloud</a:t>
            </a:r>
          </a:p>
        </p:txBody>
      </p:sp>
      <p:sp>
        <p:nvSpPr>
          <p:cNvPr id="18" name="">
            <a:extLst xmlns:a="http://schemas.openxmlformats.org/drawingml/2006/main">
              <a:ext uri="{FF2B5EF4-FFF2-40B4-BE49-F238E27FC236}">
                <a16:creationId xmlns:a16="http://schemas.microsoft.com/office/drawing/2014/main" id="{F08FBE17-4E1C-473F-B597-7A6D0A1B8660}"/>
              </a:ext>
            </a:extLst>
          </p:cNvPr>
          <p:cNvSpPr>
            <a:spLocks xmlns:a="http://schemas.openxmlformats.org/drawingml/2006/main" noGrp="1"/>
          </p:cNvSpPr>
          <p:nvPr/>
        </p:nvSpPr>
        <p:spPr>
          <a:xfrm xmlns:a="http://schemas.openxmlformats.org/drawingml/2006/main">
            <a:off x="2724150" y="2324100"/>
            <a:ext cx="180975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AA6E9C03-B248-4C30-A7B3-4BE0B8CADB8A}"/>
              </a:ext>
            </a:extLst>
          </p:cNvPr>
          <p:cNvSpPr>
            <a:spLocks xmlns:a="http://schemas.openxmlformats.org/drawingml/2006/main" noGrp="1"/>
          </p:cNvSpPr>
          <p:nvPr/>
        </p:nvSpPr>
        <p:spPr>
          <a:xfrm xmlns:a="http://schemas.openxmlformats.org/drawingml/2006/main">
            <a:off x="2724150" y="2324100"/>
            <a:ext cx="18097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3C3A15-032E-4DE2-AA7F-3F3C6F3A49DD}"/>
              </a:ext>
            </a:extLst>
          </p:cNvPr>
          <p:cNvSpPr>
            <a:spLocks xmlns:a="http://schemas.openxmlformats.org/drawingml/2006/main" noGrp="1"/>
          </p:cNvSpPr>
          <p:nvPr/>
        </p:nvSpPr>
        <p:spPr>
          <a:xfrm xmlns:a="http://schemas.openxmlformats.org/drawingml/2006/main">
            <a:off x="2876550" y="255270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Global encode</a:t>
            </a:r>
          </a:p>
        </p:txBody>
      </p:sp>
      <p:sp>
        <p:nvSpPr>
          <p:cNvPr id="21" name="">
            <a:extLst xmlns:a="http://schemas.openxmlformats.org/drawingml/2006/main">
              <a:ext uri="{FF2B5EF4-FFF2-40B4-BE49-F238E27FC236}">
                <a16:creationId xmlns:a16="http://schemas.microsoft.com/office/drawing/2014/main" id="{E0A17A7E-CCDE-4C80-B5B6-F49EE8D2DF75}"/>
              </a:ext>
            </a:extLst>
          </p:cNvPr>
          <p:cNvSpPr>
            <a:spLocks xmlns:a="http://schemas.openxmlformats.org/drawingml/2006/main" noGrp="1"/>
          </p:cNvSpPr>
          <p:nvPr/>
        </p:nvSpPr>
        <p:spPr>
          <a:xfrm xmlns:a="http://schemas.openxmlformats.org/drawingml/2006/main">
            <a:off x="2876550" y="304800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multi-scale</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iterative grid</a:t>
            </a:r>
          </a:p>
        </p:txBody>
      </p:sp>
      <p:sp>
        <p:nvSpPr>
          <p:cNvPr id="22" name="">
            <a:extLst xmlns:a="http://schemas.openxmlformats.org/drawingml/2006/main">
              <a:ext uri="{FF2B5EF4-FFF2-40B4-BE49-F238E27FC236}">
                <a16:creationId xmlns:a16="http://schemas.microsoft.com/office/drawing/2014/main" id="{C0A0AEC7-B88C-48C7-AED2-CED2D6EEBE5C}"/>
              </a:ext>
            </a:extLst>
          </p:cNvPr>
          <p:cNvSpPr>
            <a:spLocks xmlns:a="http://schemas.openxmlformats.org/drawingml/2006/main" noGrp="1"/>
          </p:cNvSpPr>
          <p:nvPr/>
        </p:nvSpPr>
        <p:spPr>
          <a:xfrm xmlns:a="http://schemas.openxmlformats.org/drawingml/2006/main">
            <a:off x="4857750" y="2324100"/>
            <a:ext cx="180975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D60A3810-0E66-4388-905D-1E8A8B475B8E}"/>
              </a:ext>
            </a:extLst>
          </p:cNvPr>
          <p:cNvSpPr>
            <a:spLocks xmlns:a="http://schemas.openxmlformats.org/drawingml/2006/main" noGrp="1"/>
          </p:cNvSpPr>
          <p:nvPr/>
        </p:nvSpPr>
        <p:spPr>
          <a:xfrm xmlns:a="http://schemas.openxmlformats.org/drawingml/2006/main">
            <a:off x="4857750" y="2324100"/>
            <a:ext cx="1809750" cy="76200"/>
          </a:xfrm>
          <a:prstGeom xmlns:a="http://schemas.openxmlformats.org/drawingml/2006/main" prst="rect">
            <a:avLst/>
          </a:prstGeom>
          <a:solidFill xmlns:a="http://schemas.openxmlformats.org/drawingml/2006/main">
            <a:srgbClr val="76B90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D39B5E8-AC74-4F51-91F3-E399FBCE6F29}"/>
              </a:ext>
            </a:extLst>
          </p:cNvPr>
          <p:cNvSpPr>
            <a:spLocks xmlns:a="http://schemas.openxmlformats.org/drawingml/2006/main" noGrp="1"/>
          </p:cNvSpPr>
          <p:nvPr/>
        </p:nvSpPr>
        <p:spPr>
          <a:xfrm xmlns:a="http://schemas.openxmlformats.org/drawingml/2006/main">
            <a:off x="5010150" y="255270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Query region</a:t>
            </a:r>
          </a:p>
        </p:txBody>
      </p:sp>
      <p:sp>
        <p:nvSpPr>
          <p:cNvPr id="25" name="">
            <a:extLst xmlns:a="http://schemas.openxmlformats.org/drawingml/2006/main">
              <a:ext uri="{FF2B5EF4-FFF2-40B4-BE49-F238E27FC236}">
                <a16:creationId xmlns:a16="http://schemas.microsoft.com/office/drawing/2014/main" id="{BE609D3B-1314-4186-88D2-11AF4E803B80}"/>
              </a:ext>
            </a:extLst>
          </p:cNvPr>
          <p:cNvSpPr>
            <a:spLocks xmlns:a="http://schemas.openxmlformats.org/drawingml/2006/main" noGrp="1"/>
          </p:cNvSpPr>
          <p:nvPr/>
        </p:nvSpPr>
        <p:spPr>
          <a:xfrm xmlns:a="http://schemas.openxmlformats.org/drawingml/2006/main">
            <a:off x="5010150" y="304800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query周辺の</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sub-region抽出</a:t>
            </a:r>
          </a:p>
        </p:txBody>
      </p:sp>
      <p:sp>
        <p:nvSpPr>
          <p:cNvPr id="26" name="">
            <a:extLst xmlns:a="http://schemas.openxmlformats.org/drawingml/2006/main">
              <a:ext uri="{FF2B5EF4-FFF2-40B4-BE49-F238E27FC236}">
                <a16:creationId xmlns:a16="http://schemas.microsoft.com/office/drawing/2014/main" id="{E783313B-B1A5-44E3-BAF5-EB79F57C058D}"/>
              </a:ext>
            </a:extLst>
          </p:cNvPr>
          <p:cNvSpPr>
            <a:spLocks xmlns:a="http://schemas.openxmlformats.org/drawingml/2006/main" noGrp="1"/>
          </p:cNvSpPr>
          <p:nvPr/>
        </p:nvSpPr>
        <p:spPr>
          <a:xfrm xmlns:a="http://schemas.openxmlformats.org/drawingml/2006/main">
            <a:off x="6991350" y="2324100"/>
            <a:ext cx="180975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379B6500-5195-474D-AF1E-D066E8473633}"/>
              </a:ext>
            </a:extLst>
          </p:cNvPr>
          <p:cNvSpPr>
            <a:spLocks xmlns:a="http://schemas.openxmlformats.org/drawingml/2006/main" noGrp="1"/>
          </p:cNvSpPr>
          <p:nvPr/>
        </p:nvSpPr>
        <p:spPr>
          <a:xfrm xmlns:a="http://schemas.openxmlformats.org/drawingml/2006/main">
            <a:off x="6991350" y="2324100"/>
            <a:ext cx="1809750" cy="762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06E6C5-1C6C-4BE6-9376-D3B2B3B8B1B6}"/>
              </a:ext>
            </a:extLst>
          </p:cNvPr>
          <p:cNvSpPr>
            <a:spLocks xmlns:a="http://schemas.openxmlformats.org/drawingml/2006/main" noGrp="1"/>
          </p:cNvSpPr>
          <p:nvPr/>
        </p:nvSpPr>
        <p:spPr>
          <a:xfrm xmlns:a="http://schemas.openxmlformats.org/drawingml/2006/main">
            <a:off x="7143750" y="255270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Local + stencil</a:t>
            </a:r>
          </a:p>
        </p:txBody>
      </p:sp>
      <p:sp>
        <p:nvSpPr>
          <p:cNvPr id="29" name="">
            <a:extLst xmlns:a="http://schemas.openxmlformats.org/drawingml/2006/main">
              <a:ext uri="{FF2B5EF4-FFF2-40B4-BE49-F238E27FC236}">
                <a16:creationId xmlns:a16="http://schemas.microsoft.com/office/drawing/2014/main" id="{97C03438-CDAD-4A97-9493-BDF94C708D1A}"/>
              </a:ext>
            </a:extLst>
          </p:cNvPr>
          <p:cNvSpPr>
            <a:spLocks xmlns:a="http://schemas.openxmlformats.org/drawingml/2006/main" noGrp="1"/>
          </p:cNvSpPr>
          <p:nvPr/>
        </p:nvSpPr>
        <p:spPr>
          <a:xfrm xmlns:a="http://schemas.openxmlformats.org/drawingml/2006/main">
            <a:off x="7143750" y="304800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近傍点・法線・</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面積を集約</a:t>
            </a:r>
          </a:p>
        </p:txBody>
      </p:sp>
      <p:sp>
        <p:nvSpPr>
          <p:cNvPr id="30" name="">
            <a:extLst xmlns:a="http://schemas.openxmlformats.org/drawingml/2006/main">
              <a:ext uri="{FF2B5EF4-FFF2-40B4-BE49-F238E27FC236}">
                <a16:creationId xmlns:a16="http://schemas.microsoft.com/office/drawing/2014/main" id="{DE76E085-7ABA-4129-BD0C-7179B9B058BF}"/>
              </a:ext>
            </a:extLst>
          </p:cNvPr>
          <p:cNvSpPr>
            <a:spLocks xmlns:a="http://schemas.openxmlformats.org/drawingml/2006/main" noGrp="1"/>
          </p:cNvSpPr>
          <p:nvPr/>
        </p:nvSpPr>
        <p:spPr>
          <a:xfrm xmlns:a="http://schemas.openxmlformats.org/drawingml/2006/main">
            <a:off x="9124950" y="2324100"/>
            <a:ext cx="180975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3DBBE7D8-F29E-4372-BE65-E25F7EBF2587}"/>
              </a:ext>
            </a:extLst>
          </p:cNvPr>
          <p:cNvSpPr>
            <a:spLocks xmlns:a="http://schemas.openxmlformats.org/drawingml/2006/main" noGrp="1"/>
          </p:cNvSpPr>
          <p:nvPr/>
        </p:nvSpPr>
        <p:spPr>
          <a:xfrm xmlns:a="http://schemas.openxmlformats.org/drawingml/2006/main">
            <a:off x="9124950" y="2324100"/>
            <a:ext cx="1809750" cy="76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445A208-A801-4FF5-B696-0FFC45272AA6}"/>
              </a:ext>
            </a:extLst>
          </p:cNvPr>
          <p:cNvSpPr>
            <a:spLocks xmlns:a="http://schemas.openxmlformats.org/drawingml/2006/main" noGrp="1"/>
          </p:cNvSpPr>
          <p:nvPr/>
        </p:nvSpPr>
        <p:spPr>
          <a:xfrm xmlns:a="http://schemas.openxmlformats.org/drawingml/2006/main">
            <a:off x="9277350" y="255270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Field value</a:t>
            </a:r>
          </a:p>
        </p:txBody>
      </p:sp>
      <p:sp>
        <p:nvSpPr>
          <p:cNvPr id="33" name="">
            <a:extLst xmlns:a="http://schemas.openxmlformats.org/drawingml/2006/main">
              <a:ext uri="{FF2B5EF4-FFF2-40B4-BE49-F238E27FC236}">
                <a16:creationId xmlns:a16="http://schemas.microsoft.com/office/drawing/2014/main" id="{03F6C45F-0346-4498-B821-5887DBCDF5FE}"/>
              </a:ext>
            </a:extLst>
          </p:cNvPr>
          <p:cNvSpPr>
            <a:spLocks xmlns:a="http://schemas.openxmlformats.org/drawingml/2006/main" noGrp="1"/>
          </p:cNvSpPr>
          <p:nvPr/>
        </p:nvSpPr>
        <p:spPr>
          <a:xfrm xmlns:a="http://schemas.openxmlformats.org/drawingml/2006/main">
            <a:off x="9277350" y="3048000"/>
            <a:ext cx="1504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p, τwall, u…</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を点ごとに出力</a:t>
            </a:r>
          </a:p>
        </p:txBody>
      </p:sp>
      <p:sp>
        <p:nvSpPr>
          <p:cNvPr id="34" name="">
            <a:extLst xmlns:a="http://schemas.openxmlformats.org/drawingml/2006/main">
              <a:ext uri="{FF2B5EF4-FFF2-40B4-BE49-F238E27FC236}">
                <a16:creationId xmlns:a16="http://schemas.microsoft.com/office/drawing/2014/main" id="{B30D8BE3-E2F1-4255-BB94-86AAB9B10103}"/>
              </a:ext>
            </a:extLst>
          </p:cNvPr>
          <p:cNvSpPr>
            <a:spLocks xmlns:a="http://schemas.openxmlformats.org/drawingml/2006/main" noGrp="1"/>
          </p:cNvSpPr>
          <p:nvPr/>
        </p:nvSpPr>
        <p:spPr>
          <a:xfrm xmlns:a="http://schemas.openxmlformats.org/drawingml/2006/main">
            <a:off x="2743200" y="43338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1" i="0">
                <a:solidFill>
                  <a:srgbClr val="3D8DFF"/>
                </a:solidFill>
                <a:latin typeface="Consolas"/>
                <a:ea typeface="Consolas"/>
                <a:cs typeface="Consolas"/>
              </a:defRPr>
            </a:pPr>
            <a:r>
              <a:rPr sz="1200" b="1" i="0">
                <a:solidFill>
                  <a:srgbClr val="3D8DFF"/>
                </a:solidFill>
                <a:latin typeface="Consolas"/>
                <a:ea typeface="Consolas"/>
                <a:cs typeface="Consolas"/>
              </a:rPr>
              <a:t>global：全queryで共有</a:t>
            </a:r>
          </a:p>
        </p:txBody>
      </p:sp>
      <p:sp>
        <p:nvSpPr>
          <p:cNvPr id="35" name="">
            <a:extLst xmlns:a="http://schemas.openxmlformats.org/drawingml/2006/main">
              <a:ext uri="{FF2B5EF4-FFF2-40B4-BE49-F238E27FC236}">
                <a16:creationId xmlns:a16="http://schemas.microsoft.com/office/drawing/2014/main" id="{0093DB57-6AF6-4ECA-80A9-ABF22D5E83FD}"/>
              </a:ext>
            </a:extLst>
          </p:cNvPr>
          <p:cNvSpPr>
            <a:spLocks xmlns:a="http://schemas.openxmlformats.org/drawingml/2006/main" noGrp="1"/>
          </p:cNvSpPr>
          <p:nvPr/>
        </p:nvSpPr>
        <p:spPr>
          <a:xfrm xmlns:a="http://schemas.openxmlformats.org/drawingml/2006/main">
            <a:off x="6191250" y="43338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1" i="0">
                <a:solidFill>
                  <a:srgbClr val="F58220"/>
                </a:solidFill>
                <a:latin typeface="Consolas"/>
                <a:ea typeface="Consolas"/>
                <a:cs typeface="Consolas"/>
              </a:defRPr>
            </a:pPr>
            <a:r>
              <a:rPr sz="1200" b="1" i="0">
                <a:solidFill>
                  <a:srgbClr val="F58220"/>
                </a:solidFill>
                <a:latin typeface="Consolas"/>
                <a:ea typeface="Consolas"/>
                <a:cs typeface="Consolas"/>
              </a:rPr>
              <a:t>local：queryごとに計算</a:t>
            </a:r>
          </a:p>
        </p:txBody>
      </p:sp>
      <p:sp>
        <p:nvSpPr>
          <p:cNvPr id="36" name="">
            <a:extLst xmlns:a="http://schemas.openxmlformats.org/drawingml/2006/main">
              <a:ext uri="{FF2B5EF4-FFF2-40B4-BE49-F238E27FC236}">
                <a16:creationId xmlns:a16="http://schemas.microsoft.com/office/drawing/2014/main" id="{1BE8317F-387B-4650-91FC-1173BD9F0609}"/>
              </a:ext>
            </a:extLst>
          </p:cNvPr>
          <p:cNvSpPr>
            <a:spLocks xmlns:a="http://schemas.openxmlformats.org/drawingml/2006/main" noGrp="1"/>
          </p:cNvSpPr>
          <p:nvPr/>
        </p:nvSpPr>
        <p:spPr>
          <a:xfrm xmlns:a="http://schemas.openxmlformats.org/drawingml/2006/main">
            <a:off x="1143000" y="519112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2025" b="1" i="0">
                <a:solidFill>
                  <a:srgbClr val="111827"/>
                </a:solidFill>
                <a:latin typeface="Yu Gothic"/>
                <a:ea typeface="Yu Gothic"/>
                <a:cs typeface="Yu Gothic"/>
              </a:defRPr>
            </a:pPr>
            <a:r>
              <a:rPr sz="2025" b="1" i="0">
                <a:solidFill>
                  <a:srgbClr val="111827"/>
                </a:solidFill>
                <a:latin typeface="Yu Gothic"/>
                <a:ea typeface="Yu Gothic"/>
                <a:cs typeface="Yu Gothic"/>
              </a:rPr>
              <a:t>形状全体を毎回読み直さず、必要な場所に計算を集中させる</a:t>
            </a:r>
          </a:p>
        </p:txBody>
      </p:sp>
    </p:spTree>
    <p:extLst>
      <p:ext uri="{BB962C8B-B14F-4D97-AF65-F5344CB8AC3E}">
        <p14:creationId xmlns:p14="http://schemas.microsoft.com/office/powerpoint/2010/main" val="12425299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A4A294-3160-4852-848A-6E1A048947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49AF56-4E92-4923-AED8-6D02FC515CF5}"/>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ARCHITECTURE</a:t>
            </a:r>
          </a:p>
        </p:txBody>
      </p:sp>
      <p:sp>
        <p:nvSpPr>
          <p:cNvPr id="3" name="">
            <a:extLst xmlns:a="http://schemas.openxmlformats.org/drawingml/2006/main">
              <a:ext uri="{FF2B5EF4-FFF2-40B4-BE49-F238E27FC236}">
                <a16:creationId xmlns:a16="http://schemas.microsoft.com/office/drawing/2014/main" id="{D22015E9-2D18-46BC-A2AF-353D2BEEF47C}"/>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11 / 32</a:t>
            </a:r>
          </a:p>
        </p:txBody>
      </p:sp>
      <p:sp>
        <p:nvSpPr>
          <p:cNvPr id="4" name="">
            <a:extLst xmlns:a="http://schemas.openxmlformats.org/drawingml/2006/main">
              <a:ext uri="{FF2B5EF4-FFF2-40B4-BE49-F238E27FC236}">
                <a16:creationId xmlns:a16="http://schemas.microsoft.com/office/drawing/2014/main" id="{9F14D277-7384-42E1-9B42-2D2F23A9AB65}"/>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34283551-1F6F-4D1B-A607-E96ACE007173}"/>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40A0ED4C-9BAB-49AE-A296-4FB197776378}"/>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555EB1-E191-453C-A71D-DB73A447AD7E}"/>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62F840AB-FB24-4FEF-8812-8C5A8554609F}"/>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推論は5段階：形状を一度符号化し、局所計算する</a:t>
            </a:r>
          </a:p>
        </p:txBody>
      </p:sp>
      <p:sp>
        <p:nvSpPr>
          <p:cNvPr id="9" name="">
            <a:extLst xmlns:a="http://schemas.openxmlformats.org/drawingml/2006/main">
              <a:ext uri="{FF2B5EF4-FFF2-40B4-BE49-F238E27FC236}">
                <a16:creationId xmlns:a16="http://schemas.microsoft.com/office/drawing/2014/main" id="{F5DE4238-3AB2-499E-B2CF-4EC0CD3445CB}"/>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34C8181C-ADE7-4624-A952-ECCA00E7EA1B}"/>
              </a:ext>
            </a:extLst>
          </p:cNvPr>
          <p:cNvSpPr>
            <a:spLocks xmlns:a="http://schemas.openxmlformats.org/drawingml/2006/main" noGrp="1"/>
          </p:cNvSpPr>
          <p:nvPr/>
        </p:nvSpPr>
        <p:spPr>
          <a:xfrm xmlns:a="http://schemas.openxmlformats.org/drawingml/2006/main">
            <a:off x="2324100" y="3429000"/>
            <a:ext cx="514350" cy="114300"/>
          </a:xfrm>
          <a:prstGeom xmlns:a="http://schemas.openxmlformats.org/drawingml/2006/main" prst="rightArrow">
            <a:avLst/>
          </a:prstGeom>
          <a:solidFill xmlns:a="http://schemas.openxmlformats.org/drawingml/2006/main">
            <a:srgbClr val="111827"/>
          </a:solidFill>
          <a:ln xmlns:a="http://schemas.openxmlformats.org/drawingml/2006/main" w="0">
            <a:solidFill>
              <a:srgbClr val="111827"/>
            </a:solidFill>
            <a:prstDash val="solid"/>
          </a:ln>
        </p:spPr>
      </p:sp>
      <p:sp>
        <p:nvSpPr>
          <p:cNvPr id="11" name="">
            <a:extLst xmlns:a="http://schemas.openxmlformats.org/drawingml/2006/main">
              <a:ext uri="{FF2B5EF4-FFF2-40B4-BE49-F238E27FC236}">
                <a16:creationId xmlns:a16="http://schemas.microsoft.com/office/drawing/2014/main" id="{78E619FC-D1F8-4E52-9429-0A0CC4B5061A}"/>
              </a:ext>
            </a:extLst>
          </p:cNvPr>
          <p:cNvSpPr>
            <a:spLocks xmlns:a="http://schemas.openxmlformats.org/drawingml/2006/main" noGrp="1"/>
          </p:cNvSpPr>
          <p:nvPr/>
        </p:nvSpPr>
        <p:spPr>
          <a:xfrm xmlns:a="http://schemas.openxmlformats.org/drawingml/2006/main">
            <a:off x="4495800" y="3429000"/>
            <a:ext cx="514350" cy="114300"/>
          </a:xfrm>
          <a:prstGeom xmlns:a="http://schemas.openxmlformats.org/drawingml/2006/main" prst="rightArrow">
            <a:avLst/>
          </a:prstGeom>
          <a:solidFill xmlns:a="http://schemas.openxmlformats.org/drawingml/2006/main">
            <a:srgbClr val="111827"/>
          </a:solidFill>
          <a:ln xmlns:a="http://schemas.openxmlformats.org/drawingml/2006/main" w="0">
            <a:solidFill>
              <a:srgbClr val="111827"/>
            </a:solidFill>
            <a:prstDash val="solid"/>
          </a:ln>
        </p:spPr>
      </p:sp>
      <p:sp>
        <p:nvSpPr>
          <p:cNvPr id="12" name="">
            <a:extLst xmlns:a="http://schemas.openxmlformats.org/drawingml/2006/main">
              <a:ext uri="{FF2B5EF4-FFF2-40B4-BE49-F238E27FC236}">
                <a16:creationId xmlns:a16="http://schemas.microsoft.com/office/drawing/2014/main" id="{6AA38C5D-0191-4B6E-B80E-3880A20630E4}"/>
              </a:ext>
            </a:extLst>
          </p:cNvPr>
          <p:cNvSpPr>
            <a:spLocks xmlns:a="http://schemas.openxmlformats.org/drawingml/2006/main" noGrp="1"/>
          </p:cNvSpPr>
          <p:nvPr/>
        </p:nvSpPr>
        <p:spPr>
          <a:xfrm xmlns:a="http://schemas.openxmlformats.org/drawingml/2006/main">
            <a:off x="6667500" y="3429000"/>
            <a:ext cx="514350" cy="114300"/>
          </a:xfrm>
          <a:prstGeom xmlns:a="http://schemas.openxmlformats.org/drawingml/2006/main" prst="rightArrow">
            <a:avLst/>
          </a:prstGeom>
          <a:solidFill xmlns:a="http://schemas.openxmlformats.org/drawingml/2006/main">
            <a:srgbClr val="111827"/>
          </a:solidFill>
          <a:ln xmlns:a="http://schemas.openxmlformats.org/drawingml/2006/main" w="0">
            <a:solidFill>
              <a:srgbClr val="111827"/>
            </a:solidFill>
            <a:prstDash val="solid"/>
          </a:ln>
        </p:spPr>
      </p:sp>
      <p:sp>
        <p:nvSpPr>
          <p:cNvPr id="13" name="">
            <a:extLst xmlns:a="http://schemas.openxmlformats.org/drawingml/2006/main">
              <a:ext uri="{FF2B5EF4-FFF2-40B4-BE49-F238E27FC236}">
                <a16:creationId xmlns:a16="http://schemas.microsoft.com/office/drawing/2014/main" id="{E8F03439-459D-485A-A743-41F832A1D164}"/>
              </a:ext>
            </a:extLst>
          </p:cNvPr>
          <p:cNvSpPr>
            <a:spLocks xmlns:a="http://schemas.openxmlformats.org/drawingml/2006/main" noGrp="1"/>
          </p:cNvSpPr>
          <p:nvPr/>
        </p:nvSpPr>
        <p:spPr>
          <a:xfrm xmlns:a="http://schemas.openxmlformats.org/drawingml/2006/main">
            <a:off x="8839200" y="3429000"/>
            <a:ext cx="514350" cy="114300"/>
          </a:xfrm>
          <a:prstGeom xmlns:a="http://schemas.openxmlformats.org/drawingml/2006/main" prst="rightArrow">
            <a:avLst/>
          </a:prstGeom>
          <a:solidFill xmlns:a="http://schemas.openxmlformats.org/drawingml/2006/main">
            <a:srgbClr val="111827"/>
          </a:solidFill>
          <a:ln xmlns:a="http://schemas.openxmlformats.org/drawingml/2006/main" w="0">
            <a:solidFill>
              <a:srgbClr val="111827"/>
            </a:solidFill>
            <a:prstDash val="solid"/>
          </a:ln>
        </p:spPr>
      </p:sp>
      <p:sp>
        <p:nvSpPr>
          <p:cNvPr id="14" name="">
            <a:extLst xmlns:a="http://schemas.openxmlformats.org/drawingml/2006/main">
              <a:ext uri="{FF2B5EF4-FFF2-40B4-BE49-F238E27FC236}">
                <a16:creationId xmlns:a16="http://schemas.microsoft.com/office/drawing/2014/main" id="{9D674BA2-96CD-44B8-BAB5-55D0F0E87BFA}"/>
              </a:ext>
            </a:extLst>
          </p:cNvPr>
          <p:cNvSpPr>
            <a:spLocks xmlns:a="http://schemas.openxmlformats.org/drawingml/2006/main" noGrp="1"/>
          </p:cNvSpPr>
          <p:nvPr/>
        </p:nvSpPr>
        <p:spPr>
          <a:xfrm xmlns:a="http://schemas.openxmlformats.org/drawingml/2006/main">
            <a:off x="495300" y="20193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i="0">
                <a:solidFill>
                  <a:srgbClr val="3D8DFF"/>
                </a:solidFill>
                <a:latin typeface="Consolas"/>
                <a:ea typeface="Consolas"/>
                <a:cs typeface="Consolas"/>
              </a:defRPr>
            </a:pPr>
            <a:r>
              <a:rPr sz="2400" b="1" i="0">
                <a:solidFill>
                  <a:srgbClr val="3D8DFF"/>
                </a:solidFill>
                <a:latin typeface="Consolas"/>
                <a:ea typeface="Consolas"/>
                <a:cs typeface="Consolas"/>
              </a:rPr>
              <a:t>1</a:t>
            </a:r>
          </a:p>
        </p:txBody>
      </p:sp>
      <p:sp>
        <p:nvSpPr>
          <p:cNvPr id="15" name="">
            <a:extLst xmlns:a="http://schemas.openxmlformats.org/drawingml/2006/main">
              <a:ext uri="{FF2B5EF4-FFF2-40B4-BE49-F238E27FC236}">
                <a16:creationId xmlns:a16="http://schemas.microsoft.com/office/drawing/2014/main" id="{9FC7F17D-B668-454C-B5A4-C28C97762CD7}"/>
              </a:ext>
            </a:extLst>
          </p:cNvPr>
          <p:cNvSpPr>
            <a:spLocks xmlns:a="http://schemas.openxmlformats.org/drawingml/2006/main" noGrp="1"/>
          </p:cNvSpPr>
          <p:nvPr/>
        </p:nvSpPr>
        <p:spPr>
          <a:xfrm xmlns:a="http://schemas.openxmlformats.org/drawingml/2006/main">
            <a:off x="495300" y="26860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Geometry</a:t>
            </a:r>
          </a:p>
        </p:txBody>
      </p:sp>
      <p:sp>
        <p:nvSpPr>
          <p:cNvPr id="16" name="">
            <a:extLst xmlns:a="http://schemas.openxmlformats.org/drawingml/2006/main">
              <a:ext uri="{FF2B5EF4-FFF2-40B4-BE49-F238E27FC236}">
                <a16:creationId xmlns:a16="http://schemas.microsoft.com/office/drawing/2014/main" id="{0E519C66-A10E-4725-B627-BC34465DBBAB}"/>
              </a:ext>
            </a:extLst>
          </p:cNvPr>
          <p:cNvSpPr>
            <a:spLocks xmlns:a="http://schemas.openxmlformats.org/drawingml/2006/main" noGrp="1"/>
          </p:cNvSpPr>
          <p:nvPr/>
        </p:nvSpPr>
        <p:spPr>
          <a:xfrm xmlns:a="http://schemas.openxmlformats.org/drawingml/2006/main">
            <a:off x="495300" y="38290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表面点群</a:t>
            </a:r>
          </a:p>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法線・境界条件</a:t>
            </a:r>
          </a:p>
        </p:txBody>
      </p:sp>
      <p:sp>
        <p:nvSpPr>
          <p:cNvPr id="17" name="">
            <a:extLst xmlns:a="http://schemas.openxmlformats.org/drawingml/2006/main">
              <a:ext uri="{FF2B5EF4-FFF2-40B4-BE49-F238E27FC236}">
                <a16:creationId xmlns:a16="http://schemas.microsoft.com/office/drawing/2014/main" id="{B3868E00-07AE-4721-A801-5EEBE6FE87C1}"/>
              </a:ext>
            </a:extLst>
          </p:cNvPr>
          <p:cNvSpPr>
            <a:spLocks xmlns:a="http://schemas.openxmlformats.org/drawingml/2006/main" noGrp="1"/>
          </p:cNvSpPr>
          <p:nvPr/>
        </p:nvSpPr>
        <p:spPr>
          <a:xfrm xmlns:a="http://schemas.openxmlformats.org/drawingml/2006/main">
            <a:off x="495300" y="4857750"/>
            <a:ext cx="1809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57EE8B99-8387-4DD6-B58A-946150431E43}"/>
              </a:ext>
            </a:extLst>
          </p:cNvPr>
          <p:cNvSpPr>
            <a:spLocks xmlns:a="http://schemas.openxmlformats.org/drawingml/2006/main" noGrp="1"/>
          </p:cNvSpPr>
          <p:nvPr/>
        </p:nvSpPr>
        <p:spPr>
          <a:xfrm xmlns:a="http://schemas.openxmlformats.org/drawingml/2006/main">
            <a:off x="2667000" y="20193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i="0">
                <a:solidFill>
                  <a:srgbClr val="3D8DFF"/>
                </a:solidFill>
                <a:latin typeface="Consolas"/>
                <a:ea typeface="Consolas"/>
                <a:cs typeface="Consolas"/>
              </a:defRPr>
            </a:pPr>
            <a:r>
              <a:rPr sz="2400" b="1" i="0">
                <a:solidFill>
                  <a:srgbClr val="3D8DFF"/>
                </a:solidFill>
                <a:latin typeface="Consolas"/>
                <a:ea typeface="Consolas"/>
                <a:cs typeface="Consolas"/>
              </a:rPr>
              <a:t>2</a:t>
            </a:r>
          </a:p>
        </p:txBody>
      </p:sp>
      <p:sp>
        <p:nvSpPr>
          <p:cNvPr id="19" name="">
            <a:extLst xmlns:a="http://schemas.openxmlformats.org/drawingml/2006/main">
              <a:ext uri="{FF2B5EF4-FFF2-40B4-BE49-F238E27FC236}">
                <a16:creationId xmlns:a16="http://schemas.microsoft.com/office/drawing/2014/main" id="{A0E7D0AC-3987-4B3B-A81D-BCBC624FA8DC}"/>
              </a:ext>
            </a:extLst>
          </p:cNvPr>
          <p:cNvSpPr>
            <a:spLocks xmlns:a="http://schemas.openxmlformats.org/drawingml/2006/main" noGrp="1"/>
          </p:cNvSpPr>
          <p:nvPr/>
        </p:nvSpPr>
        <p:spPr>
          <a:xfrm xmlns:a="http://schemas.openxmlformats.org/drawingml/2006/main">
            <a:off x="2667000" y="26860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Global grid</a:t>
            </a:r>
          </a:p>
        </p:txBody>
      </p:sp>
      <p:sp>
        <p:nvSpPr>
          <p:cNvPr id="20" name="">
            <a:extLst xmlns:a="http://schemas.openxmlformats.org/drawingml/2006/main">
              <a:ext uri="{FF2B5EF4-FFF2-40B4-BE49-F238E27FC236}">
                <a16:creationId xmlns:a16="http://schemas.microsoft.com/office/drawing/2014/main" id="{4E62C890-E9E6-4C47-AF39-C4DF4B2F6CA5}"/>
              </a:ext>
            </a:extLst>
          </p:cNvPr>
          <p:cNvSpPr>
            <a:spLocks xmlns:a="http://schemas.openxmlformats.org/drawingml/2006/main" noGrp="1"/>
          </p:cNvSpPr>
          <p:nvPr/>
        </p:nvSpPr>
        <p:spPr>
          <a:xfrm xmlns:a="http://schemas.openxmlformats.org/drawingml/2006/main">
            <a:off x="2667000" y="38290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SDF・位置情報</a:t>
            </a:r>
          </a:p>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multi-scale表現</a:t>
            </a:r>
          </a:p>
        </p:txBody>
      </p:sp>
      <p:sp>
        <p:nvSpPr>
          <p:cNvPr id="21" name="">
            <a:extLst xmlns:a="http://schemas.openxmlformats.org/drawingml/2006/main">
              <a:ext uri="{FF2B5EF4-FFF2-40B4-BE49-F238E27FC236}">
                <a16:creationId xmlns:a16="http://schemas.microsoft.com/office/drawing/2014/main" id="{0F4951C8-E038-46DF-B107-A47C1B4F4973}"/>
              </a:ext>
            </a:extLst>
          </p:cNvPr>
          <p:cNvSpPr>
            <a:spLocks xmlns:a="http://schemas.openxmlformats.org/drawingml/2006/main" noGrp="1"/>
          </p:cNvSpPr>
          <p:nvPr/>
        </p:nvSpPr>
        <p:spPr>
          <a:xfrm xmlns:a="http://schemas.openxmlformats.org/drawingml/2006/main">
            <a:off x="2667000" y="4857750"/>
            <a:ext cx="1809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FCFA75DB-CEFC-4B53-9C8C-12A1F9ACAE7C}"/>
              </a:ext>
            </a:extLst>
          </p:cNvPr>
          <p:cNvSpPr>
            <a:spLocks xmlns:a="http://schemas.openxmlformats.org/drawingml/2006/main" noGrp="1"/>
          </p:cNvSpPr>
          <p:nvPr/>
        </p:nvSpPr>
        <p:spPr>
          <a:xfrm xmlns:a="http://schemas.openxmlformats.org/drawingml/2006/main">
            <a:off x="4838700" y="20193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i="0">
                <a:solidFill>
                  <a:srgbClr val="3D8DFF"/>
                </a:solidFill>
                <a:latin typeface="Consolas"/>
                <a:ea typeface="Consolas"/>
                <a:cs typeface="Consolas"/>
              </a:defRPr>
            </a:pPr>
            <a:r>
              <a:rPr sz="2400" b="1" i="0">
                <a:solidFill>
                  <a:srgbClr val="3D8DFF"/>
                </a:solidFill>
                <a:latin typeface="Consolas"/>
                <a:ea typeface="Consolas"/>
                <a:cs typeface="Consolas"/>
              </a:rPr>
              <a:t>3</a:t>
            </a:r>
          </a:p>
        </p:txBody>
      </p:sp>
      <p:sp>
        <p:nvSpPr>
          <p:cNvPr id="23" name="">
            <a:extLst xmlns:a="http://schemas.openxmlformats.org/drawingml/2006/main">
              <a:ext uri="{FF2B5EF4-FFF2-40B4-BE49-F238E27FC236}">
                <a16:creationId xmlns:a16="http://schemas.microsoft.com/office/drawing/2014/main" id="{A0C3A1AD-8AB1-4471-9E4F-58368429A06E}"/>
              </a:ext>
            </a:extLst>
          </p:cNvPr>
          <p:cNvSpPr>
            <a:spLocks xmlns:a="http://schemas.openxmlformats.org/drawingml/2006/main" noGrp="1"/>
          </p:cNvSpPr>
          <p:nvPr/>
        </p:nvSpPr>
        <p:spPr>
          <a:xfrm xmlns:a="http://schemas.openxmlformats.org/drawingml/2006/main">
            <a:off x="4838700" y="26860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Query sampling</a:t>
            </a:r>
          </a:p>
        </p:txBody>
      </p:sp>
      <p:sp>
        <p:nvSpPr>
          <p:cNvPr id="24" name="">
            <a:extLst xmlns:a="http://schemas.openxmlformats.org/drawingml/2006/main">
              <a:ext uri="{FF2B5EF4-FFF2-40B4-BE49-F238E27FC236}">
                <a16:creationId xmlns:a16="http://schemas.microsoft.com/office/drawing/2014/main" id="{21D20C43-93FF-4829-9A77-A2C09531ADD7}"/>
              </a:ext>
            </a:extLst>
          </p:cNvPr>
          <p:cNvSpPr>
            <a:spLocks xmlns:a="http://schemas.openxmlformats.org/drawingml/2006/main" noGrp="1"/>
          </p:cNvSpPr>
          <p:nvPr/>
        </p:nvSpPr>
        <p:spPr>
          <a:xfrm xmlns:a="http://schemas.openxmlformats.org/drawingml/2006/main">
            <a:off x="4838700" y="38290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表面 / 体積の</a:t>
            </a:r>
          </a:p>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予測対象点</a:t>
            </a:r>
          </a:p>
        </p:txBody>
      </p:sp>
      <p:sp>
        <p:nvSpPr>
          <p:cNvPr id="25" name="">
            <a:extLst xmlns:a="http://schemas.openxmlformats.org/drawingml/2006/main">
              <a:ext uri="{FF2B5EF4-FFF2-40B4-BE49-F238E27FC236}">
                <a16:creationId xmlns:a16="http://schemas.microsoft.com/office/drawing/2014/main" id="{80E73CAA-7ECD-4263-B79A-690ECFA5A7AD}"/>
              </a:ext>
            </a:extLst>
          </p:cNvPr>
          <p:cNvSpPr>
            <a:spLocks xmlns:a="http://schemas.openxmlformats.org/drawingml/2006/main" noGrp="1"/>
          </p:cNvSpPr>
          <p:nvPr/>
        </p:nvSpPr>
        <p:spPr>
          <a:xfrm xmlns:a="http://schemas.openxmlformats.org/drawingml/2006/main">
            <a:off x="4838700" y="4857750"/>
            <a:ext cx="1809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BA55F6E8-1DC1-453C-A3AD-7E47E003F1DD}"/>
              </a:ext>
            </a:extLst>
          </p:cNvPr>
          <p:cNvSpPr>
            <a:spLocks xmlns:a="http://schemas.openxmlformats.org/drawingml/2006/main" noGrp="1"/>
          </p:cNvSpPr>
          <p:nvPr/>
        </p:nvSpPr>
        <p:spPr>
          <a:xfrm xmlns:a="http://schemas.openxmlformats.org/drawingml/2006/main">
            <a:off x="7010400" y="20193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i="0">
                <a:solidFill>
                  <a:srgbClr val="3D8DFF"/>
                </a:solidFill>
                <a:latin typeface="Consolas"/>
                <a:ea typeface="Consolas"/>
                <a:cs typeface="Consolas"/>
              </a:defRPr>
            </a:pPr>
            <a:r>
              <a:rPr sz="2400" b="1" i="0">
                <a:solidFill>
                  <a:srgbClr val="3D8DFF"/>
                </a:solidFill>
                <a:latin typeface="Consolas"/>
                <a:ea typeface="Consolas"/>
                <a:cs typeface="Consolas"/>
              </a:rPr>
              <a:t>4</a:t>
            </a:r>
          </a:p>
        </p:txBody>
      </p:sp>
      <p:sp>
        <p:nvSpPr>
          <p:cNvPr id="27" name="">
            <a:extLst xmlns:a="http://schemas.openxmlformats.org/drawingml/2006/main">
              <a:ext uri="{FF2B5EF4-FFF2-40B4-BE49-F238E27FC236}">
                <a16:creationId xmlns:a16="http://schemas.microsoft.com/office/drawing/2014/main" id="{A25EC5DE-1B46-4F68-9E90-44873E92CEB9}"/>
              </a:ext>
            </a:extLst>
          </p:cNvPr>
          <p:cNvSpPr>
            <a:spLocks xmlns:a="http://schemas.openxmlformats.org/drawingml/2006/main" noGrp="1"/>
          </p:cNvSpPr>
          <p:nvPr/>
        </p:nvSpPr>
        <p:spPr>
          <a:xfrm xmlns:a="http://schemas.openxmlformats.org/drawingml/2006/main">
            <a:off x="7010400" y="26860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Local stencil</a:t>
            </a:r>
          </a:p>
        </p:txBody>
      </p:sp>
      <p:sp>
        <p:nvSpPr>
          <p:cNvPr id="28" name="">
            <a:extLst xmlns:a="http://schemas.openxmlformats.org/drawingml/2006/main">
              <a:ext uri="{FF2B5EF4-FFF2-40B4-BE49-F238E27FC236}">
                <a16:creationId xmlns:a16="http://schemas.microsoft.com/office/drawing/2014/main" id="{F48BDAAF-7907-46BB-8A37-CDEFA7362C08}"/>
              </a:ext>
            </a:extLst>
          </p:cNvPr>
          <p:cNvSpPr>
            <a:spLocks xmlns:a="http://schemas.openxmlformats.org/drawingml/2006/main" noGrp="1"/>
          </p:cNvSpPr>
          <p:nvPr/>
        </p:nvSpPr>
        <p:spPr>
          <a:xfrm xmlns:a="http://schemas.openxmlformats.org/drawingml/2006/main">
            <a:off x="7010400" y="38290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sub-regionと</a:t>
            </a:r>
          </a:p>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近傍点を構築</a:t>
            </a:r>
          </a:p>
        </p:txBody>
      </p:sp>
      <p:sp>
        <p:nvSpPr>
          <p:cNvPr id="29" name="">
            <a:extLst xmlns:a="http://schemas.openxmlformats.org/drawingml/2006/main">
              <a:ext uri="{FF2B5EF4-FFF2-40B4-BE49-F238E27FC236}">
                <a16:creationId xmlns:a16="http://schemas.microsoft.com/office/drawing/2014/main" id="{B657BEE7-BB44-4041-9DB8-C46DDAE4019D}"/>
              </a:ext>
            </a:extLst>
          </p:cNvPr>
          <p:cNvSpPr>
            <a:spLocks xmlns:a="http://schemas.openxmlformats.org/drawingml/2006/main" noGrp="1"/>
          </p:cNvSpPr>
          <p:nvPr/>
        </p:nvSpPr>
        <p:spPr>
          <a:xfrm xmlns:a="http://schemas.openxmlformats.org/drawingml/2006/main">
            <a:off x="7010400" y="4857750"/>
            <a:ext cx="1809750" cy="0"/>
          </a:xfrm>
          <a:prstGeom xmlns:a="http://schemas.openxmlformats.org/drawingml/2006/main" prst="line">
            <a:avLst/>
          </a:prstGeom>
          <a:noFill xmlns:a="http://schemas.openxmlformats.org/drawingml/2006/main"/>
          <a:ln xmlns:a="http://schemas.openxmlformats.org/drawingml/2006/main" w="38100">
            <a:solidFill>
              <a:srgbClr val="F58220"/>
            </a:solidFill>
            <a:prstDash val="solid"/>
          </a:ln>
        </p:spPr>
      </p:sp>
      <p:sp>
        <p:nvSpPr>
          <p:cNvPr id="30" name="">
            <a:extLst xmlns:a="http://schemas.openxmlformats.org/drawingml/2006/main">
              <a:ext uri="{FF2B5EF4-FFF2-40B4-BE49-F238E27FC236}">
                <a16:creationId xmlns:a16="http://schemas.microsoft.com/office/drawing/2014/main" id="{029DE1A6-3367-447C-B7F2-B31584A1CA6D}"/>
              </a:ext>
            </a:extLst>
          </p:cNvPr>
          <p:cNvSpPr>
            <a:spLocks xmlns:a="http://schemas.openxmlformats.org/drawingml/2006/main" noGrp="1"/>
          </p:cNvSpPr>
          <p:nvPr/>
        </p:nvSpPr>
        <p:spPr>
          <a:xfrm xmlns:a="http://schemas.openxmlformats.org/drawingml/2006/main">
            <a:off x="9182100" y="20193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i="0">
                <a:solidFill>
                  <a:srgbClr val="3D8DFF"/>
                </a:solidFill>
                <a:latin typeface="Consolas"/>
                <a:ea typeface="Consolas"/>
                <a:cs typeface="Consolas"/>
              </a:defRPr>
            </a:pPr>
            <a:r>
              <a:rPr sz="2400" b="1" i="0">
                <a:solidFill>
                  <a:srgbClr val="3D8DFF"/>
                </a:solidFill>
                <a:latin typeface="Consolas"/>
                <a:ea typeface="Consolas"/>
                <a:cs typeface="Consolas"/>
              </a:rPr>
              <a:t>5</a:t>
            </a:r>
          </a:p>
        </p:txBody>
      </p:sp>
      <p:sp>
        <p:nvSpPr>
          <p:cNvPr id="31" name="">
            <a:extLst xmlns:a="http://schemas.openxmlformats.org/drawingml/2006/main">
              <a:ext uri="{FF2B5EF4-FFF2-40B4-BE49-F238E27FC236}">
                <a16:creationId xmlns:a16="http://schemas.microsoft.com/office/drawing/2014/main" id="{3502B81E-D4D2-4354-9D32-97C3490ED6EA}"/>
              </a:ext>
            </a:extLst>
          </p:cNvPr>
          <p:cNvSpPr>
            <a:spLocks xmlns:a="http://schemas.openxmlformats.org/drawingml/2006/main" noGrp="1"/>
          </p:cNvSpPr>
          <p:nvPr/>
        </p:nvSpPr>
        <p:spPr>
          <a:xfrm xmlns:a="http://schemas.openxmlformats.org/drawingml/2006/main">
            <a:off x="9182100" y="26860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Aggregation</a:t>
            </a:r>
          </a:p>
        </p:txBody>
      </p:sp>
      <p:sp>
        <p:nvSpPr>
          <p:cNvPr id="32" name="">
            <a:extLst xmlns:a="http://schemas.openxmlformats.org/drawingml/2006/main">
              <a:ext uri="{FF2B5EF4-FFF2-40B4-BE49-F238E27FC236}">
                <a16:creationId xmlns:a16="http://schemas.microsoft.com/office/drawing/2014/main" id="{7C46230D-082A-407B-A5BB-0A000B12BE55}"/>
              </a:ext>
            </a:extLst>
          </p:cNvPr>
          <p:cNvSpPr>
            <a:spLocks xmlns:a="http://schemas.openxmlformats.org/drawingml/2006/main" noGrp="1"/>
          </p:cNvSpPr>
          <p:nvPr/>
        </p:nvSpPr>
        <p:spPr>
          <a:xfrm xmlns:a="http://schemas.openxmlformats.org/drawingml/2006/main">
            <a:off x="9182100" y="38290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basis predictionを</a:t>
            </a:r>
          </a:p>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集約して物理量へ</a:t>
            </a:r>
          </a:p>
        </p:txBody>
      </p:sp>
      <p:sp>
        <p:nvSpPr>
          <p:cNvPr id="33" name="">
            <a:extLst xmlns:a="http://schemas.openxmlformats.org/drawingml/2006/main">
              <a:ext uri="{FF2B5EF4-FFF2-40B4-BE49-F238E27FC236}">
                <a16:creationId xmlns:a16="http://schemas.microsoft.com/office/drawing/2014/main" id="{010BEC29-6C35-4E83-9B5E-223CC4920F12}"/>
              </a:ext>
            </a:extLst>
          </p:cNvPr>
          <p:cNvSpPr>
            <a:spLocks xmlns:a="http://schemas.openxmlformats.org/drawingml/2006/main" noGrp="1"/>
          </p:cNvSpPr>
          <p:nvPr/>
        </p:nvSpPr>
        <p:spPr>
          <a:xfrm xmlns:a="http://schemas.openxmlformats.org/drawingml/2006/main">
            <a:off x="9182100" y="4857750"/>
            <a:ext cx="1809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4" name="">
            <a:extLst xmlns:a="http://schemas.openxmlformats.org/drawingml/2006/main">
              <a:ext uri="{FF2B5EF4-FFF2-40B4-BE49-F238E27FC236}">
                <a16:creationId xmlns:a16="http://schemas.microsoft.com/office/drawing/2014/main" id="{9885174B-A444-4A93-8DA0-FDEE019BA737}"/>
              </a:ext>
            </a:extLst>
          </p:cNvPr>
          <p:cNvSpPr>
            <a:spLocks xmlns:a="http://schemas.openxmlformats.org/drawingml/2006/main" noGrp="1"/>
          </p:cNvSpPr>
          <p:nvPr/>
        </p:nvSpPr>
        <p:spPr>
          <a:xfrm xmlns:a="http://schemas.openxmlformats.org/drawingml/2006/main">
            <a:off x="495300" y="5381625"/>
            <a:ext cx="1085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今回のsurface-only実験では、queryは車体表面上の8,192点</a:t>
            </a:r>
          </a:p>
        </p:txBody>
      </p:sp>
    </p:spTree>
    <p:extLst>
      <p:ext uri="{BB962C8B-B14F-4D97-AF65-F5344CB8AC3E}">
        <p14:creationId xmlns:p14="http://schemas.microsoft.com/office/powerpoint/2010/main" val="1752942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BE4E3D-62EC-4955-8726-FEA1F9E951F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64CF32-433D-4DD8-A03A-88ED69041493}"/>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BENEFITS AND LIMITS</a:t>
            </a:r>
          </a:p>
        </p:txBody>
      </p:sp>
      <p:sp>
        <p:nvSpPr>
          <p:cNvPr id="3" name="">
            <a:extLst xmlns:a="http://schemas.openxmlformats.org/drawingml/2006/main">
              <a:ext uri="{FF2B5EF4-FFF2-40B4-BE49-F238E27FC236}">
                <a16:creationId xmlns:a16="http://schemas.microsoft.com/office/drawing/2014/main" id="{64E0A855-2F7F-4D53-BB09-F7A8DE4114B5}"/>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12 / 32</a:t>
            </a:r>
          </a:p>
        </p:txBody>
      </p:sp>
      <p:sp>
        <p:nvSpPr>
          <p:cNvPr id="4" name="">
            <a:extLst xmlns:a="http://schemas.openxmlformats.org/drawingml/2006/main">
              <a:ext uri="{FF2B5EF4-FFF2-40B4-BE49-F238E27FC236}">
                <a16:creationId xmlns:a16="http://schemas.microsoft.com/office/drawing/2014/main" id="{8BF642FE-885D-4FA4-9311-3BD973767176}"/>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99A8ABEB-1633-47BB-B699-1056199E4B2C}"/>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508EE4A6-CA3B-4A94-A3AA-C9EF443C77F2}"/>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E7988CA-EAEA-41B8-8C3D-33C41D50023B}"/>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89B02BFF-007A-4A3B-8A7A-76240AF6C6FC}"/>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特徴はメリットになるが、データと汎化は残る</a:t>
            </a:r>
          </a:p>
        </p:txBody>
      </p:sp>
      <p:sp>
        <p:nvSpPr>
          <p:cNvPr id="9" name="">
            <a:extLst xmlns:a="http://schemas.openxmlformats.org/drawingml/2006/main">
              <a:ext uri="{FF2B5EF4-FFF2-40B4-BE49-F238E27FC236}">
                <a16:creationId xmlns:a16="http://schemas.microsoft.com/office/drawing/2014/main" id="{2BA0755D-0129-4178-B248-46DC36E08353}"/>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28DA53FA-FC95-46DE-8911-215C7B616BFB}"/>
              </a:ext>
            </a:extLst>
          </p:cNvPr>
          <p:cNvSpPr>
            <a:spLocks xmlns:a="http://schemas.openxmlformats.org/drawingml/2006/main" noGrp="1"/>
          </p:cNvSpPr>
          <p:nvPr/>
        </p:nvSpPr>
        <p:spPr>
          <a:xfrm xmlns:a="http://schemas.openxmlformats.org/drawingml/2006/main">
            <a:off x="590550" y="1762125"/>
            <a:ext cx="4762500" cy="285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F468B8-557C-4868-903B-FE0069C7A884}"/>
              </a:ext>
            </a:extLst>
          </p:cNvPr>
          <p:cNvSpPr>
            <a:spLocks xmlns:a="http://schemas.openxmlformats.org/drawingml/2006/main" noGrp="1"/>
          </p:cNvSpPr>
          <p:nvPr/>
        </p:nvSpPr>
        <p:spPr>
          <a:xfrm xmlns:a="http://schemas.openxmlformats.org/drawingml/2006/main">
            <a:off x="685800" y="18097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FEATURE</a:t>
            </a:r>
          </a:p>
        </p:txBody>
      </p:sp>
      <p:sp>
        <p:nvSpPr>
          <p:cNvPr id="12" name="">
            <a:extLst xmlns:a="http://schemas.openxmlformats.org/drawingml/2006/main">
              <a:ext uri="{FF2B5EF4-FFF2-40B4-BE49-F238E27FC236}">
                <a16:creationId xmlns:a16="http://schemas.microsoft.com/office/drawing/2014/main" id="{B11522FD-C6E6-4D55-BB3F-D1D3A602180F}"/>
              </a:ext>
            </a:extLst>
          </p:cNvPr>
          <p:cNvSpPr>
            <a:spLocks xmlns:a="http://schemas.openxmlformats.org/drawingml/2006/main" noGrp="1"/>
          </p:cNvSpPr>
          <p:nvPr/>
        </p:nvSpPr>
        <p:spPr>
          <a:xfrm xmlns:a="http://schemas.openxmlformats.org/drawingml/2006/main">
            <a:off x="6096000" y="1762125"/>
            <a:ext cx="4762500" cy="28575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CCF9CE-BA91-41E1-BFE9-421B713F5F1B}"/>
              </a:ext>
            </a:extLst>
          </p:cNvPr>
          <p:cNvSpPr>
            <a:spLocks xmlns:a="http://schemas.openxmlformats.org/drawingml/2006/main" noGrp="1"/>
          </p:cNvSpPr>
          <p:nvPr/>
        </p:nvSpPr>
        <p:spPr>
          <a:xfrm xmlns:a="http://schemas.openxmlformats.org/drawingml/2006/main">
            <a:off x="6191250" y="18097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WHAT IT ENABLES</a:t>
            </a:r>
          </a:p>
        </p:txBody>
      </p:sp>
      <p:sp>
        <p:nvSpPr>
          <p:cNvPr id="14" name="">
            <a:extLst xmlns:a="http://schemas.openxmlformats.org/drawingml/2006/main">
              <a:ext uri="{FF2B5EF4-FFF2-40B4-BE49-F238E27FC236}">
                <a16:creationId xmlns:a16="http://schemas.microsoft.com/office/drawing/2014/main" id="{5C9DD91D-DCC9-4919-8CBD-C14AE503FBFE}"/>
              </a:ext>
            </a:extLst>
          </p:cNvPr>
          <p:cNvSpPr>
            <a:spLocks xmlns:a="http://schemas.openxmlformats.org/drawingml/2006/main" noGrp="1"/>
          </p:cNvSpPr>
          <p:nvPr/>
        </p:nvSpPr>
        <p:spPr>
          <a:xfrm xmlns:a="http://schemas.openxmlformats.org/drawingml/2006/main">
            <a:off x="590550" y="23050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point-cloud + query-based</a:t>
            </a:r>
          </a:p>
        </p:txBody>
      </p:sp>
      <p:sp>
        <p:nvSpPr>
          <p:cNvPr id="15" name="">
            <a:extLst xmlns:a="http://schemas.openxmlformats.org/drawingml/2006/main">
              <a:ext uri="{FF2B5EF4-FFF2-40B4-BE49-F238E27FC236}">
                <a16:creationId xmlns:a16="http://schemas.microsoft.com/office/drawing/2014/main" id="{01AB3F65-0867-4464-A7DA-478EE3B2EA51}"/>
              </a:ext>
            </a:extLst>
          </p:cNvPr>
          <p:cNvSpPr>
            <a:spLocks xmlns:a="http://schemas.openxmlformats.org/drawingml/2006/main" noGrp="1"/>
          </p:cNvSpPr>
          <p:nvPr/>
        </p:nvSpPr>
        <p:spPr>
          <a:xfrm xmlns:a="http://schemas.openxmlformats.org/drawingml/2006/main">
            <a:off x="6096000" y="23050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複雑形状上の必要な点だけを評価しやすい</a:t>
            </a:r>
          </a:p>
        </p:txBody>
      </p:sp>
      <p:sp>
        <p:nvSpPr>
          <p:cNvPr id="16" name="">
            <a:extLst xmlns:a="http://schemas.openxmlformats.org/drawingml/2006/main">
              <a:ext uri="{FF2B5EF4-FFF2-40B4-BE49-F238E27FC236}">
                <a16:creationId xmlns:a16="http://schemas.microsoft.com/office/drawing/2014/main" id="{02E0B49B-CB43-4D3F-B897-E5FD0682E719}"/>
              </a:ext>
            </a:extLst>
          </p:cNvPr>
          <p:cNvSpPr>
            <a:spLocks xmlns:a="http://schemas.openxmlformats.org/drawingml/2006/main" noGrp="1"/>
          </p:cNvSpPr>
          <p:nvPr/>
        </p:nvSpPr>
        <p:spPr>
          <a:xfrm xmlns:a="http://schemas.openxmlformats.org/drawingml/2006/main">
            <a:off x="590550" y="2857500"/>
            <a:ext cx="10267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17" name="">
            <a:extLst xmlns:a="http://schemas.openxmlformats.org/drawingml/2006/main">
              <a:ext uri="{FF2B5EF4-FFF2-40B4-BE49-F238E27FC236}">
                <a16:creationId xmlns:a16="http://schemas.microsoft.com/office/drawing/2014/main" id="{F36708B0-9577-4D52-AFC1-69F66B25BD1C}"/>
              </a:ext>
            </a:extLst>
          </p:cNvPr>
          <p:cNvSpPr>
            <a:spLocks xmlns:a="http://schemas.openxmlformats.org/drawingml/2006/main" noGrp="1"/>
          </p:cNvSpPr>
          <p:nvPr/>
        </p:nvSpPr>
        <p:spPr>
          <a:xfrm xmlns:a="http://schemas.openxmlformats.org/drawingml/2006/main">
            <a:off x="590550" y="3028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multi-scale iterative encoding</a:t>
            </a:r>
          </a:p>
        </p:txBody>
      </p:sp>
      <p:sp>
        <p:nvSpPr>
          <p:cNvPr id="18" name="">
            <a:extLst xmlns:a="http://schemas.openxmlformats.org/drawingml/2006/main">
              <a:ext uri="{FF2B5EF4-FFF2-40B4-BE49-F238E27FC236}">
                <a16:creationId xmlns:a16="http://schemas.microsoft.com/office/drawing/2014/main" id="{A4392860-05EF-46C6-BEB6-F935E8588ACD}"/>
              </a:ext>
            </a:extLst>
          </p:cNvPr>
          <p:cNvSpPr>
            <a:spLocks xmlns:a="http://schemas.openxmlformats.org/drawingml/2006/main" noGrp="1"/>
          </p:cNvSpPr>
          <p:nvPr/>
        </p:nvSpPr>
        <p:spPr>
          <a:xfrm xmlns:a="http://schemas.openxmlformats.org/drawingml/2006/main">
            <a:off x="6096000" y="30289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局所と大域の依存を同じモデルで扱う</a:t>
            </a:r>
          </a:p>
        </p:txBody>
      </p:sp>
      <p:sp>
        <p:nvSpPr>
          <p:cNvPr id="19" name="">
            <a:extLst xmlns:a="http://schemas.openxmlformats.org/drawingml/2006/main">
              <a:ext uri="{FF2B5EF4-FFF2-40B4-BE49-F238E27FC236}">
                <a16:creationId xmlns:a16="http://schemas.microsoft.com/office/drawing/2014/main" id="{B8D558A9-9DBB-4AD7-A15A-BB6864286AB9}"/>
              </a:ext>
            </a:extLst>
          </p:cNvPr>
          <p:cNvSpPr>
            <a:spLocks xmlns:a="http://schemas.openxmlformats.org/drawingml/2006/main" noGrp="1"/>
          </p:cNvSpPr>
          <p:nvPr/>
        </p:nvSpPr>
        <p:spPr>
          <a:xfrm xmlns:a="http://schemas.openxmlformats.org/drawingml/2006/main">
            <a:off x="590550" y="3581400"/>
            <a:ext cx="10267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0" name="">
            <a:extLst xmlns:a="http://schemas.openxmlformats.org/drawingml/2006/main">
              <a:ext uri="{FF2B5EF4-FFF2-40B4-BE49-F238E27FC236}">
                <a16:creationId xmlns:a16="http://schemas.microsoft.com/office/drawing/2014/main" id="{0AE0783C-8E3E-4C59-BEAE-853262CFBA0D}"/>
              </a:ext>
            </a:extLst>
          </p:cNvPr>
          <p:cNvSpPr>
            <a:spLocks xmlns:a="http://schemas.openxmlformats.org/drawingml/2006/main" noGrp="1"/>
          </p:cNvSpPr>
          <p:nvPr/>
        </p:nvSpPr>
        <p:spPr>
          <a:xfrm xmlns:a="http://schemas.openxmlformats.org/drawingml/2006/main">
            <a:off x="590550" y="37528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surface / volume / combined</a:t>
            </a:r>
          </a:p>
        </p:txBody>
      </p:sp>
      <p:sp>
        <p:nvSpPr>
          <p:cNvPr id="21" name="">
            <a:extLst xmlns:a="http://schemas.openxmlformats.org/drawingml/2006/main">
              <a:ext uri="{FF2B5EF4-FFF2-40B4-BE49-F238E27FC236}">
                <a16:creationId xmlns:a16="http://schemas.microsoft.com/office/drawing/2014/main" id="{BD7C8A39-F306-4921-BFEE-DD645DD558AE}"/>
              </a:ext>
            </a:extLst>
          </p:cNvPr>
          <p:cNvSpPr>
            <a:spLocks xmlns:a="http://schemas.openxmlformats.org/drawingml/2006/main" noGrp="1"/>
          </p:cNvSpPr>
          <p:nvPr/>
        </p:nvSpPr>
        <p:spPr>
          <a:xfrm xmlns:a="http://schemas.openxmlformats.org/drawingml/2006/main">
            <a:off x="6096000" y="37528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圧力・壁面せん断・流れ場を用途別に構成できる</a:t>
            </a:r>
          </a:p>
        </p:txBody>
      </p:sp>
      <p:sp>
        <p:nvSpPr>
          <p:cNvPr id="22" name="">
            <a:extLst xmlns:a="http://schemas.openxmlformats.org/drawingml/2006/main">
              <a:ext uri="{FF2B5EF4-FFF2-40B4-BE49-F238E27FC236}">
                <a16:creationId xmlns:a16="http://schemas.microsoft.com/office/drawing/2014/main" id="{36A7FBAF-B970-413A-A537-C565A41F5785}"/>
              </a:ext>
            </a:extLst>
          </p:cNvPr>
          <p:cNvSpPr>
            <a:spLocks xmlns:a="http://schemas.openxmlformats.org/drawingml/2006/main" noGrp="1"/>
          </p:cNvSpPr>
          <p:nvPr/>
        </p:nvSpPr>
        <p:spPr>
          <a:xfrm xmlns:a="http://schemas.openxmlformats.org/drawingml/2006/main">
            <a:off x="590550" y="4305300"/>
            <a:ext cx="10267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3" name="">
            <a:extLst xmlns:a="http://schemas.openxmlformats.org/drawingml/2006/main">
              <a:ext uri="{FF2B5EF4-FFF2-40B4-BE49-F238E27FC236}">
                <a16:creationId xmlns:a16="http://schemas.microsoft.com/office/drawing/2014/main" id="{36BAEB23-1D7E-46F5-9B31-682087EA6BE1}"/>
              </a:ext>
            </a:extLst>
          </p:cNvPr>
          <p:cNvSpPr>
            <a:spLocks xmlns:a="http://schemas.openxmlformats.org/drawingml/2006/main" noGrp="1"/>
          </p:cNvSpPr>
          <p:nvPr/>
        </p:nvSpPr>
        <p:spPr>
          <a:xfrm xmlns:a="http://schemas.openxmlformats.org/drawingml/2006/main">
            <a:off x="590550" y="44767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decomposable global / local</a:t>
            </a:r>
          </a:p>
        </p:txBody>
      </p:sp>
      <p:sp>
        <p:nvSpPr>
          <p:cNvPr id="24" name="">
            <a:extLst xmlns:a="http://schemas.openxmlformats.org/drawingml/2006/main">
              <a:ext uri="{FF2B5EF4-FFF2-40B4-BE49-F238E27FC236}">
                <a16:creationId xmlns:a16="http://schemas.microsoft.com/office/drawing/2014/main" id="{973D88AD-1F4A-4BA2-A6B8-61731727B0EB}"/>
              </a:ext>
            </a:extLst>
          </p:cNvPr>
          <p:cNvSpPr>
            <a:spLocks xmlns:a="http://schemas.openxmlformats.org/drawingml/2006/main" noGrp="1"/>
          </p:cNvSpPr>
          <p:nvPr/>
        </p:nvSpPr>
        <p:spPr>
          <a:xfrm xmlns:a="http://schemas.openxmlformats.org/drawingml/2006/main">
            <a:off x="6096000" y="4476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共有する形状表現を多数のqueryで再利用できる</a:t>
            </a:r>
          </a:p>
        </p:txBody>
      </p:sp>
      <p:sp>
        <p:nvSpPr>
          <p:cNvPr id="25" name="">
            <a:extLst xmlns:a="http://schemas.openxmlformats.org/drawingml/2006/main">
              <a:ext uri="{FF2B5EF4-FFF2-40B4-BE49-F238E27FC236}">
                <a16:creationId xmlns:a16="http://schemas.microsoft.com/office/drawing/2014/main" id="{C34A9B4C-CE95-405F-9D86-56060E845232}"/>
              </a:ext>
            </a:extLst>
          </p:cNvPr>
          <p:cNvSpPr>
            <a:spLocks xmlns:a="http://schemas.openxmlformats.org/drawingml/2006/main" noGrp="1"/>
          </p:cNvSpPr>
          <p:nvPr/>
        </p:nvSpPr>
        <p:spPr>
          <a:xfrm xmlns:a="http://schemas.openxmlformats.org/drawingml/2006/main">
            <a:off x="590550" y="5029200"/>
            <a:ext cx="10267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6" name="">
            <a:extLst xmlns:a="http://schemas.openxmlformats.org/drawingml/2006/main">
              <a:ext uri="{FF2B5EF4-FFF2-40B4-BE49-F238E27FC236}">
                <a16:creationId xmlns:a16="http://schemas.microsoft.com/office/drawing/2014/main" id="{2F73AFEA-558F-4E75-9B18-0643E74BE192}"/>
              </a:ext>
            </a:extLst>
          </p:cNvPr>
          <p:cNvSpPr>
            <a:spLocks xmlns:a="http://schemas.openxmlformats.org/drawingml/2006/main" noGrp="1"/>
          </p:cNvSpPr>
          <p:nvPr/>
        </p:nvSpPr>
        <p:spPr>
          <a:xfrm xmlns:a="http://schemas.openxmlformats.org/drawingml/2006/main">
            <a:off x="590550" y="5391150"/>
            <a:ext cx="10267950" cy="590550"/>
          </a:xfrm>
          <a:prstGeom xmlns:a="http://schemas.openxmlformats.org/drawingml/2006/main" prst="rect">
            <a:avLst/>
          </a:prstGeom>
          <a:solidFill xmlns:a="http://schemas.openxmlformats.org/drawingml/2006/main">
            <a:srgbClr val="FFF1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A29C4F9-80F9-4D20-A43C-D14E9EF7D172}"/>
              </a:ext>
            </a:extLst>
          </p:cNvPr>
          <p:cNvSpPr>
            <a:spLocks xmlns:a="http://schemas.openxmlformats.org/drawingml/2006/main" noGrp="1"/>
          </p:cNvSpPr>
          <p:nvPr/>
        </p:nvSpPr>
        <p:spPr>
          <a:xfrm xmlns:a="http://schemas.openxmlformats.org/drawingml/2006/main">
            <a:off x="781050" y="5553075"/>
            <a:ext cx="988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C8423A"/>
                </a:solidFill>
                <a:latin typeface="Yu Gothic"/>
                <a:ea typeface="Yu Gothic"/>
                <a:cs typeface="Yu Gothic"/>
              </a:defRPr>
            </a:pPr>
            <a:r>
              <a:rPr sz="1575" b="1" i="0">
                <a:solidFill>
                  <a:srgbClr val="C8423A"/>
                </a:solidFill>
                <a:latin typeface="Yu Gothic"/>
                <a:ea typeface="Yu Gothic"/>
                <a:cs typeface="Yu Gothic"/>
              </a:rPr>
              <a:t>注意：高速推論の可能性 ≠ 学習不要。高品質CFDデータ、前処理、未知形状への検証が依然として必要。</a:t>
            </a:r>
          </a:p>
        </p:txBody>
      </p:sp>
    </p:spTree>
    <p:extLst>
      <p:ext uri="{BB962C8B-B14F-4D97-AF65-F5344CB8AC3E}">
        <p14:creationId xmlns:p14="http://schemas.microsoft.com/office/powerpoint/2010/main" val="17761504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4B85FE-49B6-4122-8286-EF6AE8BD59E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40C991-9720-4B99-BBE8-E13F0FDA5D76}"/>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EXPERIMENT SCOPE</a:t>
            </a:r>
          </a:p>
        </p:txBody>
      </p:sp>
      <p:sp>
        <p:nvSpPr>
          <p:cNvPr id="3" name="">
            <a:extLst xmlns:a="http://schemas.openxmlformats.org/drawingml/2006/main">
              <a:ext uri="{FF2B5EF4-FFF2-40B4-BE49-F238E27FC236}">
                <a16:creationId xmlns:a16="http://schemas.microsoft.com/office/drawing/2014/main" id="{1E475DC0-B178-4799-A67C-6A7CE5DFC321}"/>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13 / 32</a:t>
            </a:r>
          </a:p>
        </p:txBody>
      </p:sp>
      <p:sp>
        <p:nvSpPr>
          <p:cNvPr id="4" name="">
            <a:extLst xmlns:a="http://schemas.openxmlformats.org/drawingml/2006/main">
              <a:ext uri="{FF2B5EF4-FFF2-40B4-BE49-F238E27FC236}">
                <a16:creationId xmlns:a16="http://schemas.microsoft.com/office/drawing/2014/main" id="{FFED83FC-44F1-46A4-9F67-EAE448706DE2}"/>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AD57FEB4-295F-460C-B66E-61D90276FE50}"/>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NVIDIA PhysicsNeMo Operator API (2.1.1) | This run: docs/results/run_20260712.md | PhysicsNeMo 2.1.1</a:t>
            </a:r>
          </a:p>
        </p:txBody>
      </p:sp>
      <p:sp>
        <p:nvSpPr>
          <p:cNvPr id="6" name="">
            <a:extLst xmlns:a="http://schemas.openxmlformats.org/drawingml/2006/main">
              <a:ext uri="{FF2B5EF4-FFF2-40B4-BE49-F238E27FC236}">
                <a16:creationId xmlns:a16="http://schemas.microsoft.com/office/drawing/2014/main" id="{C4CBFC2B-5DD4-4D2B-BBF7-E81BEB029F7C}"/>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A759CC-5F80-45DB-B865-02B8F921CC8C}"/>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混合</a:t>
            </a:r>
          </a:p>
        </p:txBody>
      </p:sp>
      <p:sp>
        <p:nvSpPr>
          <p:cNvPr id="8" name="">
            <a:extLst xmlns:a="http://schemas.openxmlformats.org/drawingml/2006/main">
              <a:ext uri="{FF2B5EF4-FFF2-40B4-BE49-F238E27FC236}">
                <a16:creationId xmlns:a16="http://schemas.microsoft.com/office/drawing/2014/main" id="{6400884C-CB54-49D3-B158-4A9B752B51E0}"/>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今回はsurface-only：表面圧力だけを予測する</a:t>
            </a:r>
          </a:p>
        </p:txBody>
      </p:sp>
      <p:sp>
        <p:nvSpPr>
          <p:cNvPr id="9" name="">
            <a:extLst xmlns:a="http://schemas.openxmlformats.org/drawingml/2006/main">
              <a:ext uri="{FF2B5EF4-FFF2-40B4-BE49-F238E27FC236}">
                <a16:creationId xmlns:a16="http://schemas.microsoft.com/office/drawing/2014/main" id="{5178C86B-CF72-4629-BB9A-3E3543343428}"/>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7B2D5895-8779-4B70-8D65-14C31BAE2BCA}"/>
              </a:ext>
            </a:extLst>
          </p:cNvPr>
          <p:cNvSpPr>
            <a:spLocks xmlns:a="http://schemas.openxmlformats.org/drawingml/2006/main" noGrp="1"/>
          </p:cNvSpPr>
          <p:nvPr/>
        </p:nvSpPr>
        <p:spPr>
          <a:xfrm xmlns:a="http://schemas.openxmlformats.org/drawingml/2006/main">
            <a:off x="3676650" y="3390900"/>
            <a:ext cx="6667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1923D8DC-3B80-472E-B6AD-66FAAB8AB564}"/>
              </a:ext>
            </a:extLst>
          </p:cNvPr>
          <p:cNvSpPr>
            <a:spLocks xmlns:a="http://schemas.openxmlformats.org/drawingml/2006/main" noGrp="1"/>
          </p:cNvSpPr>
          <p:nvPr/>
        </p:nvSpPr>
        <p:spPr>
          <a:xfrm xmlns:a="http://schemas.openxmlformats.org/drawingml/2006/main">
            <a:off x="7562850" y="3390900"/>
            <a:ext cx="666750" cy="1143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715A433C-C1B1-4C13-A6CA-4CB89BB8A994}"/>
              </a:ext>
            </a:extLst>
          </p:cNvPr>
          <p:cNvSpPr>
            <a:spLocks xmlns:a="http://schemas.openxmlformats.org/drawingml/2006/main" noGrp="1"/>
          </p:cNvSpPr>
          <p:nvPr/>
        </p:nvSpPr>
        <p:spPr>
          <a:xfrm xmlns:a="http://schemas.openxmlformats.org/drawingml/2006/main">
            <a:off x="590550" y="2209800"/>
            <a:ext cx="285750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5E61ABB-0910-4982-AAB9-6C236BB98A98}"/>
              </a:ext>
            </a:extLst>
          </p:cNvPr>
          <p:cNvSpPr>
            <a:spLocks xmlns:a="http://schemas.openxmlformats.org/drawingml/2006/main" noGrp="1"/>
          </p:cNvSpPr>
          <p:nvPr/>
        </p:nvSpPr>
        <p:spPr>
          <a:xfrm xmlns:a="http://schemas.openxmlformats.org/drawingml/2006/main">
            <a:off x="590550" y="2209800"/>
            <a:ext cx="2857500" cy="76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946C392-8276-4353-AC20-373967292037}"/>
              </a:ext>
            </a:extLst>
          </p:cNvPr>
          <p:cNvSpPr>
            <a:spLocks xmlns:a="http://schemas.openxmlformats.org/drawingml/2006/main" noGrp="1"/>
          </p:cNvSpPr>
          <p:nvPr/>
        </p:nvSpPr>
        <p:spPr>
          <a:xfrm xmlns:a="http://schemas.openxmlformats.org/drawingml/2006/main">
            <a:off x="742950" y="2438400"/>
            <a:ext cx="2552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INPUT</a:t>
            </a:r>
          </a:p>
        </p:txBody>
      </p:sp>
      <p:sp>
        <p:nvSpPr>
          <p:cNvPr id="15" name="">
            <a:extLst xmlns:a="http://schemas.openxmlformats.org/drawingml/2006/main">
              <a:ext uri="{FF2B5EF4-FFF2-40B4-BE49-F238E27FC236}">
                <a16:creationId xmlns:a16="http://schemas.microsoft.com/office/drawing/2014/main" id="{1FBAEBBF-07B0-4E47-8FF9-D53B345EF3F0}"/>
              </a:ext>
            </a:extLst>
          </p:cNvPr>
          <p:cNvSpPr>
            <a:spLocks xmlns:a="http://schemas.openxmlformats.org/drawingml/2006/main" noGrp="1"/>
          </p:cNvSpPr>
          <p:nvPr/>
        </p:nvSpPr>
        <p:spPr>
          <a:xfrm xmlns:a="http://schemas.openxmlformats.org/drawingml/2006/main">
            <a:off x="742950" y="2933700"/>
            <a:ext cx="2552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surface coordinates</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normals / areas</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geometry point cloud</a:t>
            </a:r>
          </a:p>
        </p:txBody>
      </p:sp>
      <p:sp>
        <p:nvSpPr>
          <p:cNvPr id="16" name="">
            <a:extLst xmlns:a="http://schemas.openxmlformats.org/drawingml/2006/main">
              <a:ext uri="{FF2B5EF4-FFF2-40B4-BE49-F238E27FC236}">
                <a16:creationId xmlns:a16="http://schemas.microsoft.com/office/drawing/2014/main" id="{E75E396A-77AA-4D50-9186-60020F4EC691}"/>
              </a:ext>
            </a:extLst>
          </p:cNvPr>
          <p:cNvSpPr>
            <a:spLocks xmlns:a="http://schemas.openxmlformats.org/drawingml/2006/main" noGrp="1"/>
          </p:cNvSpPr>
          <p:nvPr/>
        </p:nvSpPr>
        <p:spPr>
          <a:xfrm xmlns:a="http://schemas.openxmlformats.org/drawingml/2006/main">
            <a:off x="4476750" y="2209800"/>
            <a:ext cx="285750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F5F04FE9-6182-417C-BB86-007137C69958}"/>
              </a:ext>
            </a:extLst>
          </p:cNvPr>
          <p:cNvSpPr>
            <a:spLocks xmlns:a="http://schemas.openxmlformats.org/drawingml/2006/main" noGrp="1"/>
          </p:cNvSpPr>
          <p:nvPr/>
        </p:nvSpPr>
        <p:spPr>
          <a:xfrm xmlns:a="http://schemas.openxmlformats.org/drawingml/2006/main">
            <a:off x="4476750" y="2209800"/>
            <a:ext cx="28575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3F825CF-0F3F-4888-93D2-D03288574F5C}"/>
              </a:ext>
            </a:extLst>
          </p:cNvPr>
          <p:cNvSpPr>
            <a:spLocks xmlns:a="http://schemas.openxmlformats.org/drawingml/2006/main" noGrp="1"/>
          </p:cNvSpPr>
          <p:nvPr/>
        </p:nvSpPr>
        <p:spPr>
          <a:xfrm xmlns:a="http://schemas.openxmlformats.org/drawingml/2006/main">
            <a:off x="4629150" y="2438400"/>
            <a:ext cx="2552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DoMINO</a:t>
            </a:r>
          </a:p>
        </p:txBody>
      </p:sp>
      <p:sp>
        <p:nvSpPr>
          <p:cNvPr id="19" name="">
            <a:extLst xmlns:a="http://schemas.openxmlformats.org/drawingml/2006/main">
              <a:ext uri="{FF2B5EF4-FFF2-40B4-BE49-F238E27FC236}">
                <a16:creationId xmlns:a16="http://schemas.microsoft.com/office/drawing/2014/main" id="{F33FD10A-4F8F-4E57-86B7-6FD4F23A8630}"/>
              </a:ext>
            </a:extLst>
          </p:cNvPr>
          <p:cNvSpPr>
            <a:spLocks xmlns:a="http://schemas.openxmlformats.org/drawingml/2006/main" noGrp="1"/>
          </p:cNvSpPr>
          <p:nvPr/>
        </p:nvSpPr>
        <p:spPr>
          <a:xfrm xmlns:a="http://schemas.openxmlformats.org/drawingml/2006/main">
            <a:off x="4629150" y="2933700"/>
            <a:ext cx="2552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global encoding</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local query + stencil</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shared parameters</a:t>
            </a:r>
          </a:p>
        </p:txBody>
      </p:sp>
      <p:sp>
        <p:nvSpPr>
          <p:cNvPr id="20" name="">
            <a:extLst xmlns:a="http://schemas.openxmlformats.org/drawingml/2006/main">
              <a:ext uri="{FF2B5EF4-FFF2-40B4-BE49-F238E27FC236}">
                <a16:creationId xmlns:a16="http://schemas.microsoft.com/office/drawing/2014/main" id="{38FDE15E-0349-4004-8E5B-78FD6DCF0C49}"/>
              </a:ext>
            </a:extLst>
          </p:cNvPr>
          <p:cNvSpPr>
            <a:spLocks xmlns:a="http://schemas.openxmlformats.org/drawingml/2006/main" noGrp="1"/>
          </p:cNvSpPr>
          <p:nvPr/>
        </p:nvSpPr>
        <p:spPr>
          <a:xfrm xmlns:a="http://schemas.openxmlformats.org/drawingml/2006/main">
            <a:off x="8362950" y="2209800"/>
            <a:ext cx="2857500" cy="1657350"/>
          </a:xfrm>
          <a:prstGeom xmlns:a="http://schemas.openxmlformats.org/drawingml/2006/main" prst="rect">
            <a:avLst/>
          </a:prstGeom>
          <a:solidFill xmlns:a="http://schemas.openxmlformats.org/drawingml/2006/main">
            <a:srgbClr val="F1F3F5"/>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27BCA0FB-FBCF-459C-A9D2-FDB76ED7C6F4}"/>
              </a:ext>
            </a:extLst>
          </p:cNvPr>
          <p:cNvSpPr>
            <a:spLocks xmlns:a="http://schemas.openxmlformats.org/drawingml/2006/main" noGrp="1"/>
          </p:cNvSpPr>
          <p:nvPr/>
        </p:nvSpPr>
        <p:spPr>
          <a:xfrm xmlns:a="http://schemas.openxmlformats.org/drawingml/2006/main">
            <a:off x="8362950" y="2209800"/>
            <a:ext cx="2857500" cy="76200"/>
          </a:xfrm>
          <a:prstGeom xmlns:a="http://schemas.openxmlformats.org/drawingml/2006/main" prst="rect">
            <a:avLst/>
          </a:prstGeom>
          <a:solidFill xmlns:a="http://schemas.openxmlformats.org/drawingml/2006/main">
            <a:srgbClr val="76B9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372E193-8414-4AED-B09A-2C5A2BFDD6D6}"/>
              </a:ext>
            </a:extLst>
          </p:cNvPr>
          <p:cNvSpPr>
            <a:spLocks xmlns:a="http://schemas.openxmlformats.org/drawingml/2006/main" noGrp="1"/>
          </p:cNvSpPr>
          <p:nvPr/>
        </p:nvSpPr>
        <p:spPr>
          <a:xfrm xmlns:a="http://schemas.openxmlformats.org/drawingml/2006/main">
            <a:off x="8515350" y="2438400"/>
            <a:ext cx="2552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OUTPUT</a:t>
            </a:r>
          </a:p>
        </p:txBody>
      </p:sp>
      <p:sp>
        <p:nvSpPr>
          <p:cNvPr id="23" name="">
            <a:extLst xmlns:a="http://schemas.openxmlformats.org/drawingml/2006/main">
              <a:ext uri="{FF2B5EF4-FFF2-40B4-BE49-F238E27FC236}">
                <a16:creationId xmlns:a16="http://schemas.microsoft.com/office/drawing/2014/main" id="{01B6F9A4-31D3-4E85-A933-6964B172BFBB}"/>
              </a:ext>
            </a:extLst>
          </p:cNvPr>
          <p:cNvSpPr>
            <a:spLocks xmlns:a="http://schemas.openxmlformats.org/drawingml/2006/main" noGrp="1"/>
          </p:cNvSpPr>
          <p:nvPr/>
        </p:nvSpPr>
        <p:spPr>
          <a:xfrm xmlns:a="http://schemas.openxmlformats.org/drawingml/2006/main">
            <a:off x="8515350" y="2933700"/>
            <a:ext cx="2552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surface pressure p(x)</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8,192 query points</a:t>
            </a:r>
          </a:p>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held-out geometry</a:t>
            </a:r>
          </a:p>
        </p:txBody>
      </p:sp>
      <p:sp>
        <p:nvSpPr>
          <p:cNvPr id="24" name="">
            <a:extLst xmlns:a="http://schemas.openxmlformats.org/drawingml/2006/main">
              <a:ext uri="{FF2B5EF4-FFF2-40B4-BE49-F238E27FC236}">
                <a16:creationId xmlns:a16="http://schemas.microsoft.com/office/drawing/2014/main" id="{C4A01217-4C83-4784-8F9D-A3683BCC3985}"/>
              </a:ext>
            </a:extLst>
          </p:cNvPr>
          <p:cNvSpPr>
            <a:spLocks xmlns:a="http://schemas.openxmlformats.org/drawingml/2006/main" noGrp="1"/>
          </p:cNvSpPr>
          <p:nvPr/>
        </p:nvSpPr>
        <p:spPr>
          <a:xfrm xmlns:a="http://schemas.openxmlformats.org/drawingml/2006/main">
            <a:off x="590550" y="4476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4F7D00"/>
                </a:solidFill>
                <a:latin typeface="Consolas"/>
                <a:ea typeface="Consolas"/>
                <a:cs typeface="Consolas"/>
              </a:defRPr>
            </a:pPr>
            <a:r>
              <a:rPr sz="1350" b="1" i="0">
                <a:solidFill>
                  <a:srgbClr val="4F7D00"/>
                </a:solidFill>
                <a:latin typeface="Consolas"/>
                <a:ea typeface="Consolas"/>
                <a:cs typeface="Consolas"/>
              </a:rPr>
              <a:t>含める</a:t>
            </a:r>
          </a:p>
        </p:txBody>
      </p:sp>
      <p:sp>
        <p:nvSpPr>
          <p:cNvPr id="25" name="">
            <a:extLst xmlns:a="http://schemas.openxmlformats.org/drawingml/2006/main">
              <a:ext uri="{FF2B5EF4-FFF2-40B4-BE49-F238E27FC236}">
                <a16:creationId xmlns:a16="http://schemas.microsoft.com/office/drawing/2014/main" id="{8FBE7D62-4F22-452D-A0B9-99FBC1C0E860}"/>
              </a:ext>
            </a:extLst>
          </p:cNvPr>
          <p:cNvSpPr>
            <a:spLocks xmlns:a="http://schemas.openxmlformats.org/drawingml/2006/main" noGrp="1"/>
          </p:cNvSpPr>
          <p:nvPr/>
        </p:nvSpPr>
        <p:spPr>
          <a:xfrm xmlns:a="http://schemas.openxmlformats.org/drawingml/2006/main">
            <a:off x="590550" y="48577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111827"/>
                </a:solidFill>
                <a:latin typeface="Yu Gothic"/>
                <a:ea typeface="Yu Gothic"/>
                <a:cs typeface="Yu Gothic"/>
              </a:defRPr>
            </a:pPr>
            <a:r>
              <a:rPr sz="1575" b="1" i="0">
                <a:solidFill>
                  <a:srgbClr val="111827"/>
                </a:solidFill>
                <a:latin typeface="Yu Gothic"/>
                <a:ea typeface="Yu Gothic"/>
                <a:cs typeface="Yu Gothic"/>
              </a:rPr>
              <a:t>実DoMINOクラス / 実表面データ / forward &amp; backward / 未学習形状評価</a:t>
            </a:r>
          </a:p>
        </p:txBody>
      </p:sp>
      <p:sp>
        <p:nvSpPr>
          <p:cNvPr id="26" name="">
            <a:extLst xmlns:a="http://schemas.openxmlformats.org/drawingml/2006/main">
              <a:ext uri="{FF2B5EF4-FFF2-40B4-BE49-F238E27FC236}">
                <a16:creationId xmlns:a16="http://schemas.microsoft.com/office/drawing/2014/main" id="{1D60DAED-EEC3-4B5E-8CCE-9D8B7824E14E}"/>
              </a:ext>
            </a:extLst>
          </p:cNvPr>
          <p:cNvSpPr>
            <a:spLocks xmlns:a="http://schemas.openxmlformats.org/drawingml/2006/main" noGrp="1"/>
          </p:cNvSpPr>
          <p:nvPr/>
        </p:nvSpPr>
        <p:spPr>
          <a:xfrm xmlns:a="http://schemas.openxmlformats.org/drawingml/2006/main">
            <a:off x="590550" y="5467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C8423A"/>
                </a:solidFill>
                <a:latin typeface="Consolas"/>
                <a:ea typeface="Consolas"/>
                <a:cs typeface="Consolas"/>
              </a:defRPr>
            </a:pPr>
            <a:r>
              <a:rPr sz="1350" b="1" i="0">
                <a:solidFill>
                  <a:srgbClr val="C8423A"/>
                </a:solidFill>
                <a:latin typeface="Consolas"/>
                <a:ea typeface="Consolas"/>
                <a:cs typeface="Consolas"/>
              </a:rPr>
              <a:t>含めない</a:t>
            </a:r>
          </a:p>
        </p:txBody>
      </p:sp>
      <p:sp>
        <p:nvSpPr>
          <p:cNvPr id="27" name="">
            <a:extLst xmlns:a="http://schemas.openxmlformats.org/drawingml/2006/main">
              <a:ext uri="{FF2B5EF4-FFF2-40B4-BE49-F238E27FC236}">
                <a16:creationId xmlns:a16="http://schemas.microsoft.com/office/drawing/2014/main" id="{FA93B7D5-F7DE-4904-8FB8-809C40F2F084}"/>
              </a:ext>
            </a:extLst>
          </p:cNvPr>
          <p:cNvSpPr>
            <a:spLocks xmlns:a="http://schemas.openxmlformats.org/drawingml/2006/main" noGrp="1"/>
          </p:cNvSpPr>
          <p:nvPr/>
        </p:nvSpPr>
        <p:spPr>
          <a:xfrm xmlns:a="http://schemas.openxmlformats.org/drawingml/2006/main">
            <a:off x="2095500" y="5467350"/>
            <a:ext cx="8782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i="0">
                <a:solidFill>
                  <a:srgbClr val="5B6472"/>
                </a:solidFill>
                <a:latin typeface="Yu Gothic"/>
                <a:ea typeface="Yu Gothic"/>
                <a:cs typeface="Yu Gothic"/>
              </a:defRPr>
            </a:pPr>
            <a:r>
              <a:rPr sz="1575" b="0" i="0">
                <a:solidFill>
                  <a:srgbClr val="5B6472"/>
                </a:solidFill>
                <a:latin typeface="Yu Gothic"/>
                <a:ea typeface="Yu Gothic"/>
                <a:cs typeface="Yu Gothic"/>
              </a:rPr>
              <a:t>体積速度場 / 壁面せん断 / 抗力・揚力 / フルスケール公式条件</a:t>
            </a:r>
          </a:p>
        </p:txBody>
      </p:sp>
    </p:spTree>
    <p:extLst>
      <p:ext uri="{BB962C8B-B14F-4D97-AF65-F5344CB8AC3E}">
        <p14:creationId xmlns:p14="http://schemas.microsoft.com/office/powerpoint/2010/main" val="207066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7CB7E4-DC35-492B-A1DE-E9E4D7112C3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C2F0BB-BE0A-47CE-AC61-9372FE0E34C2}"/>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ARCHITECTURE IN THE RUN</a:t>
            </a:r>
          </a:p>
        </p:txBody>
      </p:sp>
      <p:sp>
        <p:nvSpPr>
          <p:cNvPr id="3" name="">
            <a:extLst xmlns:a="http://schemas.openxmlformats.org/drawingml/2006/main">
              <a:ext uri="{FF2B5EF4-FFF2-40B4-BE49-F238E27FC236}">
                <a16:creationId xmlns:a16="http://schemas.microsoft.com/office/drawing/2014/main" id="{C6A8D55B-857C-4906-B1E3-FB30807B9B24}"/>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14 / 32</a:t>
            </a:r>
          </a:p>
        </p:txBody>
      </p:sp>
      <p:sp>
        <p:nvSpPr>
          <p:cNvPr id="4" name="">
            <a:extLst xmlns:a="http://schemas.openxmlformats.org/drawingml/2006/main">
              <a:ext uri="{FF2B5EF4-FFF2-40B4-BE49-F238E27FC236}">
                <a16:creationId xmlns:a16="http://schemas.microsoft.com/office/drawing/2014/main" id="{EEC2A04A-825E-4C49-BCB3-B9E2938D4CD0}"/>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3CF88A7F-03A3-414D-9E86-6D7911815A62}"/>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15F13E66-B92B-4310-B3DC-57C2FD7058D4}"/>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46FEC1-383B-4538-BBF8-105DCE6421C3}"/>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71B4E880-7816-42B2-9F02-EC462009241A}"/>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local stencilは、query点に周囲の形状文脈を与える</a:t>
            </a:r>
          </a:p>
        </p:txBody>
      </p:sp>
      <p:sp>
        <p:nvSpPr>
          <p:cNvPr id="9" name="">
            <a:extLst xmlns:a="http://schemas.openxmlformats.org/drawingml/2006/main">
              <a:ext uri="{FF2B5EF4-FFF2-40B4-BE49-F238E27FC236}">
                <a16:creationId xmlns:a16="http://schemas.microsoft.com/office/drawing/2014/main" id="{11F91E3A-494E-4401-BAEC-84E5D2766313}"/>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56F66C5F-5CE1-4683-AA3F-2680C97FB507}"/>
              </a:ext>
            </a:extLst>
          </p:cNvPr>
          <p:cNvSpPr>
            <a:spLocks xmlns:a="http://schemas.openxmlformats.org/drawingml/2006/main" noGrp="1"/>
          </p:cNvSpPr>
          <p:nvPr/>
        </p:nvSpPr>
        <p:spPr>
          <a:xfrm xmlns:a="http://schemas.openxmlformats.org/drawingml/2006/main">
            <a:off x="590550" y="195262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緑：query点</a:t>
            </a:r>
          </a:p>
          <a:p xmlns:a="http://schemas.openxmlformats.org/drawingml/2006/main">
            <a:pPr algn="l">
              <a:lnSpc>
                <a:spcPct val="13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橙：近傍3点</a:t>
            </a:r>
          </a:p>
        </p:txBody>
      </p:sp>
      <p:sp>
        <p:nvSpPr>
          <p:cNvPr id="11" name="">
            <a:extLst xmlns:a="http://schemas.openxmlformats.org/drawingml/2006/main">
              <a:ext uri="{FF2B5EF4-FFF2-40B4-BE49-F238E27FC236}">
                <a16:creationId xmlns:a16="http://schemas.microsoft.com/office/drawing/2014/main" id="{A2B62A0B-28EB-443D-B9B1-40A92947393C}"/>
              </a:ext>
            </a:extLst>
          </p:cNvPr>
          <p:cNvSpPr>
            <a:spLocks xmlns:a="http://schemas.openxmlformats.org/drawingml/2006/main" noGrp="1"/>
          </p:cNvSpPr>
          <p:nvPr/>
        </p:nvSpPr>
        <p:spPr>
          <a:xfrm xmlns:a="http://schemas.openxmlformats.org/drawingml/2006/main">
            <a:off x="590550" y="3048000"/>
            <a:ext cx="30480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2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 global表現を参照</a:t>
            </a:r>
          </a:p>
          <a:p xmlns:a="http://schemas.openxmlformats.org/drawingml/2006/main">
            <a:pPr algn="l">
              <a:lnSpc>
                <a:spcPct val="142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 query周辺を切り出す</a:t>
            </a:r>
          </a:p>
          <a:p xmlns:a="http://schemas.openxmlformats.org/drawingml/2006/main">
            <a:pPr algn="l">
              <a:lnSpc>
                <a:spcPct val="142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 位置・法線・面積を集約</a:t>
            </a:r>
          </a:p>
          <a:p xmlns:a="http://schemas.openxmlformats.org/drawingml/2006/main">
            <a:pPr algn="l">
              <a:lnSpc>
                <a:spcPct val="142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 点ごとの圧力へ接続</a:t>
            </a:r>
          </a:p>
        </p:txBody>
      </p:sp>
      <p:sp>
        <p:nvSpPr>
          <p:cNvPr id="12" name="">
            <a:extLst xmlns:a="http://schemas.openxmlformats.org/drawingml/2006/main">
              <a:ext uri="{FF2B5EF4-FFF2-40B4-BE49-F238E27FC236}">
                <a16:creationId xmlns:a16="http://schemas.microsoft.com/office/drawing/2014/main" id="{AACF2832-9F22-4FFF-9AA9-D2610FD37CD3}"/>
              </a:ext>
            </a:extLst>
          </p:cNvPr>
          <p:cNvSpPr>
            <a:spLocks xmlns:a="http://schemas.openxmlformats.org/drawingml/2006/main" noGrp="1"/>
          </p:cNvSpPr>
          <p:nvPr/>
        </p:nvSpPr>
        <p:spPr>
          <a:xfrm xmlns:a="http://schemas.openxmlformats.org/drawingml/2006/main">
            <a:off x="3905250" y="1619250"/>
            <a:ext cx="7315200" cy="440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894c41e4846455e"/>
          <a:stretch xmlns:a="http://schemas.openxmlformats.org/drawingml/2006/main"/>
        </p:blipFill>
        <p:spPr>
          <a:xfrm xmlns:a="http://schemas.openxmlformats.org/drawingml/2006/main">
            <a:off x="3905250" y="1762125"/>
            <a:ext cx="7315200" cy="4114800"/>
          </a:xfrm>
          <a:prstGeom xmlns:a="http://schemas.openxmlformats.org/drawingml/2006/main" prst="rect">
            <a:avLst/>
          </a:prstGeom>
        </p:spPr>
      </p:pic>
    </p:spTree>
    <p:extLst>
      <p:ext uri="{BB962C8B-B14F-4D97-AF65-F5344CB8AC3E}">
        <p14:creationId xmlns:p14="http://schemas.microsoft.com/office/powerpoint/2010/main" val="16218204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11C7E1-AE5E-4C76-9D4C-99C191AEEA5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5ADD74-9FA1-4DE6-BB52-DB4A6324BDDD}"/>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EXPERIMENTAL DESIGN</a:t>
            </a:r>
          </a:p>
        </p:txBody>
      </p:sp>
      <p:sp>
        <p:nvSpPr>
          <p:cNvPr id="3" name="">
            <a:extLst xmlns:a="http://schemas.openxmlformats.org/drawingml/2006/main">
              <a:ext uri="{FF2B5EF4-FFF2-40B4-BE49-F238E27FC236}">
                <a16:creationId xmlns:a16="http://schemas.microsoft.com/office/drawing/2014/main" id="{14355D75-A27A-4AB5-AB18-33975E17A390}"/>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15 / 32</a:t>
            </a:r>
          </a:p>
        </p:txBody>
      </p:sp>
      <p:sp>
        <p:nvSpPr>
          <p:cNvPr id="4" name="">
            <a:extLst xmlns:a="http://schemas.openxmlformats.org/drawingml/2006/main">
              <a:ext uri="{FF2B5EF4-FFF2-40B4-BE49-F238E27FC236}">
                <a16:creationId xmlns:a16="http://schemas.microsoft.com/office/drawing/2014/main" id="{BCCC8919-6587-4F71-A4BD-C0D41F494C52}"/>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95319F3C-5C6E-473F-BE03-DA9BA845E5E7}"/>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6CD89CE7-2424-4467-A00B-1C6A8085FEF2}"/>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E25D10-ADE1-4AAC-BE41-14AC382A8C83}"/>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20868B64-4B1C-44E6-8AC4-7FEC2F8FE80E}"/>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14形状を10 / 2 / 2に分け、未知2形状で評価</a:t>
            </a:r>
          </a:p>
        </p:txBody>
      </p:sp>
      <p:sp>
        <p:nvSpPr>
          <p:cNvPr id="9" name="">
            <a:extLst xmlns:a="http://schemas.openxmlformats.org/drawingml/2006/main">
              <a:ext uri="{FF2B5EF4-FFF2-40B4-BE49-F238E27FC236}">
                <a16:creationId xmlns:a16="http://schemas.microsoft.com/office/drawing/2014/main" id="{7065655B-2884-4943-B0B3-C1C8B87CB900}"/>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B7F28045-E835-47E5-A47D-8A75DD816409}"/>
              </a:ext>
            </a:extLst>
          </p:cNvPr>
          <p:cNvSpPr>
            <a:spLocks xmlns:a="http://schemas.openxmlformats.org/drawingml/2006/main" noGrp="1"/>
          </p:cNvSpPr>
          <p:nvPr/>
        </p:nvSpPr>
        <p:spPr>
          <a:xfrm xmlns:a="http://schemas.openxmlformats.org/drawingml/2006/main">
            <a:off x="590550" y="1809750"/>
            <a:ext cx="28575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11" name="">
            <a:extLst xmlns:a="http://schemas.openxmlformats.org/drawingml/2006/main">
              <a:ext uri="{FF2B5EF4-FFF2-40B4-BE49-F238E27FC236}">
                <a16:creationId xmlns:a16="http://schemas.microsoft.com/office/drawing/2014/main" id="{7BE8228B-F3F1-4D84-B76C-1D1467E05928}"/>
              </a:ext>
            </a:extLst>
          </p:cNvPr>
          <p:cNvSpPr>
            <a:spLocks xmlns:a="http://schemas.openxmlformats.org/drawingml/2006/main" noGrp="1"/>
          </p:cNvSpPr>
          <p:nvPr/>
        </p:nvSpPr>
        <p:spPr>
          <a:xfrm xmlns:a="http://schemas.openxmlformats.org/drawingml/2006/main">
            <a:off x="590550" y="19716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600" b="1" i="0">
                <a:solidFill>
                  <a:srgbClr val="3D8DFF"/>
                </a:solidFill>
                <a:latin typeface="Consolas"/>
                <a:ea typeface="Consolas"/>
                <a:cs typeface="Consolas"/>
              </a:defRPr>
            </a:pPr>
            <a:r>
              <a:rPr sz="3600" b="1" i="0">
                <a:solidFill>
                  <a:srgbClr val="3D8DFF"/>
                </a:solidFill>
                <a:latin typeface="Consolas"/>
                <a:ea typeface="Consolas"/>
                <a:cs typeface="Consolas"/>
              </a:rPr>
              <a:t>10</a:t>
            </a:r>
          </a:p>
        </p:txBody>
      </p:sp>
      <p:sp>
        <p:nvSpPr>
          <p:cNvPr id="12" name="">
            <a:extLst xmlns:a="http://schemas.openxmlformats.org/drawingml/2006/main">
              <a:ext uri="{FF2B5EF4-FFF2-40B4-BE49-F238E27FC236}">
                <a16:creationId xmlns:a16="http://schemas.microsoft.com/office/drawing/2014/main" id="{66D55642-900F-4A8B-8D34-E80555C467A8}"/>
              </a:ext>
            </a:extLst>
          </p:cNvPr>
          <p:cNvSpPr>
            <a:spLocks xmlns:a="http://schemas.openxmlformats.org/drawingml/2006/main" noGrp="1"/>
          </p:cNvSpPr>
          <p:nvPr/>
        </p:nvSpPr>
        <p:spPr>
          <a:xfrm xmlns:a="http://schemas.openxmlformats.org/drawingml/2006/main">
            <a:off x="590550" y="2562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training shapes</a:t>
            </a:r>
          </a:p>
        </p:txBody>
      </p:sp>
      <p:sp>
        <p:nvSpPr>
          <p:cNvPr id="13" name="">
            <a:extLst xmlns:a="http://schemas.openxmlformats.org/drawingml/2006/main">
              <a:ext uri="{FF2B5EF4-FFF2-40B4-BE49-F238E27FC236}">
                <a16:creationId xmlns:a16="http://schemas.microsoft.com/office/drawing/2014/main" id="{8DF1AF06-6880-4947-9296-5F78B0C18361}"/>
              </a:ext>
            </a:extLst>
          </p:cNvPr>
          <p:cNvSpPr>
            <a:spLocks xmlns:a="http://schemas.openxmlformats.org/drawingml/2006/main" noGrp="1"/>
          </p:cNvSpPr>
          <p:nvPr/>
        </p:nvSpPr>
        <p:spPr>
          <a:xfrm xmlns:a="http://schemas.openxmlformats.org/drawingml/2006/main">
            <a:off x="590550" y="28956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学習対象の車体形状</a:t>
            </a:r>
          </a:p>
        </p:txBody>
      </p:sp>
      <p:sp>
        <p:nvSpPr>
          <p:cNvPr id="14" name="">
            <a:extLst xmlns:a="http://schemas.openxmlformats.org/drawingml/2006/main">
              <a:ext uri="{FF2B5EF4-FFF2-40B4-BE49-F238E27FC236}">
                <a16:creationId xmlns:a16="http://schemas.microsoft.com/office/drawing/2014/main" id="{83A93B4E-B7E0-4704-8F8F-4C0BFF34CF70}"/>
              </a:ext>
            </a:extLst>
          </p:cNvPr>
          <p:cNvSpPr>
            <a:spLocks xmlns:a="http://schemas.openxmlformats.org/drawingml/2006/main" noGrp="1"/>
          </p:cNvSpPr>
          <p:nvPr/>
        </p:nvSpPr>
        <p:spPr>
          <a:xfrm xmlns:a="http://schemas.openxmlformats.org/drawingml/2006/main">
            <a:off x="3829050" y="1809750"/>
            <a:ext cx="2857500" cy="0"/>
          </a:xfrm>
          <a:prstGeom xmlns:a="http://schemas.openxmlformats.org/drawingml/2006/main" prst="line">
            <a:avLst/>
          </a:prstGeom>
          <a:noFill xmlns:a="http://schemas.openxmlformats.org/drawingml/2006/main"/>
          <a:ln xmlns:a="http://schemas.openxmlformats.org/drawingml/2006/main" w="38100">
            <a:solidFill>
              <a:srgbClr val="F58220"/>
            </a:solidFill>
            <a:prstDash val="solid"/>
          </a:ln>
        </p:spPr>
      </p:sp>
      <p:sp>
        <p:nvSpPr>
          <p:cNvPr id="15" name="">
            <a:extLst xmlns:a="http://schemas.openxmlformats.org/drawingml/2006/main">
              <a:ext uri="{FF2B5EF4-FFF2-40B4-BE49-F238E27FC236}">
                <a16:creationId xmlns:a16="http://schemas.microsoft.com/office/drawing/2014/main" id="{0529FB6E-A905-4AEA-B219-3EE47AC47AB4}"/>
              </a:ext>
            </a:extLst>
          </p:cNvPr>
          <p:cNvSpPr>
            <a:spLocks xmlns:a="http://schemas.openxmlformats.org/drawingml/2006/main" noGrp="1"/>
          </p:cNvSpPr>
          <p:nvPr/>
        </p:nvSpPr>
        <p:spPr>
          <a:xfrm xmlns:a="http://schemas.openxmlformats.org/drawingml/2006/main">
            <a:off x="3829050" y="19716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600" b="1" i="0">
                <a:solidFill>
                  <a:srgbClr val="F58220"/>
                </a:solidFill>
                <a:latin typeface="Consolas"/>
                <a:ea typeface="Consolas"/>
                <a:cs typeface="Consolas"/>
              </a:defRPr>
            </a:pPr>
            <a:r>
              <a:rPr sz="3600" b="1" i="0">
                <a:solidFill>
                  <a:srgbClr val="F58220"/>
                </a:solidFill>
                <a:latin typeface="Consolas"/>
                <a:ea typeface="Consolas"/>
                <a:cs typeface="Consolas"/>
              </a:rPr>
              <a:t>2</a:t>
            </a:r>
          </a:p>
        </p:txBody>
      </p:sp>
      <p:sp>
        <p:nvSpPr>
          <p:cNvPr id="16" name="">
            <a:extLst xmlns:a="http://schemas.openxmlformats.org/drawingml/2006/main">
              <a:ext uri="{FF2B5EF4-FFF2-40B4-BE49-F238E27FC236}">
                <a16:creationId xmlns:a16="http://schemas.microsoft.com/office/drawing/2014/main" id="{B3DF4C19-9514-49DF-A26B-A4B682AE7478}"/>
              </a:ext>
            </a:extLst>
          </p:cNvPr>
          <p:cNvSpPr>
            <a:spLocks xmlns:a="http://schemas.openxmlformats.org/drawingml/2006/main" noGrp="1"/>
          </p:cNvSpPr>
          <p:nvPr/>
        </p:nvSpPr>
        <p:spPr>
          <a:xfrm xmlns:a="http://schemas.openxmlformats.org/drawingml/2006/main">
            <a:off x="3829050" y="2562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validation shapes</a:t>
            </a:r>
          </a:p>
        </p:txBody>
      </p:sp>
      <p:sp>
        <p:nvSpPr>
          <p:cNvPr id="17" name="">
            <a:extLst xmlns:a="http://schemas.openxmlformats.org/drawingml/2006/main">
              <a:ext uri="{FF2B5EF4-FFF2-40B4-BE49-F238E27FC236}">
                <a16:creationId xmlns:a16="http://schemas.microsoft.com/office/drawing/2014/main" id="{15776D54-8B66-445B-918E-6DCAEA37A7E2}"/>
              </a:ext>
            </a:extLst>
          </p:cNvPr>
          <p:cNvSpPr>
            <a:spLocks xmlns:a="http://schemas.openxmlformats.org/drawingml/2006/main" noGrp="1"/>
          </p:cNvSpPr>
          <p:nvPr/>
        </p:nvSpPr>
        <p:spPr>
          <a:xfrm xmlns:a="http://schemas.openxmlformats.org/drawingml/2006/main">
            <a:off x="3829050" y="28956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分割は確保。ただし曲線は未保存</a:t>
            </a:r>
          </a:p>
        </p:txBody>
      </p:sp>
      <p:sp>
        <p:nvSpPr>
          <p:cNvPr id="18" name="">
            <a:extLst xmlns:a="http://schemas.openxmlformats.org/drawingml/2006/main">
              <a:ext uri="{FF2B5EF4-FFF2-40B4-BE49-F238E27FC236}">
                <a16:creationId xmlns:a16="http://schemas.microsoft.com/office/drawing/2014/main" id="{BD7A7EB8-BF07-4CBD-96E0-B44E3AF8A89E}"/>
              </a:ext>
            </a:extLst>
          </p:cNvPr>
          <p:cNvSpPr>
            <a:spLocks xmlns:a="http://schemas.openxmlformats.org/drawingml/2006/main" noGrp="1"/>
          </p:cNvSpPr>
          <p:nvPr/>
        </p:nvSpPr>
        <p:spPr>
          <a:xfrm xmlns:a="http://schemas.openxmlformats.org/drawingml/2006/main">
            <a:off x="7067550" y="1809750"/>
            <a:ext cx="2857500" cy="0"/>
          </a:xfrm>
          <a:prstGeom xmlns:a="http://schemas.openxmlformats.org/drawingml/2006/main" prst="line">
            <a:avLst/>
          </a:prstGeom>
          <a:noFill xmlns:a="http://schemas.openxmlformats.org/drawingml/2006/main"/>
          <a:ln xmlns:a="http://schemas.openxmlformats.org/drawingml/2006/main" w="38100">
            <a:solidFill>
              <a:srgbClr val="4F7D00"/>
            </a:solidFill>
            <a:prstDash val="solid"/>
          </a:ln>
        </p:spPr>
      </p:sp>
      <p:sp>
        <p:nvSpPr>
          <p:cNvPr id="19" name="">
            <a:extLst xmlns:a="http://schemas.openxmlformats.org/drawingml/2006/main">
              <a:ext uri="{FF2B5EF4-FFF2-40B4-BE49-F238E27FC236}">
                <a16:creationId xmlns:a16="http://schemas.microsoft.com/office/drawing/2014/main" id="{7DA3D1B8-4073-4C17-AAF9-16592BAA6385}"/>
              </a:ext>
            </a:extLst>
          </p:cNvPr>
          <p:cNvSpPr>
            <a:spLocks xmlns:a="http://schemas.openxmlformats.org/drawingml/2006/main" noGrp="1"/>
          </p:cNvSpPr>
          <p:nvPr/>
        </p:nvSpPr>
        <p:spPr>
          <a:xfrm xmlns:a="http://schemas.openxmlformats.org/drawingml/2006/main">
            <a:off x="7067550" y="19716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600" b="1" i="0">
                <a:solidFill>
                  <a:srgbClr val="4F7D00"/>
                </a:solidFill>
                <a:latin typeface="Consolas"/>
                <a:ea typeface="Consolas"/>
                <a:cs typeface="Consolas"/>
              </a:defRPr>
            </a:pPr>
            <a:r>
              <a:rPr sz="3600" b="1" i="0">
                <a:solidFill>
                  <a:srgbClr val="4F7D00"/>
                </a:solidFill>
                <a:latin typeface="Consolas"/>
                <a:ea typeface="Consolas"/>
                <a:cs typeface="Consolas"/>
              </a:rPr>
              <a:t>2</a:t>
            </a:r>
          </a:p>
        </p:txBody>
      </p:sp>
      <p:sp>
        <p:nvSpPr>
          <p:cNvPr id="20" name="">
            <a:extLst xmlns:a="http://schemas.openxmlformats.org/drawingml/2006/main">
              <a:ext uri="{FF2B5EF4-FFF2-40B4-BE49-F238E27FC236}">
                <a16:creationId xmlns:a16="http://schemas.microsoft.com/office/drawing/2014/main" id="{074E9047-B7F3-4566-A52E-1567137C92CA}"/>
              </a:ext>
            </a:extLst>
          </p:cNvPr>
          <p:cNvSpPr>
            <a:spLocks xmlns:a="http://schemas.openxmlformats.org/drawingml/2006/main" noGrp="1"/>
          </p:cNvSpPr>
          <p:nvPr/>
        </p:nvSpPr>
        <p:spPr>
          <a:xfrm xmlns:a="http://schemas.openxmlformats.org/drawingml/2006/main">
            <a:off x="7067550" y="2562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held-out test</a:t>
            </a:r>
          </a:p>
        </p:txBody>
      </p:sp>
      <p:sp>
        <p:nvSpPr>
          <p:cNvPr id="21" name="">
            <a:extLst xmlns:a="http://schemas.openxmlformats.org/drawingml/2006/main">
              <a:ext uri="{FF2B5EF4-FFF2-40B4-BE49-F238E27FC236}">
                <a16:creationId xmlns:a16="http://schemas.microsoft.com/office/drawing/2014/main" id="{98509E02-595C-4B0E-B1F4-47A3503EABF7}"/>
              </a:ext>
            </a:extLst>
          </p:cNvPr>
          <p:cNvSpPr>
            <a:spLocks xmlns:a="http://schemas.openxmlformats.org/drawingml/2006/main" noGrp="1"/>
          </p:cNvSpPr>
          <p:nvPr/>
        </p:nvSpPr>
        <p:spPr>
          <a:xfrm xmlns:a="http://schemas.openxmlformats.org/drawingml/2006/main">
            <a:off x="7067550" y="28956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case 43 / 63</a:t>
            </a:r>
          </a:p>
        </p:txBody>
      </p:sp>
      <p:sp>
        <p:nvSpPr>
          <p:cNvPr id="22" name="">
            <a:extLst xmlns:a="http://schemas.openxmlformats.org/drawingml/2006/main">
              <a:ext uri="{FF2B5EF4-FFF2-40B4-BE49-F238E27FC236}">
                <a16:creationId xmlns:a16="http://schemas.microsoft.com/office/drawing/2014/main" id="{84124C00-502B-4DFD-8ADA-4F91A6544561}"/>
              </a:ext>
            </a:extLst>
          </p:cNvPr>
          <p:cNvSpPr>
            <a:spLocks xmlns:a="http://schemas.openxmlformats.org/drawingml/2006/main" noGrp="1"/>
          </p:cNvSpPr>
          <p:nvPr/>
        </p:nvSpPr>
        <p:spPr>
          <a:xfrm xmlns:a="http://schemas.openxmlformats.org/drawingml/2006/main">
            <a:off x="590550" y="40957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surface query points</a:t>
            </a:r>
          </a:p>
        </p:txBody>
      </p:sp>
      <p:sp>
        <p:nvSpPr>
          <p:cNvPr id="23" name="">
            <a:extLst xmlns:a="http://schemas.openxmlformats.org/drawingml/2006/main">
              <a:ext uri="{FF2B5EF4-FFF2-40B4-BE49-F238E27FC236}">
                <a16:creationId xmlns:a16="http://schemas.microsoft.com/office/drawing/2014/main" id="{3FD1FA62-D510-4AED-A952-E576F36D54D5}"/>
              </a:ext>
            </a:extLst>
          </p:cNvPr>
          <p:cNvSpPr>
            <a:spLocks xmlns:a="http://schemas.openxmlformats.org/drawingml/2006/main" noGrp="1"/>
          </p:cNvSpPr>
          <p:nvPr/>
        </p:nvSpPr>
        <p:spPr>
          <a:xfrm xmlns:a="http://schemas.openxmlformats.org/drawingml/2006/main">
            <a:off x="5143500" y="4095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8,192 / shape</a:t>
            </a:r>
          </a:p>
        </p:txBody>
      </p:sp>
      <p:sp>
        <p:nvSpPr>
          <p:cNvPr id="24" name="">
            <a:extLst xmlns:a="http://schemas.openxmlformats.org/drawingml/2006/main">
              <a:ext uri="{FF2B5EF4-FFF2-40B4-BE49-F238E27FC236}">
                <a16:creationId xmlns:a16="http://schemas.microsoft.com/office/drawing/2014/main" id="{39ADAB6F-0BFA-4A68-ADF0-E2F095211EAE}"/>
              </a:ext>
            </a:extLst>
          </p:cNvPr>
          <p:cNvSpPr>
            <a:spLocks xmlns:a="http://schemas.openxmlformats.org/drawingml/2006/main" noGrp="1"/>
          </p:cNvSpPr>
          <p:nvPr/>
        </p:nvSpPr>
        <p:spPr>
          <a:xfrm xmlns:a="http://schemas.openxmlformats.org/drawingml/2006/main">
            <a:off x="590550" y="4381500"/>
            <a:ext cx="9334500" cy="0"/>
          </a:xfrm>
          <a:prstGeom xmlns:a="http://schemas.openxmlformats.org/drawingml/2006/main" prst="line">
            <a:avLst/>
          </a:prstGeom>
          <a:noFill xmlns:a="http://schemas.openxmlformats.org/drawingml/2006/main"/>
          <a:ln xmlns:a="http://schemas.openxmlformats.org/drawingml/2006/main" w="5715">
            <a:solidFill>
              <a:srgbClr val="B8BCC4"/>
            </a:solidFill>
            <a:prstDash val="solid"/>
          </a:ln>
        </p:spPr>
      </p:sp>
      <p:sp>
        <p:nvSpPr>
          <p:cNvPr id="25" name="">
            <a:extLst xmlns:a="http://schemas.openxmlformats.org/drawingml/2006/main">
              <a:ext uri="{FF2B5EF4-FFF2-40B4-BE49-F238E27FC236}">
                <a16:creationId xmlns:a16="http://schemas.microsoft.com/office/drawing/2014/main" id="{7F09EFBC-C686-48FE-AE07-3F1AC1B54171}"/>
              </a:ext>
            </a:extLst>
          </p:cNvPr>
          <p:cNvSpPr>
            <a:spLocks xmlns:a="http://schemas.openxmlformats.org/drawingml/2006/main" noGrp="1"/>
          </p:cNvSpPr>
          <p:nvPr/>
        </p:nvSpPr>
        <p:spPr>
          <a:xfrm xmlns:a="http://schemas.openxmlformats.org/drawingml/2006/main">
            <a:off x="590550" y="44577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geometry points</a:t>
            </a:r>
          </a:p>
        </p:txBody>
      </p:sp>
      <p:sp>
        <p:nvSpPr>
          <p:cNvPr id="26" name="">
            <a:extLst xmlns:a="http://schemas.openxmlformats.org/drawingml/2006/main">
              <a:ext uri="{FF2B5EF4-FFF2-40B4-BE49-F238E27FC236}">
                <a16:creationId xmlns:a16="http://schemas.microsoft.com/office/drawing/2014/main" id="{C2A0326F-DC52-4200-A931-5EE247839269}"/>
              </a:ext>
            </a:extLst>
          </p:cNvPr>
          <p:cNvSpPr>
            <a:spLocks xmlns:a="http://schemas.openxmlformats.org/drawingml/2006/main" noGrp="1"/>
          </p:cNvSpPr>
          <p:nvPr/>
        </p:nvSpPr>
        <p:spPr>
          <a:xfrm xmlns:a="http://schemas.openxmlformats.org/drawingml/2006/main">
            <a:off x="5143500" y="4457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4,096 / shape</a:t>
            </a:r>
          </a:p>
        </p:txBody>
      </p:sp>
      <p:sp>
        <p:nvSpPr>
          <p:cNvPr id="27" name="">
            <a:extLst xmlns:a="http://schemas.openxmlformats.org/drawingml/2006/main">
              <a:ext uri="{FF2B5EF4-FFF2-40B4-BE49-F238E27FC236}">
                <a16:creationId xmlns:a16="http://schemas.microsoft.com/office/drawing/2014/main" id="{272BAE74-FFCD-4E22-80F7-2597670FA551}"/>
              </a:ext>
            </a:extLst>
          </p:cNvPr>
          <p:cNvSpPr>
            <a:spLocks xmlns:a="http://schemas.openxmlformats.org/drawingml/2006/main" noGrp="1"/>
          </p:cNvSpPr>
          <p:nvPr/>
        </p:nvSpPr>
        <p:spPr>
          <a:xfrm xmlns:a="http://schemas.openxmlformats.org/drawingml/2006/main">
            <a:off x="590550" y="4743450"/>
            <a:ext cx="9334500" cy="0"/>
          </a:xfrm>
          <a:prstGeom xmlns:a="http://schemas.openxmlformats.org/drawingml/2006/main" prst="line">
            <a:avLst/>
          </a:prstGeom>
          <a:noFill xmlns:a="http://schemas.openxmlformats.org/drawingml/2006/main"/>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F5730166-9614-459D-B48D-BC4FCF1C1656}"/>
              </a:ext>
            </a:extLst>
          </p:cNvPr>
          <p:cNvSpPr>
            <a:spLocks xmlns:a="http://schemas.openxmlformats.org/drawingml/2006/main" noGrp="1"/>
          </p:cNvSpPr>
          <p:nvPr/>
        </p:nvSpPr>
        <p:spPr>
          <a:xfrm xmlns:a="http://schemas.openxmlformats.org/drawingml/2006/main">
            <a:off x="590550" y="48196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global grid</a:t>
            </a:r>
          </a:p>
        </p:txBody>
      </p:sp>
      <p:sp>
        <p:nvSpPr>
          <p:cNvPr id="29" name="">
            <a:extLst xmlns:a="http://schemas.openxmlformats.org/drawingml/2006/main">
              <a:ext uri="{FF2B5EF4-FFF2-40B4-BE49-F238E27FC236}">
                <a16:creationId xmlns:a16="http://schemas.microsoft.com/office/drawing/2014/main" id="{FA807FFB-D71B-4DD0-B178-C56CB3D6E176}"/>
              </a:ext>
            </a:extLst>
          </p:cNvPr>
          <p:cNvSpPr>
            <a:spLocks xmlns:a="http://schemas.openxmlformats.org/drawingml/2006/main" noGrp="1"/>
          </p:cNvSpPr>
          <p:nvPr/>
        </p:nvSpPr>
        <p:spPr>
          <a:xfrm xmlns:a="http://schemas.openxmlformats.org/drawingml/2006/main">
            <a:off x="5143500" y="48196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24 × 24 × 24</a:t>
            </a:r>
          </a:p>
        </p:txBody>
      </p:sp>
      <p:sp>
        <p:nvSpPr>
          <p:cNvPr id="30" name="">
            <a:extLst xmlns:a="http://schemas.openxmlformats.org/drawingml/2006/main">
              <a:ext uri="{FF2B5EF4-FFF2-40B4-BE49-F238E27FC236}">
                <a16:creationId xmlns:a16="http://schemas.microsoft.com/office/drawing/2014/main" id="{932E89F2-1259-4251-8BDA-B46A4C90F274}"/>
              </a:ext>
            </a:extLst>
          </p:cNvPr>
          <p:cNvSpPr>
            <a:spLocks xmlns:a="http://schemas.openxmlformats.org/drawingml/2006/main" noGrp="1"/>
          </p:cNvSpPr>
          <p:nvPr/>
        </p:nvSpPr>
        <p:spPr>
          <a:xfrm xmlns:a="http://schemas.openxmlformats.org/drawingml/2006/main">
            <a:off x="590550" y="5105400"/>
            <a:ext cx="9334500" cy="0"/>
          </a:xfrm>
          <a:prstGeom xmlns:a="http://schemas.openxmlformats.org/drawingml/2006/main" prst="line">
            <a:avLst/>
          </a:prstGeom>
          <a:noFill xmlns:a="http://schemas.openxmlformats.org/drawingml/2006/main"/>
          <a:ln xmlns:a="http://schemas.openxmlformats.org/drawingml/2006/main" w="5715">
            <a:solidFill>
              <a:srgbClr val="B8BCC4"/>
            </a:solidFill>
            <a:prstDash val="solid"/>
          </a:ln>
        </p:spPr>
      </p:sp>
      <p:sp>
        <p:nvSpPr>
          <p:cNvPr id="31" name="">
            <a:extLst xmlns:a="http://schemas.openxmlformats.org/drawingml/2006/main">
              <a:ext uri="{FF2B5EF4-FFF2-40B4-BE49-F238E27FC236}">
                <a16:creationId xmlns:a16="http://schemas.microsoft.com/office/drawing/2014/main" id="{81FFBB73-7245-4F6D-BE88-1F4FD21DBEB4}"/>
              </a:ext>
            </a:extLst>
          </p:cNvPr>
          <p:cNvSpPr>
            <a:spLocks xmlns:a="http://schemas.openxmlformats.org/drawingml/2006/main" noGrp="1"/>
          </p:cNvSpPr>
          <p:nvPr/>
        </p:nvSpPr>
        <p:spPr>
          <a:xfrm xmlns:a="http://schemas.openxmlformats.org/drawingml/2006/main">
            <a:off x="590550" y="51816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surface stencil</a:t>
            </a:r>
          </a:p>
        </p:txBody>
      </p:sp>
      <p:sp>
        <p:nvSpPr>
          <p:cNvPr id="32" name="">
            <a:extLst xmlns:a="http://schemas.openxmlformats.org/drawingml/2006/main">
              <a:ext uri="{FF2B5EF4-FFF2-40B4-BE49-F238E27FC236}">
                <a16:creationId xmlns:a16="http://schemas.microsoft.com/office/drawing/2014/main" id="{2D07B217-01A4-46E3-A32F-D250D1E291F0}"/>
              </a:ext>
            </a:extLst>
          </p:cNvPr>
          <p:cNvSpPr>
            <a:spLocks xmlns:a="http://schemas.openxmlformats.org/drawingml/2006/main" noGrp="1"/>
          </p:cNvSpPr>
          <p:nvPr/>
        </p:nvSpPr>
        <p:spPr>
          <a:xfrm xmlns:a="http://schemas.openxmlformats.org/drawingml/2006/main">
            <a:off x="5143500" y="51816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query + 3 neighbors</a:t>
            </a:r>
          </a:p>
        </p:txBody>
      </p:sp>
      <p:sp>
        <p:nvSpPr>
          <p:cNvPr id="33" name="">
            <a:extLst xmlns:a="http://schemas.openxmlformats.org/drawingml/2006/main">
              <a:ext uri="{FF2B5EF4-FFF2-40B4-BE49-F238E27FC236}">
                <a16:creationId xmlns:a16="http://schemas.microsoft.com/office/drawing/2014/main" id="{E93E3355-2AC5-4F20-AB76-873B2C9F1625}"/>
              </a:ext>
            </a:extLst>
          </p:cNvPr>
          <p:cNvSpPr>
            <a:spLocks xmlns:a="http://schemas.openxmlformats.org/drawingml/2006/main" noGrp="1"/>
          </p:cNvSpPr>
          <p:nvPr/>
        </p:nvSpPr>
        <p:spPr>
          <a:xfrm xmlns:a="http://schemas.openxmlformats.org/drawingml/2006/main">
            <a:off x="590550" y="5467350"/>
            <a:ext cx="9334500" cy="0"/>
          </a:xfrm>
          <a:prstGeom xmlns:a="http://schemas.openxmlformats.org/drawingml/2006/main" prst="line">
            <a:avLst/>
          </a:prstGeom>
          <a:noFill xmlns:a="http://schemas.openxmlformats.org/drawingml/2006/main"/>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C815E155-DE78-4B34-9251-DC7988D94C8A}"/>
              </a:ext>
            </a:extLst>
          </p:cNvPr>
          <p:cNvSpPr>
            <a:spLocks xmlns:a="http://schemas.openxmlformats.org/drawingml/2006/main" noGrp="1"/>
          </p:cNvSpPr>
          <p:nvPr/>
        </p:nvSpPr>
        <p:spPr>
          <a:xfrm xmlns:a="http://schemas.openxmlformats.org/drawingml/2006/main">
            <a:off x="590550" y="55435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trainable parameters</a:t>
            </a:r>
          </a:p>
        </p:txBody>
      </p:sp>
      <p:sp>
        <p:nvSpPr>
          <p:cNvPr id="35" name="">
            <a:extLst xmlns:a="http://schemas.openxmlformats.org/drawingml/2006/main">
              <a:ext uri="{FF2B5EF4-FFF2-40B4-BE49-F238E27FC236}">
                <a16:creationId xmlns:a16="http://schemas.microsoft.com/office/drawing/2014/main" id="{0464A5BB-F316-47F5-AC4C-184CAA5FEA37}"/>
              </a:ext>
            </a:extLst>
          </p:cNvPr>
          <p:cNvSpPr>
            <a:spLocks xmlns:a="http://schemas.openxmlformats.org/drawingml/2006/main" noGrp="1"/>
          </p:cNvSpPr>
          <p:nvPr/>
        </p:nvSpPr>
        <p:spPr>
          <a:xfrm xmlns:a="http://schemas.openxmlformats.org/drawingml/2006/main">
            <a:off x="5143500" y="5543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208,545</a:t>
            </a:r>
          </a:p>
        </p:txBody>
      </p:sp>
      <p:sp>
        <p:nvSpPr>
          <p:cNvPr id="36" name="">
            <a:extLst xmlns:a="http://schemas.openxmlformats.org/drawingml/2006/main">
              <a:ext uri="{FF2B5EF4-FFF2-40B4-BE49-F238E27FC236}">
                <a16:creationId xmlns:a16="http://schemas.microsoft.com/office/drawing/2014/main" id="{91F749DF-BE9A-468A-B90F-DC220CA3CB68}"/>
              </a:ext>
            </a:extLst>
          </p:cNvPr>
          <p:cNvSpPr>
            <a:spLocks xmlns:a="http://schemas.openxmlformats.org/drawingml/2006/main" noGrp="1"/>
          </p:cNvSpPr>
          <p:nvPr/>
        </p:nvSpPr>
        <p:spPr>
          <a:xfrm xmlns:a="http://schemas.openxmlformats.org/drawingml/2006/main">
            <a:off x="590550" y="5829300"/>
            <a:ext cx="9334500" cy="0"/>
          </a:xfrm>
          <a:prstGeom xmlns:a="http://schemas.openxmlformats.org/drawingml/2006/main" prst="line">
            <a:avLst/>
          </a:prstGeom>
          <a:noFill xmlns:a="http://schemas.openxmlformats.org/drawingml/2006/main"/>
          <a:ln xmlns:a="http://schemas.openxmlformats.org/drawingml/2006/main" w="5715">
            <a:solidFill>
              <a:srgbClr val="B8BCC4"/>
            </a:solidFill>
            <a:prstDash val="solid"/>
          </a:ln>
        </p:spPr>
      </p:sp>
      <p:sp>
        <p:nvSpPr>
          <p:cNvPr id="37" name="">
            <a:extLst xmlns:a="http://schemas.openxmlformats.org/drawingml/2006/main">
              <a:ext uri="{FF2B5EF4-FFF2-40B4-BE49-F238E27FC236}">
                <a16:creationId xmlns:a16="http://schemas.microsoft.com/office/drawing/2014/main" id="{3904DC19-C0E3-495B-B050-7EEE5DCFB3A1}"/>
              </a:ext>
            </a:extLst>
          </p:cNvPr>
          <p:cNvSpPr>
            <a:spLocks xmlns:a="http://schemas.openxmlformats.org/drawingml/2006/main" noGrp="1"/>
          </p:cNvSpPr>
          <p:nvPr/>
        </p:nvSpPr>
        <p:spPr>
          <a:xfrm xmlns:a="http://schemas.openxmlformats.org/drawingml/2006/main">
            <a:off x="590550" y="60198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C8423A"/>
                </a:solidFill>
                <a:latin typeface="Yu Gothic"/>
                <a:ea typeface="Yu Gothic"/>
                <a:cs typeface="Yu Gothic"/>
              </a:defRPr>
            </a:pPr>
            <a:r>
              <a:rPr sz="1500" b="1" i="0">
                <a:solidFill>
                  <a:srgbClr val="C8423A"/>
                </a:solidFill>
                <a:latin typeface="Yu Gothic"/>
                <a:ea typeface="Yu Gothic"/>
                <a:cs typeface="Yu Gothic"/>
              </a:rPr>
              <a:t>縮小条件：実用精度ではなく、DoMINOのデータフローと評価を学ぶための設計</a:t>
            </a:r>
          </a:p>
        </p:txBody>
      </p:sp>
    </p:spTree>
    <p:extLst>
      <p:ext uri="{BB962C8B-B14F-4D97-AF65-F5344CB8AC3E}">
        <p14:creationId xmlns:p14="http://schemas.microsoft.com/office/powerpoint/2010/main" val="5054000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BA59DB-4D3A-456D-97BE-BCBCED4FB22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7FA6C9-EDD4-46E9-AD62-92BE6AF04644}"/>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EXECUTION</a:t>
            </a:r>
          </a:p>
        </p:txBody>
      </p:sp>
      <p:sp>
        <p:nvSpPr>
          <p:cNvPr id="3" name="">
            <a:extLst xmlns:a="http://schemas.openxmlformats.org/drawingml/2006/main">
              <a:ext uri="{FF2B5EF4-FFF2-40B4-BE49-F238E27FC236}">
                <a16:creationId xmlns:a16="http://schemas.microsoft.com/office/drawing/2014/main" id="{364D5B19-9F6D-47DC-9092-21BDF64F78B4}"/>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16 / 32</a:t>
            </a:r>
          </a:p>
        </p:txBody>
      </p:sp>
      <p:sp>
        <p:nvSpPr>
          <p:cNvPr id="4" name="">
            <a:extLst xmlns:a="http://schemas.openxmlformats.org/drawingml/2006/main">
              <a:ext uri="{FF2B5EF4-FFF2-40B4-BE49-F238E27FC236}">
                <a16:creationId xmlns:a16="http://schemas.microsoft.com/office/drawing/2014/main" id="{B5366312-AAA1-40BF-8EF8-320A7300B9E0}"/>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8D0F27E2-B626-4FB9-8CFE-412E256BE9D1}"/>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CB1BB4D0-5014-4D04-827E-8AD922F78977}"/>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3DFA1E5-59E0-4D95-BFC3-96BE6E19FE6D}"/>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BCCC240B-991C-4A68-8A6F-6A25B0089B8B}"/>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Tesla T4で120分、115,454 stepまで異常なく完走した</a:t>
            </a:r>
          </a:p>
        </p:txBody>
      </p:sp>
      <p:sp>
        <p:nvSpPr>
          <p:cNvPr id="9" name="">
            <a:extLst xmlns:a="http://schemas.openxmlformats.org/drawingml/2006/main">
              <a:ext uri="{FF2B5EF4-FFF2-40B4-BE49-F238E27FC236}">
                <a16:creationId xmlns:a16="http://schemas.microsoft.com/office/drawing/2014/main" id="{BFBE4CE5-3B8C-48C0-A058-4A1110AF16D4}"/>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C6607A49-E471-48AF-9CC6-D5C77C5507CC}"/>
              </a:ext>
            </a:extLst>
          </p:cNvPr>
          <p:cNvSpPr>
            <a:spLocks xmlns:a="http://schemas.openxmlformats.org/drawingml/2006/main" noGrp="1"/>
          </p:cNvSpPr>
          <p:nvPr/>
        </p:nvSpPr>
        <p:spPr>
          <a:xfrm xmlns:a="http://schemas.openxmlformats.org/drawingml/2006/main">
            <a:off x="590550" y="1885950"/>
            <a:ext cx="3048000" cy="0"/>
          </a:xfrm>
          <a:prstGeom xmlns:a="http://schemas.openxmlformats.org/drawingml/2006/main" prst="line">
            <a:avLst/>
          </a:prstGeom>
          <a:noFill xmlns:a="http://schemas.openxmlformats.org/drawingml/2006/main"/>
          <a:ln xmlns:a="http://schemas.openxmlformats.org/drawingml/2006/main" w="38100">
            <a:solidFill>
              <a:srgbClr val="4F7D00"/>
            </a:solidFill>
            <a:prstDash val="solid"/>
          </a:ln>
        </p:spPr>
      </p:sp>
      <p:sp>
        <p:nvSpPr>
          <p:cNvPr id="11" name="">
            <a:extLst xmlns:a="http://schemas.openxmlformats.org/drawingml/2006/main">
              <a:ext uri="{FF2B5EF4-FFF2-40B4-BE49-F238E27FC236}">
                <a16:creationId xmlns:a16="http://schemas.microsoft.com/office/drawing/2014/main" id="{C73C1266-DB35-4D54-942D-DF3730C5B077}"/>
              </a:ext>
            </a:extLst>
          </p:cNvPr>
          <p:cNvSpPr>
            <a:spLocks xmlns:a="http://schemas.openxmlformats.org/drawingml/2006/main" noGrp="1"/>
          </p:cNvSpPr>
          <p:nvPr/>
        </p:nvSpPr>
        <p:spPr>
          <a:xfrm xmlns:a="http://schemas.openxmlformats.org/drawingml/2006/main">
            <a:off x="590550" y="2047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600" b="1" i="0">
                <a:solidFill>
                  <a:srgbClr val="4F7D00"/>
                </a:solidFill>
                <a:latin typeface="Consolas"/>
                <a:ea typeface="Consolas"/>
                <a:cs typeface="Consolas"/>
              </a:defRPr>
            </a:pPr>
            <a:r>
              <a:rPr sz="3600" b="1" i="0">
                <a:solidFill>
                  <a:srgbClr val="4F7D00"/>
                </a:solidFill>
                <a:latin typeface="Consolas"/>
                <a:ea typeface="Consolas"/>
                <a:cs typeface="Consolas"/>
              </a:rPr>
              <a:t>T4</a:t>
            </a:r>
          </a:p>
        </p:txBody>
      </p:sp>
      <p:sp>
        <p:nvSpPr>
          <p:cNvPr id="12" name="">
            <a:extLst xmlns:a="http://schemas.openxmlformats.org/drawingml/2006/main">
              <a:ext uri="{FF2B5EF4-FFF2-40B4-BE49-F238E27FC236}">
                <a16:creationId xmlns:a16="http://schemas.microsoft.com/office/drawing/2014/main" id="{C6543644-81CA-40CF-B02D-D4223F271712}"/>
              </a:ext>
            </a:extLst>
          </p:cNvPr>
          <p:cNvSpPr>
            <a:spLocks xmlns:a="http://schemas.openxmlformats.org/drawingml/2006/main" noGrp="1"/>
          </p:cNvSpPr>
          <p:nvPr/>
        </p:nvSpPr>
        <p:spPr>
          <a:xfrm xmlns:a="http://schemas.openxmlformats.org/drawingml/2006/main">
            <a:off x="590550" y="26384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GPU</a:t>
            </a:r>
          </a:p>
        </p:txBody>
      </p:sp>
      <p:sp>
        <p:nvSpPr>
          <p:cNvPr id="13" name="">
            <a:extLst xmlns:a="http://schemas.openxmlformats.org/drawingml/2006/main">
              <a:ext uri="{FF2B5EF4-FFF2-40B4-BE49-F238E27FC236}">
                <a16:creationId xmlns:a16="http://schemas.microsoft.com/office/drawing/2014/main" id="{1F0229BF-1FF5-4D7A-AAF8-FB1D92172A7B}"/>
              </a:ext>
            </a:extLst>
          </p:cNvPr>
          <p:cNvSpPr>
            <a:spLocks xmlns:a="http://schemas.openxmlformats.org/drawingml/2006/main" noGrp="1"/>
          </p:cNvSpPr>
          <p:nvPr/>
        </p:nvSpPr>
        <p:spPr>
          <a:xfrm xmlns:a="http://schemas.openxmlformats.org/drawingml/2006/main">
            <a:off x="590550" y="29718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Google Colab runtime</a:t>
            </a:r>
          </a:p>
        </p:txBody>
      </p:sp>
      <p:sp>
        <p:nvSpPr>
          <p:cNvPr id="14" name="">
            <a:extLst xmlns:a="http://schemas.openxmlformats.org/drawingml/2006/main">
              <a:ext uri="{FF2B5EF4-FFF2-40B4-BE49-F238E27FC236}">
                <a16:creationId xmlns:a16="http://schemas.microsoft.com/office/drawing/2014/main" id="{595E3790-3677-46EB-B6C1-39E030E248CA}"/>
              </a:ext>
            </a:extLst>
          </p:cNvPr>
          <p:cNvSpPr>
            <a:spLocks xmlns:a="http://schemas.openxmlformats.org/drawingml/2006/main" noGrp="1"/>
          </p:cNvSpPr>
          <p:nvPr/>
        </p:nvSpPr>
        <p:spPr>
          <a:xfrm xmlns:a="http://schemas.openxmlformats.org/drawingml/2006/main">
            <a:off x="4114800" y="1885950"/>
            <a:ext cx="30480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15" name="">
            <a:extLst xmlns:a="http://schemas.openxmlformats.org/drawingml/2006/main">
              <a:ext uri="{FF2B5EF4-FFF2-40B4-BE49-F238E27FC236}">
                <a16:creationId xmlns:a16="http://schemas.microsoft.com/office/drawing/2014/main" id="{422C753F-A935-4045-96FB-7164EF3E2224}"/>
              </a:ext>
            </a:extLst>
          </p:cNvPr>
          <p:cNvSpPr>
            <a:spLocks xmlns:a="http://schemas.openxmlformats.org/drawingml/2006/main" noGrp="1"/>
          </p:cNvSpPr>
          <p:nvPr/>
        </p:nvSpPr>
        <p:spPr>
          <a:xfrm xmlns:a="http://schemas.openxmlformats.org/drawingml/2006/main">
            <a:off x="4114800" y="2047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600" b="1" i="0">
                <a:solidFill>
                  <a:srgbClr val="3D8DFF"/>
                </a:solidFill>
                <a:latin typeface="Consolas"/>
                <a:ea typeface="Consolas"/>
                <a:cs typeface="Consolas"/>
              </a:defRPr>
            </a:pPr>
            <a:r>
              <a:rPr sz="3600" b="1" i="0">
                <a:solidFill>
                  <a:srgbClr val="3D8DFF"/>
                </a:solidFill>
                <a:latin typeface="Consolas"/>
                <a:ea typeface="Consolas"/>
                <a:cs typeface="Consolas"/>
              </a:rPr>
              <a:t>120 min</a:t>
            </a:r>
          </a:p>
        </p:txBody>
      </p:sp>
      <p:sp>
        <p:nvSpPr>
          <p:cNvPr id="16" name="">
            <a:extLst xmlns:a="http://schemas.openxmlformats.org/drawingml/2006/main">
              <a:ext uri="{FF2B5EF4-FFF2-40B4-BE49-F238E27FC236}">
                <a16:creationId xmlns:a16="http://schemas.microsoft.com/office/drawing/2014/main" id="{86ADA237-E2F6-48DD-9E48-E9745CF7E9A0}"/>
              </a:ext>
            </a:extLst>
          </p:cNvPr>
          <p:cNvSpPr>
            <a:spLocks xmlns:a="http://schemas.openxmlformats.org/drawingml/2006/main" noGrp="1"/>
          </p:cNvSpPr>
          <p:nvPr/>
        </p:nvSpPr>
        <p:spPr>
          <a:xfrm xmlns:a="http://schemas.openxmlformats.org/drawingml/2006/main">
            <a:off x="4114800" y="26384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training budget</a:t>
            </a:r>
          </a:p>
        </p:txBody>
      </p:sp>
      <p:sp>
        <p:nvSpPr>
          <p:cNvPr id="17" name="">
            <a:extLst xmlns:a="http://schemas.openxmlformats.org/drawingml/2006/main">
              <a:ext uri="{FF2B5EF4-FFF2-40B4-BE49-F238E27FC236}">
                <a16:creationId xmlns:a16="http://schemas.microsoft.com/office/drawing/2014/main" id="{102178C6-C114-43DC-98AE-3A5AE416386C}"/>
              </a:ext>
            </a:extLst>
          </p:cNvPr>
          <p:cNvSpPr>
            <a:spLocks xmlns:a="http://schemas.openxmlformats.org/drawingml/2006/main" noGrp="1"/>
          </p:cNvSpPr>
          <p:nvPr/>
        </p:nvSpPr>
        <p:spPr>
          <a:xfrm xmlns:a="http://schemas.openxmlformats.org/drawingml/2006/main">
            <a:off x="4114800" y="29718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実時間で終了制御</a:t>
            </a:r>
          </a:p>
        </p:txBody>
      </p:sp>
      <p:sp>
        <p:nvSpPr>
          <p:cNvPr id="18" name="">
            <a:extLst xmlns:a="http://schemas.openxmlformats.org/drawingml/2006/main">
              <a:ext uri="{FF2B5EF4-FFF2-40B4-BE49-F238E27FC236}">
                <a16:creationId xmlns:a16="http://schemas.microsoft.com/office/drawing/2014/main" id="{858B43F9-38CB-44A0-B6B5-8E0740BD3865}"/>
              </a:ext>
            </a:extLst>
          </p:cNvPr>
          <p:cNvSpPr>
            <a:spLocks xmlns:a="http://schemas.openxmlformats.org/drawingml/2006/main" noGrp="1"/>
          </p:cNvSpPr>
          <p:nvPr/>
        </p:nvSpPr>
        <p:spPr>
          <a:xfrm xmlns:a="http://schemas.openxmlformats.org/drawingml/2006/main">
            <a:off x="7639050" y="1885950"/>
            <a:ext cx="3048000" cy="0"/>
          </a:xfrm>
          <a:prstGeom xmlns:a="http://schemas.openxmlformats.org/drawingml/2006/main" prst="line">
            <a:avLst/>
          </a:prstGeom>
          <a:noFill xmlns:a="http://schemas.openxmlformats.org/drawingml/2006/main"/>
          <a:ln xmlns:a="http://schemas.openxmlformats.org/drawingml/2006/main" w="38100">
            <a:solidFill>
              <a:srgbClr val="F58220"/>
            </a:solidFill>
            <a:prstDash val="solid"/>
          </a:ln>
        </p:spPr>
      </p:sp>
      <p:sp>
        <p:nvSpPr>
          <p:cNvPr id="19" name="">
            <a:extLst xmlns:a="http://schemas.openxmlformats.org/drawingml/2006/main">
              <a:ext uri="{FF2B5EF4-FFF2-40B4-BE49-F238E27FC236}">
                <a16:creationId xmlns:a16="http://schemas.microsoft.com/office/drawing/2014/main" id="{7F5CB055-6A64-47E4-9344-252EBE5DBF55}"/>
              </a:ext>
            </a:extLst>
          </p:cNvPr>
          <p:cNvSpPr>
            <a:spLocks xmlns:a="http://schemas.openxmlformats.org/drawingml/2006/main" noGrp="1"/>
          </p:cNvSpPr>
          <p:nvPr/>
        </p:nvSpPr>
        <p:spPr>
          <a:xfrm xmlns:a="http://schemas.openxmlformats.org/drawingml/2006/main">
            <a:off x="7639050" y="2047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600" b="1" i="0">
                <a:solidFill>
                  <a:srgbClr val="F58220"/>
                </a:solidFill>
                <a:latin typeface="Consolas"/>
                <a:ea typeface="Consolas"/>
                <a:cs typeface="Consolas"/>
              </a:defRPr>
            </a:pPr>
            <a:r>
              <a:rPr sz="3600" b="1" i="0">
                <a:solidFill>
                  <a:srgbClr val="F58220"/>
                </a:solidFill>
                <a:latin typeface="Consolas"/>
                <a:ea typeface="Consolas"/>
                <a:cs typeface="Consolas"/>
              </a:rPr>
              <a:t>115,454</a:t>
            </a:r>
          </a:p>
        </p:txBody>
      </p:sp>
      <p:sp>
        <p:nvSpPr>
          <p:cNvPr id="20" name="">
            <a:extLst xmlns:a="http://schemas.openxmlformats.org/drawingml/2006/main">
              <a:ext uri="{FF2B5EF4-FFF2-40B4-BE49-F238E27FC236}">
                <a16:creationId xmlns:a16="http://schemas.microsoft.com/office/drawing/2014/main" id="{E9E488C8-8293-42A8-9581-32F3AF2C058C}"/>
              </a:ext>
            </a:extLst>
          </p:cNvPr>
          <p:cNvSpPr>
            <a:spLocks xmlns:a="http://schemas.openxmlformats.org/drawingml/2006/main" noGrp="1"/>
          </p:cNvSpPr>
          <p:nvPr/>
        </p:nvSpPr>
        <p:spPr>
          <a:xfrm xmlns:a="http://schemas.openxmlformats.org/drawingml/2006/main">
            <a:off x="7639050" y="26384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optimization steps</a:t>
            </a:r>
          </a:p>
        </p:txBody>
      </p:sp>
      <p:sp>
        <p:nvSpPr>
          <p:cNvPr id="21" name="">
            <a:extLst xmlns:a="http://schemas.openxmlformats.org/drawingml/2006/main">
              <a:ext uri="{FF2B5EF4-FFF2-40B4-BE49-F238E27FC236}">
                <a16:creationId xmlns:a16="http://schemas.microsoft.com/office/drawing/2014/main" id="{7F671FDB-51D9-44C8-95B7-F6204F10DCF1}"/>
              </a:ext>
            </a:extLst>
          </p:cNvPr>
          <p:cNvSpPr>
            <a:spLocks xmlns:a="http://schemas.openxmlformats.org/drawingml/2006/main" noGrp="1"/>
          </p:cNvSpPr>
          <p:nvPr/>
        </p:nvSpPr>
        <p:spPr>
          <a:xfrm xmlns:a="http://schemas.openxmlformats.org/drawingml/2006/main">
            <a:off x="7639050" y="29718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AMP enabled</a:t>
            </a:r>
          </a:p>
        </p:txBody>
      </p:sp>
      <p:sp>
        <p:nvSpPr>
          <p:cNvPr id="22" name="">
            <a:extLst xmlns:a="http://schemas.openxmlformats.org/drawingml/2006/main">
              <a:ext uri="{FF2B5EF4-FFF2-40B4-BE49-F238E27FC236}">
                <a16:creationId xmlns:a16="http://schemas.microsoft.com/office/drawing/2014/main" id="{A3BF43DF-5780-4714-B314-157660D1B286}"/>
              </a:ext>
            </a:extLst>
          </p:cNvPr>
          <p:cNvSpPr>
            <a:spLocks xmlns:a="http://schemas.openxmlformats.org/drawingml/2006/main" noGrp="1"/>
          </p:cNvSpPr>
          <p:nvPr/>
        </p:nvSpPr>
        <p:spPr>
          <a:xfrm xmlns:a="http://schemas.openxmlformats.org/drawingml/2006/main">
            <a:off x="590550" y="4095750"/>
            <a:ext cx="10096500" cy="14478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FA1E54-188F-404A-B66D-C4B70A2A0FC9}"/>
              </a:ext>
            </a:extLst>
          </p:cNvPr>
          <p:cNvSpPr>
            <a:spLocks xmlns:a="http://schemas.openxmlformats.org/drawingml/2006/main" noGrp="1"/>
          </p:cNvSpPr>
          <p:nvPr/>
        </p:nvSpPr>
        <p:spPr>
          <a:xfrm xmlns:a="http://schemas.openxmlformats.org/drawingml/2006/main">
            <a:off x="838200" y="4362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5B6472"/>
                </a:solidFill>
                <a:latin typeface="Consolas"/>
                <a:ea typeface="Consolas"/>
                <a:cs typeface="Consolas"/>
              </a:defRPr>
            </a:pPr>
            <a:r>
              <a:rPr sz="1350" b="0" i="0">
                <a:solidFill>
                  <a:srgbClr val="5B6472"/>
                </a:solidFill>
                <a:latin typeface="Consolas"/>
                <a:ea typeface="Consolas"/>
                <a:cs typeface="Consolas"/>
              </a:rPr>
              <a:t>PhysicsNeMo</a:t>
            </a:r>
          </a:p>
        </p:txBody>
      </p:sp>
      <p:sp>
        <p:nvSpPr>
          <p:cNvPr id="24" name="">
            <a:extLst xmlns:a="http://schemas.openxmlformats.org/drawingml/2006/main">
              <a:ext uri="{FF2B5EF4-FFF2-40B4-BE49-F238E27FC236}">
                <a16:creationId xmlns:a16="http://schemas.microsoft.com/office/drawing/2014/main" id="{FE5BFF3F-F929-4723-A40B-26A893AE4BCE}"/>
              </a:ext>
            </a:extLst>
          </p:cNvPr>
          <p:cNvSpPr>
            <a:spLocks xmlns:a="http://schemas.openxmlformats.org/drawingml/2006/main" noGrp="1"/>
          </p:cNvSpPr>
          <p:nvPr/>
        </p:nvSpPr>
        <p:spPr>
          <a:xfrm xmlns:a="http://schemas.openxmlformats.org/drawingml/2006/main">
            <a:off x="3429000" y="43624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Consolas"/>
                <a:ea typeface="Consolas"/>
                <a:cs typeface="Consolas"/>
              </a:defRPr>
            </a:pPr>
            <a:r>
              <a:rPr sz="1650" b="1" i="0">
                <a:solidFill>
                  <a:srgbClr val="111827"/>
                </a:solidFill>
                <a:latin typeface="Consolas"/>
                <a:ea typeface="Consolas"/>
                <a:cs typeface="Consolas"/>
              </a:rPr>
              <a:t>2.1.1</a:t>
            </a:r>
          </a:p>
        </p:txBody>
      </p:sp>
      <p:sp>
        <p:nvSpPr>
          <p:cNvPr id="25" name="">
            <a:extLst xmlns:a="http://schemas.openxmlformats.org/drawingml/2006/main">
              <a:ext uri="{FF2B5EF4-FFF2-40B4-BE49-F238E27FC236}">
                <a16:creationId xmlns:a16="http://schemas.microsoft.com/office/drawing/2014/main" id="{48A4AB7D-ED71-4765-BF3A-CDEAAEC63B1E}"/>
              </a:ext>
            </a:extLst>
          </p:cNvPr>
          <p:cNvSpPr>
            <a:spLocks xmlns:a="http://schemas.openxmlformats.org/drawingml/2006/main" noGrp="1"/>
          </p:cNvSpPr>
          <p:nvPr/>
        </p:nvSpPr>
        <p:spPr>
          <a:xfrm xmlns:a="http://schemas.openxmlformats.org/drawingml/2006/main">
            <a:off x="838200" y="4819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5B6472"/>
                </a:solidFill>
                <a:latin typeface="Consolas"/>
                <a:ea typeface="Consolas"/>
                <a:cs typeface="Consolas"/>
              </a:defRPr>
            </a:pPr>
            <a:r>
              <a:rPr sz="1350" b="0" i="0">
                <a:solidFill>
                  <a:srgbClr val="5B6472"/>
                </a:solidFill>
                <a:latin typeface="Consolas"/>
                <a:ea typeface="Consolas"/>
                <a:cs typeface="Consolas"/>
              </a:rPr>
              <a:t>pressure normalization</a:t>
            </a:r>
          </a:p>
        </p:txBody>
      </p:sp>
      <p:sp>
        <p:nvSpPr>
          <p:cNvPr id="26" name="">
            <a:extLst xmlns:a="http://schemas.openxmlformats.org/drawingml/2006/main">
              <a:ext uri="{FF2B5EF4-FFF2-40B4-BE49-F238E27FC236}">
                <a16:creationId xmlns:a16="http://schemas.microsoft.com/office/drawing/2014/main" id="{AEC7AC69-0CAA-452B-ACEF-D94F6602246B}"/>
              </a:ext>
            </a:extLst>
          </p:cNvPr>
          <p:cNvSpPr>
            <a:spLocks xmlns:a="http://schemas.openxmlformats.org/drawingml/2006/main" noGrp="1"/>
          </p:cNvSpPr>
          <p:nvPr/>
        </p:nvSpPr>
        <p:spPr>
          <a:xfrm xmlns:a="http://schemas.openxmlformats.org/drawingml/2006/main">
            <a:off x="3429000" y="4819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Consolas"/>
                <a:ea typeface="Consolas"/>
                <a:cs typeface="Consolas"/>
              </a:defRPr>
            </a:pPr>
            <a:r>
              <a:rPr sz="1650" b="1" i="0">
                <a:solidFill>
                  <a:srgbClr val="111827"/>
                </a:solidFill>
                <a:latin typeface="Consolas"/>
                <a:ea typeface="Consolas"/>
                <a:cs typeface="Consolas"/>
              </a:rPr>
              <a:t>mean −227.916 / std 268.856</a:t>
            </a:r>
          </a:p>
        </p:txBody>
      </p:sp>
      <p:sp>
        <p:nvSpPr>
          <p:cNvPr id="27" name="">
            <a:extLst xmlns:a="http://schemas.openxmlformats.org/drawingml/2006/main">
              <a:ext uri="{FF2B5EF4-FFF2-40B4-BE49-F238E27FC236}">
                <a16:creationId xmlns:a16="http://schemas.microsoft.com/office/drawing/2014/main" id="{FA5F2595-EF89-4707-A58E-FDC2563E3110}"/>
              </a:ext>
            </a:extLst>
          </p:cNvPr>
          <p:cNvSpPr>
            <a:spLocks xmlns:a="http://schemas.openxmlformats.org/drawingml/2006/main" noGrp="1"/>
          </p:cNvSpPr>
          <p:nvPr/>
        </p:nvSpPr>
        <p:spPr>
          <a:xfrm xmlns:a="http://schemas.openxmlformats.org/drawingml/2006/main">
            <a:off x="838200" y="5276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5B6472"/>
                </a:solidFill>
                <a:latin typeface="Consolas"/>
                <a:ea typeface="Consolas"/>
                <a:cs typeface="Consolas"/>
              </a:defRPr>
            </a:pPr>
            <a:r>
              <a:rPr sz="1350" b="0" i="0">
                <a:solidFill>
                  <a:srgbClr val="5B6472"/>
                </a:solidFill>
                <a:latin typeface="Consolas"/>
                <a:ea typeface="Consolas"/>
                <a:cs typeface="Consolas"/>
              </a:rPr>
              <a:t>data</a:t>
            </a:r>
          </a:p>
        </p:txBody>
      </p:sp>
      <p:sp>
        <p:nvSpPr>
          <p:cNvPr id="28" name="">
            <a:extLst xmlns:a="http://schemas.openxmlformats.org/drawingml/2006/main">
              <a:ext uri="{FF2B5EF4-FFF2-40B4-BE49-F238E27FC236}">
                <a16:creationId xmlns:a16="http://schemas.microsoft.com/office/drawing/2014/main" id="{CF7DDE70-3B25-4D5C-9A3A-1C731133F57A}"/>
              </a:ext>
            </a:extLst>
          </p:cNvPr>
          <p:cNvSpPr>
            <a:spLocks xmlns:a="http://schemas.openxmlformats.org/drawingml/2006/main" noGrp="1"/>
          </p:cNvSpPr>
          <p:nvPr/>
        </p:nvSpPr>
        <p:spPr>
          <a:xfrm xmlns:a="http://schemas.openxmlformats.org/drawingml/2006/main">
            <a:off x="3429000" y="5276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111827"/>
                </a:solidFill>
                <a:latin typeface="Yu Gothic"/>
                <a:ea typeface="Yu Gothic"/>
                <a:cs typeface="Yu Gothic"/>
              </a:defRPr>
            </a:pPr>
            <a:r>
              <a:rPr sz="1650" b="1" i="0">
                <a:solidFill>
                  <a:srgbClr val="111827"/>
                </a:solidFill>
                <a:latin typeface="Yu Gothic"/>
                <a:ea typeface="Yu Gothic"/>
                <a:cs typeface="Yu Gothic"/>
              </a:rPr>
              <a:t>DrivAerML-derived surface data</a:t>
            </a:r>
          </a:p>
        </p:txBody>
      </p:sp>
    </p:spTree>
    <p:extLst>
      <p:ext uri="{BB962C8B-B14F-4D97-AF65-F5344CB8AC3E}">
        <p14:creationId xmlns:p14="http://schemas.microsoft.com/office/powerpoint/2010/main" val="17611143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2C866A-D770-4990-A1BE-578DE407AAE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3ADADA-96BC-4640-B691-523B3D3C4DBA}"/>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TRAINING RESULT</a:t>
            </a:r>
          </a:p>
        </p:txBody>
      </p:sp>
      <p:sp>
        <p:nvSpPr>
          <p:cNvPr id="3" name="">
            <a:extLst xmlns:a="http://schemas.openxmlformats.org/drawingml/2006/main">
              <a:ext uri="{FF2B5EF4-FFF2-40B4-BE49-F238E27FC236}">
                <a16:creationId xmlns:a16="http://schemas.microsoft.com/office/drawing/2014/main" id="{A9C2F547-030B-4D8C-B21D-70F9E23A6EF4}"/>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17 / 32</a:t>
            </a:r>
          </a:p>
        </p:txBody>
      </p:sp>
      <p:sp>
        <p:nvSpPr>
          <p:cNvPr id="4" name="">
            <a:extLst xmlns:a="http://schemas.openxmlformats.org/drawingml/2006/main">
              <a:ext uri="{FF2B5EF4-FFF2-40B4-BE49-F238E27FC236}">
                <a16:creationId xmlns:a16="http://schemas.microsoft.com/office/drawing/2014/main" id="{9F1876F6-B7A8-45E5-B51C-A4A04EA74455}"/>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6150E889-6892-4D83-B1F1-D74AC8648857}"/>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81CD80BC-2EEC-4570-943A-32AD846535E2}"/>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F163DE-6234-4A30-942E-23DAE6A89D9E}"/>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739EABD8-C432-4B84-8A39-770EE3FEAF24}"/>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train lossは低下した。しかし汎化は別問題</a:t>
            </a:r>
          </a:p>
        </p:txBody>
      </p:sp>
      <p:sp>
        <p:nvSpPr>
          <p:cNvPr id="9" name="">
            <a:extLst xmlns:a="http://schemas.openxmlformats.org/drawingml/2006/main">
              <a:ext uri="{FF2B5EF4-FFF2-40B4-BE49-F238E27FC236}">
                <a16:creationId xmlns:a16="http://schemas.microsoft.com/office/drawing/2014/main" id="{516D956B-7A1F-4CDE-B95F-F4FBB4C092D6}"/>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81E1D36E-0832-408B-BCF8-05E11A957786}"/>
              </a:ext>
            </a:extLst>
          </p:cNvPr>
          <p:cNvSpPr>
            <a:spLocks xmlns:a="http://schemas.openxmlformats.org/drawingml/2006/main" noGrp="1"/>
          </p:cNvSpPr>
          <p:nvPr/>
        </p:nvSpPr>
        <p:spPr>
          <a:xfrm xmlns:a="http://schemas.openxmlformats.org/drawingml/2006/main">
            <a:off x="495300" y="1638300"/>
            <a:ext cx="7524750" cy="44386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05e1dfb567147b7"/>
          <a:stretch xmlns:a="http://schemas.openxmlformats.org/drawingml/2006/main"/>
        </p:blipFill>
        <p:spPr>
          <a:xfrm xmlns:a="http://schemas.openxmlformats.org/drawingml/2006/main">
            <a:off x="495300" y="1770952"/>
            <a:ext cx="7524750" cy="4173346"/>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74155FF-6CCA-4616-BDEA-F7624D826201}"/>
              </a:ext>
            </a:extLst>
          </p:cNvPr>
          <p:cNvSpPr>
            <a:spLocks xmlns:a="http://schemas.openxmlformats.org/drawingml/2006/main" noGrp="1"/>
          </p:cNvSpPr>
          <p:nvPr/>
        </p:nvSpPr>
        <p:spPr>
          <a:xfrm xmlns:a="http://schemas.openxmlformats.org/drawingml/2006/main">
            <a:off x="8362950" y="1962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625" b="1" i="0">
                <a:solidFill>
                  <a:srgbClr val="4F7D00"/>
                </a:solidFill>
                <a:latin typeface="Consolas"/>
                <a:ea typeface="Consolas"/>
                <a:cs typeface="Consolas"/>
              </a:defRPr>
            </a:pPr>
            <a:r>
              <a:rPr sz="2625" b="1" i="0">
                <a:solidFill>
                  <a:srgbClr val="4F7D00"/>
                </a:solidFill>
                <a:latin typeface="Consolas"/>
                <a:ea typeface="Consolas"/>
                <a:cs typeface="Consolas"/>
              </a:rPr>
              <a:t>0.3705 → 0.00818</a:t>
            </a:r>
          </a:p>
        </p:txBody>
      </p:sp>
      <p:sp>
        <p:nvSpPr>
          <p:cNvPr id="13" name="">
            <a:extLst xmlns:a="http://schemas.openxmlformats.org/drawingml/2006/main">
              <a:ext uri="{FF2B5EF4-FFF2-40B4-BE49-F238E27FC236}">
                <a16:creationId xmlns:a16="http://schemas.microsoft.com/office/drawing/2014/main" id="{23DECA4A-56F1-453E-8CDA-55C4FDBFCF20}"/>
              </a:ext>
            </a:extLst>
          </p:cNvPr>
          <p:cNvSpPr>
            <a:spLocks xmlns:a="http://schemas.openxmlformats.org/drawingml/2006/main" noGrp="1"/>
          </p:cNvSpPr>
          <p:nvPr/>
        </p:nvSpPr>
        <p:spPr>
          <a:xfrm xmlns:a="http://schemas.openxmlformats.org/drawingml/2006/main">
            <a:off x="8362950" y="2686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i="0">
                <a:solidFill>
                  <a:srgbClr val="5B6472"/>
                </a:solidFill>
                <a:latin typeface="Consolas"/>
                <a:ea typeface="Consolas"/>
                <a:cs typeface="Consolas"/>
              </a:defRPr>
            </a:pPr>
            <a:r>
              <a:rPr sz="1125" b="0" i="0">
                <a:solidFill>
                  <a:srgbClr val="5B6472"/>
                </a:solidFill>
                <a:latin typeface="Consolas"/>
                <a:ea typeface="Consolas"/>
                <a:cs typeface="Consolas"/>
              </a:rPr>
              <a:t>1 min           119 min</a:t>
            </a:r>
          </a:p>
        </p:txBody>
      </p:sp>
      <p:sp>
        <p:nvSpPr>
          <p:cNvPr id="14" name="">
            <a:extLst xmlns:a="http://schemas.openxmlformats.org/drawingml/2006/main">
              <a:ext uri="{FF2B5EF4-FFF2-40B4-BE49-F238E27FC236}">
                <a16:creationId xmlns:a16="http://schemas.microsoft.com/office/drawing/2014/main" id="{82498439-2168-4A18-8A7B-F5268BF03D4C}"/>
              </a:ext>
            </a:extLst>
          </p:cNvPr>
          <p:cNvSpPr>
            <a:spLocks xmlns:a="http://schemas.openxmlformats.org/drawingml/2006/main" noGrp="1"/>
          </p:cNvSpPr>
          <p:nvPr/>
        </p:nvSpPr>
        <p:spPr>
          <a:xfrm xmlns:a="http://schemas.openxmlformats.org/drawingml/2006/main">
            <a:off x="8362950" y="3257550"/>
            <a:ext cx="295275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15" name="">
            <a:extLst xmlns:a="http://schemas.openxmlformats.org/drawingml/2006/main">
              <a:ext uri="{FF2B5EF4-FFF2-40B4-BE49-F238E27FC236}">
                <a16:creationId xmlns:a16="http://schemas.microsoft.com/office/drawing/2014/main" id="{7D5A1908-D11F-4EF5-99FE-D23454AAA46D}"/>
              </a:ext>
            </a:extLst>
          </p:cNvPr>
          <p:cNvSpPr>
            <a:spLocks xmlns:a="http://schemas.openxmlformats.org/drawingml/2006/main" noGrp="1"/>
          </p:cNvSpPr>
          <p:nvPr/>
        </p:nvSpPr>
        <p:spPr>
          <a:xfrm xmlns:a="http://schemas.openxmlformats.org/drawingml/2006/main">
            <a:off x="8362950" y="34861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111827"/>
                </a:solidFill>
                <a:latin typeface="Yu Gothic"/>
                <a:ea typeface="Yu Gothic"/>
                <a:cs typeface="Yu Gothic"/>
              </a:defRPr>
            </a:pPr>
            <a:r>
              <a:rPr sz="1725" b="1" i="0">
                <a:solidFill>
                  <a:srgbClr val="111827"/>
                </a:solidFill>
                <a:latin typeface="Yu Gothic"/>
                <a:ea typeface="Yu Gothic"/>
                <a:cs typeface="Yu Gothic"/>
              </a:rPr>
              <a:t>最初の30分で急減</a:t>
            </a:r>
          </a:p>
        </p:txBody>
      </p:sp>
      <p:sp>
        <p:nvSpPr>
          <p:cNvPr id="16" name="">
            <a:extLst xmlns:a="http://schemas.openxmlformats.org/drawingml/2006/main">
              <a:ext uri="{FF2B5EF4-FFF2-40B4-BE49-F238E27FC236}">
                <a16:creationId xmlns:a16="http://schemas.microsoft.com/office/drawing/2014/main" id="{D7A5EA18-7247-477E-A4C1-5892A8009465}"/>
              </a:ext>
            </a:extLst>
          </p:cNvPr>
          <p:cNvSpPr>
            <a:spLocks xmlns:a="http://schemas.openxmlformats.org/drawingml/2006/main" noGrp="1"/>
          </p:cNvSpPr>
          <p:nvPr/>
        </p:nvSpPr>
        <p:spPr>
          <a:xfrm xmlns:a="http://schemas.openxmlformats.org/drawingml/2006/main">
            <a:off x="8362950" y="398145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以後は緩やかな改善</a:t>
            </a:r>
          </a:p>
          <a:p xmlns:a="http://schemas.openxmlformats.org/drawingml/2006/main">
            <a:pPr algn="l">
              <a:lnSpc>
                <a:spcPct val="135000"/>
              </a:lnSpc>
              <a:buNone/>
              <a:defRPr sz="1425" b="0" i="0">
                <a:solidFill>
                  <a:srgbClr val="5B6472"/>
                </a:solidFill>
                <a:latin typeface="Yu Gothic"/>
                <a:ea typeface="Yu Gothic"/>
                <a:cs typeface="Yu Gothic"/>
              </a:defRPr>
            </a:pPr>
            <a:r>
              <a:rPr sz="1425" b="0" i="0">
                <a:solidFill>
                  <a:srgbClr val="5B6472"/>
                </a:solidFill>
                <a:latin typeface="Yu Gothic"/>
                <a:ea typeface="Yu Gothic"/>
                <a:cs typeface="Yu Gothic"/>
              </a:rPr>
              <a:t>発散・GPU異常なし</a:t>
            </a:r>
          </a:p>
        </p:txBody>
      </p:sp>
      <p:sp>
        <p:nvSpPr>
          <p:cNvPr id="17" name="">
            <a:extLst xmlns:a="http://schemas.openxmlformats.org/drawingml/2006/main">
              <a:ext uri="{FF2B5EF4-FFF2-40B4-BE49-F238E27FC236}">
                <a16:creationId xmlns:a16="http://schemas.microsoft.com/office/drawing/2014/main" id="{333D82C1-AD46-43C9-9C9A-D1E9D255D850}"/>
              </a:ext>
            </a:extLst>
          </p:cNvPr>
          <p:cNvSpPr>
            <a:spLocks xmlns:a="http://schemas.openxmlformats.org/drawingml/2006/main" noGrp="1"/>
          </p:cNvSpPr>
          <p:nvPr/>
        </p:nvSpPr>
        <p:spPr>
          <a:xfrm xmlns:a="http://schemas.openxmlformats.org/drawingml/2006/main">
            <a:off x="8362950" y="5086350"/>
            <a:ext cx="2952750" cy="723900"/>
          </a:xfrm>
          <a:prstGeom xmlns:a="http://schemas.openxmlformats.org/drawingml/2006/main" prst="rect">
            <a:avLst/>
          </a:prstGeom>
          <a:solidFill xmlns:a="http://schemas.openxmlformats.org/drawingml/2006/main">
            <a:srgbClr val="FFF1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4CB09B-2F47-4598-8B64-DC7C744F8B89}"/>
              </a:ext>
            </a:extLst>
          </p:cNvPr>
          <p:cNvSpPr>
            <a:spLocks xmlns:a="http://schemas.openxmlformats.org/drawingml/2006/main" noGrp="1"/>
          </p:cNvSpPr>
          <p:nvPr/>
        </p:nvSpPr>
        <p:spPr>
          <a:xfrm xmlns:a="http://schemas.openxmlformats.org/drawingml/2006/main">
            <a:off x="8515350" y="5238750"/>
            <a:ext cx="2647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1" i="0">
                <a:solidFill>
                  <a:srgbClr val="C8423A"/>
                </a:solidFill>
                <a:latin typeface="Yu Gothic"/>
                <a:ea typeface="Yu Gothic"/>
                <a:cs typeface="Yu Gothic"/>
              </a:defRPr>
            </a:pPr>
            <a:r>
              <a:rPr sz="1275" b="1" i="0">
                <a:solidFill>
                  <a:srgbClr val="C8423A"/>
                </a:solidFill>
                <a:latin typeface="Yu Gothic"/>
                <a:ea typeface="Yu Gothic"/>
                <a:cs typeface="Yu Gothic"/>
              </a:rPr>
              <a:t>validation曲線を保存していない</a:t>
            </a:r>
          </a:p>
          <a:p xmlns:a="http://schemas.openxmlformats.org/drawingml/2006/main">
            <a:pPr algn="l">
              <a:lnSpc>
                <a:spcPct val="125000"/>
              </a:lnSpc>
              <a:buNone/>
              <a:defRPr sz="1275" b="1" i="0">
                <a:solidFill>
                  <a:srgbClr val="C8423A"/>
                </a:solidFill>
                <a:latin typeface="Yu Gothic"/>
                <a:ea typeface="Yu Gothic"/>
                <a:cs typeface="Yu Gothic"/>
              </a:defRPr>
            </a:pPr>
            <a:r>
              <a:rPr sz="1275" b="1" i="0">
                <a:solidFill>
                  <a:srgbClr val="C8423A"/>
                </a:solidFill>
                <a:latin typeface="Yu Gothic"/>
                <a:ea typeface="Yu Gothic"/>
                <a:cs typeface="Yu Gothic"/>
              </a:rPr>
              <a:t>→ 過学習の開始点は断定しない</a:t>
            </a:r>
          </a:p>
        </p:txBody>
      </p:sp>
    </p:spTree>
    <p:extLst>
      <p:ext uri="{BB962C8B-B14F-4D97-AF65-F5344CB8AC3E}">
        <p14:creationId xmlns:p14="http://schemas.microsoft.com/office/powerpoint/2010/main" val="10901178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C1A409-1CB3-4B1F-9808-7B2A035EE5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02B813-B963-4F17-BA33-7E975D2458F9}"/>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HELD-OUT EVALUATION</a:t>
            </a:r>
          </a:p>
        </p:txBody>
      </p:sp>
      <p:sp>
        <p:nvSpPr>
          <p:cNvPr id="3" name="">
            <a:extLst xmlns:a="http://schemas.openxmlformats.org/drawingml/2006/main">
              <a:ext uri="{FF2B5EF4-FFF2-40B4-BE49-F238E27FC236}">
                <a16:creationId xmlns:a16="http://schemas.microsoft.com/office/drawing/2014/main" id="{8043E3C9-CA46-4CC8-AABC-79B2CC5F1FD2}"/>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18 / 32</a:t>
            </a:r>
          </a:p>
        </p:txBody>
      </p:sp>
      <p:sp>
        <p:nvSpPr>
          <p:cNvPr id="4" name="">
            <a:extLst xmlns:a="http://schemas.openxmlformats.org/drawingml/2006/main">
              <a:ext uri="{FF2B5EF4-FFF2-40B4-BE49-F238E27FC236}">
                <a16:creationId xmlns:a16="http://schemas.microsoft.com/office/drawing/2014/main" id="{AA7DA239-BB65-492F-BD26-3A858911DB29}"/>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D1E237AF-8642-4A5C-86DC-03D6EF8C3FBC}"/>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9800BBDC-D69D-4623-9330-3C42C9DC0FAD}"/>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F2C5A26-28AE-456B-8023-26E84EEDD251}"/>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36445DF2-9D84-43F3-8543-032003867571}"/>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未知形状は大域相関を捉えたが、点ごとの誤差は大きい</a:t>
            </a:r>
          </a:p>
        </p:txBody>
      </p:sp>
      <p:sp>
        <p:nvSpPr>
          <p:cNvPr id="9" name="">
            <a:extLst xmlns:a="http://schemas.openxmlformats.org/drawingml/2006/main">
              <a:ext uri="{FF2B5EF4-FFF2-40B4-BE49-F238E27FC236}">
                <a16:creationId xmlns:a16="http://schemas.microsoft.com/office/drawing/2014/main" id="{7E6D9A87-65F1-4FE4-A173-F9FFE71D271F}"/>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C3E9BC85-2739-440E-948A-3C36033F652F}"/>
              </a:ext>
            </a:extLst>
          </p:cNvPr>
          <p:cNvSpPr>
            <a:spLocks xmlns:a="http://schemas.openxmlformats.org/drawingml/2006/main" noGrp="1"/>
          </p:cNvSpPr>
          <p:nvPr/>
        </p:nvSpPr>
        <p:spPr>
          <a:xfrm xmlns:a="http://schemas.openxmlformats.org/drawingml/2006/main">
            <a:off x="495300" y="1581150"/>
            <a:ext cx="11201400" cy="445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1a9737b3ba84dd8"/>
          <a:stretch xmlns:a="http://schemas.openxmlformats.org/drawingml/2006/main"/>
        </p:blipFill>
        <p:spPr>
          <a:xfrm xmlns:a="http://schemas.openxmlformats.org/drawingml/2006/main">
            <a:off x="1524000" y="1581150"/>
            <a:ext cx="9144000" cy="44577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90833B0-6551-4DC4-ACBC-993A4BEACFB8}"/>
              </a:ext>
            </a:extLst>
          </p:cNvPr>
          <p:cNvSpPr>
            <a:spLocks xmlns:a="http://schemas.openxmlformats.org/drawingml/2006/main" noGrp="1"/>
          </p:cNvSpPr>
          <p:nvPr/>
        </p:nvSpPr>
        <p:spPr>
          <a:xfrm xmlns:a="http://schemas.openxmlformats.org/drawingml/2006/main">
            <a:off x="742950" y="6067425"/>
            <a:ext cx="1070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500" b="1" i="0">
                <a:solidFill>
                  <a:srgbClr val="111827"/>
                </a:solidFill>
                <a:latin typeface="Yu Gothic"/>
                <a:ea typeface="Yu Gothic"/>
                <a:cs typeface="Yu Gothic"/>
              </a:defRPr>
            </a:pPr>
            <a:r>
              <a:rPr sz="1500" b="1" i="0">
                <a:solidFill>
                  <a:srgbClr val="111827"/>
                </a:solidFill>
                <a:latin typeface="Yu Gothic"/>
                <a:ea typeface="Yu Gothic"/>
                <a:cs typeface="Yu Gothic"/>
              </a:rPr>
              <a:t>読み方：Correlation ≈ 0.77 → 大域パターン / Relative L2 ≈ 0.51 → 定量値は粗い</a:t>
            </a:r>
          </a:p>
        </p:txBody>
      </p:sp>
    </p:spTree>
    <p:extLst>
      <p:ext uri="{BB962C8B-B14F-4D97-AF65-F5344CB8AC3E}">
        <p14:creationId xmlns:p14="http://schemas.microsoft.com/office/powerpoint/2010/main" val="4640523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F2D260-6AE4-4679-9088-4217D555C11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256211-2DC8-4649-8B9B-A2BDA95FDD89}"/>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3D RESULT</a:t>
            </a:r>
          </a:p>
        </p:txBody>
      </p:sp>
      <p:sp>
        <p:nvSpPr>
          <p:cNvPr id="3" name="">
            <a:extLst xmlns:a="http://schemas.openxmlformats.org/drawingml/2006/main">
              <a:ext uri="{FF2B5EF4-FFF2-40B4-BE49-F238E27FC236}">
                <a16:creationId xmlns:a16="http://schemas.microsoft.com/office/drawing/2014/main" id="{483ED8B5-4DEC-46D0-95C9-52C18054DBC4}"/>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19 / 32</a:t>
            </a:r>
          </a:p>
        </p:txBody>
      </p:sp>
      <p:sp>
        <p:nvSpPr>
          <p:cNvPr id="4" name="">
            <a:extLst xmlns:a="http://schemas.openxmlformats.org/drawingml/2006/main">
              <a:ext uri="{FF2B5EF4-FFF2-40B4-BE49-F238E27FC236}">
                <a16:creationId xmlns:a16="http://schemas.microsoft.com/office/drawing/2014/main" id="{D4CDCC39-2FC4-4EE9-A26B-C94ADDB36F9D}"/>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2351A719-4BC5-4A4A-B1ED-A3C08B4A84CA}"/>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E718CC69-A884-47EA-9128-1E3CA1F6633F}"/>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D79B7E-9944-428F-AB86-BDA2D1330160}"/>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9E82A462-CF25-481F-AEDD-704858E537CA}"/>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3次元分布は大域傾向を捉え、局所ピークを平滑化した</a:t>
            </a:r>
          </a:p>
        </p:txBody>
      </p:sp>
      <p:sp>
        <p:nvSpPr>
          <p:cNvPr id="9" name="">
            <a:extLst xmlns:a="http://schemas.openxmlformats.org/drawingml/2006/main">
              <a:ext uri="{FF2B5EF4-FFF2-40B4-BE49-F238E27FC236}">
                <a16:creationId xmlns:a16="http://schemas.microsoft.com/office/drawing/2014/main" id="{B0B19552-0CD4-4C94-83AD-CD4DC9436787}"/>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F6BF05B6-9BA5-4950-8A34-ACC46E79CABA}"/>
              </a:ext>
            </a:extLst>
          </p:cNvPr>
          <p:cNvSpPr>
            <a:spLocks xmlns:a="http://schemas.openxmlformats.org/drawingml/2006/main" noGrp="1"/>
          </p:cNvSpPr>
          <p:nvPr/>
        </p:nvSpPr>
        <p:spPr>
          <a:xfrm xmlns:a="http://schemas.openxmlformats.org/drawingml/2006/main">
            <a:off x="495300" y="1619250"/>
            <a:ext cx="11201400" cy="3943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9a2317cafd04085"/>
          <a:stretch xmlns:a="http://schemas.openxmlformats.org/drawingml/2006/main"/>
        </p:blipFill>
        <p:spPr>
          <a:xfrm xmlns:a="http://schemas.openxmlformats.org/drawingml/2006/main">
            <a:off x="495300" y="1818943"/>
            <a:ext cx="11201400" cy="354396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D5DD57-44AE-4B0C-B347-70652014DE71}"/>
              </a:ext>
            </a:extLst>
          </p:cNvPr>
          <p:cNvSpPr>
            <a:spLocks xmlns:a="http://schemas.openxmlformats.org/drawingml/2006/main" noGrp="1"/>
          </p:cNvSpPr>
          <p:nvPr/>
        </p:nvSpPr>
        <p:spPr>
          <a:xfrm xmlns:a="http://schemas.openxmlformats.org/drawingml/2006/main">
            <a:off x="1162050" y="56769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1" i="0">
                <a:solidFill>
                  <a:srgbClr val="5B6472"/>
                </a:solidFill>
                <a:latin typeface="Consolas"/>
                <a:ea typeface="Consolas"/>
                <a:cs typeface="Consolas"/>
              </a:defRPr>
            </a:pPr>
            <a:r>
              <a:rPr sz="1050" b="1" i="0">
                <a:solidFill>
                  <a:srgbClr val="5B6472"/>
                </a:solidFill>
                <a:latin typeface="Consolas"/>
                <a:ea typeface="Consolas"/>
                <a:cs typeface="Consolas"/>
              </a:rPr>
              <a:t>REFERENCE</a:t>
            </a:r>
          </a:p>
        </p:txBody>
      </p:sp>
      <p:sp>
        <p:nvSpPr>
          <p:cNvPr id="13" name="">
            <a:extLst xmlns:a="http://schemas.openxmlformats.org/drawingml/2006/main">
              <a:ext uri="{FF2B5EF4-FFF2-40B4-BE49-F238E27FC236}">
                <a16:creationId xmlns:a16="http://schemas.microsoft.com/office/drawing/2014/main" id="{C2AEF173-51B7-4D55-8BC5-2BB7349B32D1}"/>
              </a:ext>
            </a:extLst>
          </p:cNvPr>
          <p:cNvSpPr>
            <a:spLocks xmlns:a="http://schemas.openxmlformats.org/drawingml/2006/main" noGrp="1"/>
          </p:cNvSpPr>
          <p:nvPr/>
        </p:nvSpPr>
        <p:spPr>
          <a:xfrm xmlns:a="http://schemas.openxmlformats.org/drawingml/2006/main">
            <a:off x="4810125" y="56769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1" i="0">
                <a:solidFill>
                  <a:srgbClr val="4F7D00"/>
                </a:solidFill>
                <a:latin typeface="Consolas"/>
                <a:ea typeface="Consolas"/>
                <a:cs typeface="Consolas"/>
              </a:defRPr>
            </a:pPr>
            <a:r>
              <a:rPr sz="1050" b="1" i="0">
                <a:solidFill>
                  <a:srgbClr val="4F7D00"/>
                </a:solidFill>
                <a:latin typeface="Consolas"/>
                <a:ea typeface="Consolas"/>
                <a:cs typeface="Consolas"/>
              </a:rPr>
              <a:t>PREDICTION</a:t>
            </a:r>
          </a:p>
        </p:txBody>
      </p:sp>
      <p:sp>
        <p:nvSpPr>
          <p:cNvPr id="14" name="">
            <a:extLst xmlns:a="http://schemas.openxmlformats.org/drawingml/2006/main">
              <a:ext uri="{FF2B5EF4-FFF2-40B4-BE49-F238E27FC236}">
                <a16:creationId xmlns:a16="http://schemas.microsoft.com/office/drawing/2014/main" id="{8368BD84-4304-46BD-B120-814A6ADD2264}"/>
              </a:ext>
            </a:extLst>
          </p:cNvPr>
          <p:cNvSpPr>
            <a:spLocks xmlns:a="http://schemas.openxmlformats.org/drawingml/2006/main" noGrp="1"/>
          </p:cNvSpPr>
          <p:nvPr/>
        </p:nvSpPr>
        <p:spPr>
          <a:xfrm xmlns:a="http://schemas.openxmlformats.org/drawingml/2006/main">
            <a:off x="8477250" y="56769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1" i="0">
                <a:solidFill>
                  <a:srgbClr val="F58220"/>
                </a:solidFill>
                <a:latin typeface="Consolas"/>
                <a:ea typeface="Consolas"/>
                <a:cs typeface="Consolas"/>
              </a:defRPr>
            </a:pPr>
            <a:r>
              <a:rPr sz="1050" b="1" i="0">
                <a:solidFill>
                  <a:srgbClr val="F58220"/>
                </a:solidFill>
                <a:latin typeface="Consolas"/>
                <a:ea typeface="Consolas"/>
                <a:cs typeface="Consolas"/>
              </a:rPr>
              <a:t>ABSOLUTE ERROR</a:t>
            </a:r>
          </a:p>
        </p:txBody>
      </p:sp>
    </p:spTree>
    <p:extLst>
      <p:ext uri="{BB962C8B-B14F-4D97-AF65-F5344CB8AC3E}">
        <p14:creationId xmlns:p14="http://schemas.microsoft.com/office/powerpoint/2010/main" val="13294387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8FB0DA-4F58-4B91-9D3B-AFA411DC51A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25E278-5FAA-48C9-8CCD-E59821B0458E}"/>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ERROR READING</a:t>
            </a:r>
          </a:p>
        </p:txBody>
      </p:sp>
      <p:sp>
        <p:nvSpPr>
          <p:cNvPr id="3" name="">
            <a:extLst xmlns:a="http://schemas.openxmlformats.org/drawingml/2006/main">
              <a:ext uri="{FF2B5EF4-FFF2-40B4-BE49-F238E27FC236}">
                <a16:creationId xmlns:a16="http://schemas.microsoft.com/office/drawing/2014/main" id="{56074C01-C505-43A8-86D6-7645008ABA13}"/>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20 / 32</a:t>
            </a:r>
          </a:p>
        </p:txBody>
      </p:sp>
      <p:sp>
        <p:nvSpPr>
          <p:cNvPr id="4" name="">
            <a:extLst xmlns:a="http://schemas.openxmlformats.org/drawingml/2006/main">
              <a:ext uri="{FF2B5EF4-FFF2-40B4-BE49-F238E27FC236}">
                <a16:creationId xmlns:a16="http://schemas.microsoft.com/office/drawing/2014/main" id="{3A30A0F9-E498-4708-8467-85FA3FE02C8A}"/>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2C4D70DE-48A6-402F-AE8F-AED509958114}"/>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BEBB54A2-CE19-4253-AEFB-838F4063C69C}"/>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141049-100A-4AE6-A060-21F91E8A47A2}"/>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822C2EF1-244B-4F7D-B2AA-C3174C99CDD4}"/>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誤差は車輪・前端など局所幾何が複雑な場所に残る</a:t>
            </a:r>
          </a:p>
        </p:txBody>
      </p:sp>
      <p:sp>
        <p:nvSpPr>
          <p:cNvPr id="9" name="">
            <a:extLst xmlns:a="http://schemas.openxmlformats.org/drawingml/2006/main">
              <a:ext uri="{FF2B5EF4-FFF2-40B4-BE49-F238E27FC236}">
                <a16:creationId xmlns:a16="http://schemas.microsoft.com/office/drawing/2014/main" id="{534363E0-31A5-45DA-82DA-37C668F909B4}"/>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61413852-C9FD-4C9B-B940-55F05C1E4305}"/>
              </a:ext>
            </a:extLst>
          </p:cNvPr>
          <p:cNvSpPr>
            <a:spLocks xmlns:a="http://schemas.openxmlformats.org/drawingml/2006/main" noGrp="1"/>
          </p:cNvSpPr>
          <p:nvPr/>
        </p:nvSpPr>
        <p:spPr>
          <a:xfrm xmlns:a="http://schemas.openxmlformats.org/drawingml/2006/main">
            <a:off x="495300" y="1695450"/>
            <a:ext cx="6667500" cy="42481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059f7cfbdad460b"/>
          <a:stretch xmlns:a="http://schemas.openxmlformats.org/drawingml/2006/main"/>
        </p:blipFill>
        <p:spPr>
          <a:xfrm xmlns:a="http://schemas.openxmlformats.org/drawingml/2006/main">
            <a:off x="1332714" y="1695450"/>
            <a:ext cx="4992671" cy="4248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EDA7BCB-0E84-4E08-93E1-E71A79E14AEF}"/>
              </a:ext>
            </a:extLst>
          </p:cNvPr>
          <p:cNvSpPr>
            <a:spLocks xmlns:a="http://schemas.openxmlformats.org/drawingml/2006/main" noGrp="1"/>
          </p:cNvSpPr>
          <p:nvPr/>
        </p:nvSpPr>
        <p:spPr>
          <a:xfrm xmlns:a="http://schemas.openxmlformats.org/drawingml/2006/main">
            <a:off x="7562850" y="180975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i="0">
                <a:solidFill>
                  <a:srgbClr val="111827"/>
                </a:solidFill>
                <a:latin typeface="Yu Gothic"/>
                <a:ea typeface="Yu Gothic"/>
                <a:cs typeface="Yu Gothic"/>
              </a:defRPr>
            </a:pPr>
            <a:r>
              <a:rPr sz="2025" b="1" i="0">
                <a:solidFill>
                  <a:srgbClr val="111827"/>
                </a:solidFill>
                <a:latin typeface="Yu Gothic"/>
                <a:ea typeface="Yu Gothic"/>
                <a:cs typeface="Yu Gothic"/>
              </a:rPr>
              <a:t>誤差が大きい場所</a:t>
            </a:r>
          </a:p>
        </p:txBody>
      </p:sp>
      <p:sp>
        <p:nvSpPr>
          <p:cNvPr id="13" name="">
            <a:extLst xmlns:a="http://schemas.openxmlformats.org/drawingml/2006/main">
              <a:ext uri="{FF2B5EF4-FFF2-40B4-BE49-F238E27FC236}">
                <a16:creationId xmlns:a16="http://schemas.microsoft.com/office/drawing/2014/main" id="{171A40ED-56E7-4CF1-B8D4-ABA997B4AD5E}"/>
              </a:ext>
            </a:extLst>
          </p:cNvPr>
          <p:cNvSpPr>
            <a:spLocks xmlns:a="http://schemas.openxmlformats.org/drawingml/2006/main" noGrp="1"/>
          </p:cNvSpPr>
          <p:nvPr/>
        </p:nvSpPr>
        <p:spPr>
          <a:xfrm xmlns:a="http://schemas.openxmlformats.org/drawingml/2006/main">
            <a:off x="7562850" y="2400300"/>
            <a:ext cx="36195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575" b="0" i="0">
                <a:solidFill>
                  <a:srgbClr val="111827"/>
                </a:solidFill>
                <a:latin typeface="Yu Gothic"/>
                <a:ea typeface="Yu Gothic"/>
                <a:cs typeface="Yu Gothic"/>
              </a:defRPr>
            </a:pPr>
            <a:r>
              <a:rPr sz="1575" b="0" i="0">
                <a:solidFill>
                  <a:srgbClr val="111827"/>
                </a:solidFill>
                <a:latin typeface="Yu Gothic"/>
                <a:ea typeface="Yu Gothic"/>
                <a:cs typeface="Yu Gothic"/>
              </a:rPr>
              <a:t>• 前後輪・ホイールアーチ</a:t>
            </a:r>
          </a:p>
          <a:p xmlns:a="http://schemas.openxmlformats.org/drawingml/2006/main">
            <a:pPr algn="l">
              <a:lnSpc>
                <a:spcPct val="145000"/>
              </a:lnSpc>
              <a:buNone/>
              <a:defRPr sz="1575" b="0" i="0">
                <a:solidFill>
                  <a:srgbClr val="111827"/>
                </a:solidFill>
                <a:latin typeface="Yu Gothic"/>
                <a:ea typeface="Yu Gothic"/>
                <a:cs typeface="Yu Gothic"/>
              </a:defRPr>
            </a:pPr>
            <a:r>
              <a:rPr sz="1575" b="0" i="0">
                <a:solidFill>
                  <a:srgbClr val="111827"/>
                </a:solidFill>
                <a:latin typeface="Yu Gothic"/>
                <a:ea typeface="Yu Gothic"/>
                <a:cs typeface="Yu Gothic"/>
              </a:rPr>
              <a:t>• フロントバンパーと前端</a:t>
            </a:r>
          </a:p>
          <a:p xmlns:a="http://schemas.openxmlformats.org/drawingml/2006/main">
            <a:pPr algn="l">
              <a:lnSpc>
                <a:spcPct val="145000"/>
              </a:lnSpc>
              <a:buNone/>
              <a:defRPr sz="1575" b="0" i="0">
                <a:solidFill>
                  <a:srgbClr val="111827"/>
                </a:solidFill>
                <a:latin typeface="Yu Gothic"/>
                <a:ea typeface="Yu Gothic"/>
                <a:cs typeface="Yu Gothic"/>
              </a:defRPr>
            </a:pPr>
            <a:r>
              <a:rPr sz="1575" b="0" i="0">
                <a:solidFill>
                  <a:srgbClr val="111827"/>
                </a:solidFill>
                <a:latin typeface="Yu Gothic"/>
                <a:ea typeface="Yu Gothic"/>
                <a:cs typeface="Yu Gothic"/>
              </a:rPr>
              <a:t>• ボンネット／窓／ルーフの境界</a:t>
            </a:r>
          </a:p>
          <a:p xmlns:a="http://schemas.openxmlformats.org/drawingml/2006/main">
            <a:pPr algn="l">
              <a:lnSpc>
                <a:spcPct val="145000"/>
              </a:lnSpc>
              <a:buNone/>
              <a:defRPr sz="1575" b="0" i="0">
                <a:solidFill>
                  <a:srgbClr val="111827"/>
                </a:solidFill>
                <a:latin typeface="Yu Gothic"/>
                <a:ea typeface="Yu Gothic"/>
                <a:cs typeface="Yu Gothic"/>
              </a:defRPr>
            </a:pPr>
            <a:r>
              <a:rPr sz="1575" b="0" i="0">
                <a:solidFill>
                  <a:srgbClr val="111827"/>
                </a:solidFill>
                <a:latin typeface="Yu Gothic"/>
                <a:ea typeface="Yu Gothic"/>
                <a:cs typeface="Yu Gothic"/>
              </a:rPr>
              <a:t>• 局所的で急峻な圧力ピーク</a:t>
            </a:r>
          </a:p>
        </p:txBody>
      </p:sp>
      <p:sp>
        <p:nvSpPr>
          <p:cNvPr id="14" name="">
            <a:extLst xmlns:a="http://schemas.openxmlformats.org/drawingml/2006/main">
              <a:ext uri="{FF2B5EF4-FFF2-40B4-BE49-F238E27FC236}">
                <a16:creationId xmlns:a16="http://schemas.microsoft.com/office/drawing/2014/main" id="{476294E6-54DF-45D7-B839-8092224C3170}"/>
              </a:ext>
            </a:extLst>
          </p:cNvPr>
          <p:cNvSpPr>
            <a:spLocks xmlns:a="http://schemas.openxmlformats.org/drawingml/2006/main" noGrp="1"/>
          </p:cNvSpPr>
          <p:nvPr/>
        </p:nvSpPr>
        <p:spPr>
          <a:xfrm xmlns:a="http://schemas.openxmlformats.org/drawingml/2006/main">
            <a:off x="7562850" y="4686300"/>
            <a:ext cx="3619500" cy="10287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5670EF-D072-42B4-9D81-0BC3D44EA289}"/>
              </a:ext>
            </a:extLst>
          </p:cNvPr>
          <p:cNvSpPr>
            <a:spLocks xmlns:a="http://schemas.openxmlformats.org/drawingml/2006/main" noGrp="1"/>
          </p:cNvSpPr>
          <p:nvPr/>
        </p:nvSpPr>
        <p:spPr>
          <a:xfrm xmlns:a="http://schemas.openxmlformats.org/drawingml/2006/main">
            <a:off x="7753350" y="48577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i="0">
                <a:solidFill>
                  <a:srgbClr val="3D8DFF"/>
                </a:solidFill>
                <a:latin typeface="Consolas"/>
                <a:ea typeface="Consolas"/>
                <a:cs typeface="Consolas"/>
              </a:defRPr>
            </a:pPr>
            <a:r>
              <a:rPr sz="1200" b="1" i="0">
                <a:solidFill>
                  <a:srgbClr val="3D8DFF"/>
                </a:solidFill>
                <a:latin typeface="Consolas"/>
                <a:ea typeface="Consolas"/>
                <a:cs typeface="Consolas"/>
              </a:rPr>
              <a:t>仮説</a:t>
            </a:r>
          </a:p>
        </p:txBody>
      </p:sp>
      <p:sp>
        <p:nvSpPr>
          <p:cNvPr id="16" name="">
            <a:extLst xmlns:a="http://schemas.openxmlformats.org/drawingml/2006/main">
              <a:ext uri="{FF2B5EF4-FFF2-40B4-BE49-F238E27FC236}">
                <a16:creationId xmlns:a16="http://schemas.microsoft.com/office/drawing/2014/main" id="{0184D517-8B93-4215-BACA-B3B625B57EE6}"/>
              </a:ext>
            </a:extLst>
          </p:cNvPr>
          <p:cNvSpPr>
            <a:spLocks xmlns:a="http://schemas.openxmlformats.org/drawingml/2006/main" noGrp="1"/>
          </p:cNvSpPr>
          <p:nvPr/>
        </p:nvSpPr>
        <p:spPr>
          <a:xfrm xmlns:a="http://schemas.openxmlformats.org/drawingml/2006/main">
            <a:off x="7753350" y="5153025"/>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1" i="0">
                <a:solidFill>
                  <a:srgbClr val="111827"/>
                </a:solidFill>
                <a:latin typeface="Yu Gothic"/>
                <a:ea typeface="Yu Gothic"/>
                <a:cs typeface="Yu Gothic"/>
              </a:defRPr>
            </a:pPr>
            <a:r>
              <a:rPr sz="1350" b="1" i="0">
                <a:solidFill>
                  <a:srgbClr val="111827"/>
                </a:solidFill>
                <a:latin typeface="Yu Gothic"/>
                <a:ea typeface="Yu Gothic"/>
                <a:cs typeface="Yu Gothic"/>
              </a:rPr>
              <a:t>少数形状・24³ grid・query+3近傍では、局所表現が律速になった可能性</a:t>
            </a:r>
          </a:p>
        </p:txBody>
      </p:sp>
    </p:spTree>
    <p:extLst>
      <p:ext uri="{BB962C8B-B14F-4D97-AF65-F5344CB8AC3E}">
        <p14:creationId xmlns:p14="http://schemas.microsoft.com/office/powerpoint/2010/main" val="40225856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23F496-E3D1-42E3-A426-A971FC6A1DD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890F35-FADD-4176-B2EB-2C2B4A03CFEC}"/>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GENERALIZATION CHECK</a:t>
            </a:r>
          </a:p>
        </p:txBody>
      </p:sp>
      <p:sp>
        <p:nvSpPr>
          <p:cNvPr id="3" name="">
            <a:extLst xmlns:a="http://schemas.openxmlformats.org/drawingml/2006/main">
              <a:ext uri="{FF2B5EF4-FFF2-40B4-BE49-F238E27FC236}">
                <a16:creationId xmlns:a16="http://schemas.microsoft.com/office/drawing/2014/main" id="{96D20A77-8073-40EE-A664-46860F842125}"/>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21 / 32</a:t>
            </a:r>
          </a:p>
        </p:txBody>
      </p:sp>
      <p:sp>
        <p:nvSpPr>
          <p:cNvPr id="4" name="">
            <a:extLst xmlns:a="http://schemas.openxmlformats.org/drawingml/2006/main">
              <a:ext uri="{FF2B5EF4-FFF2-40B4-BE49-F238E27FC236}">
                <a16:creationId xmlns:a16="http://schemas.microsoft.com/office/drawing/2014/main" id="{26FD6A91-3358-4EA1-9344-47EF5BA16149}"/>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B3FF5B5F-FB34-4B72-82AD-8CA6D8FFB0AA}"/>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D049247D-C655-419E-A793-409D1A43D4AB}"/>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3FEE0C-D2DE-4ED3-BC3D-13F03CE46D35}"/>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D63094AA-788B-43E2-A229-7EA5C44253BC}"/>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train lossが下がっても、test精度は上がらない</a:t>
            </a:r>
          </a:p>
        </p:txBody>
      </p:sp>
      <p:sp>
        <p:nvSpPr>
          <p:cNvPr id="9" name="">
            <a:extLst xmlns:a="http://schemas.openxmlformats.org/drawingml/2006/main">
              <a:ext uri="{FF2B5EF4-FFF2-40B4-BE49-F238E27FC236}">
                <a16:creationId xmlns:a16="http://schemas.microsoft.com/office/drawing/2014/main" id="{764F106C-96FE-4CFA-B332-FE6F5F35F18F}"/>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graphicFrame>
        <p:nvGraphicFramePr>
          <p:cNvPr id="24" name=""/>
          <p:cNvGraphicFramePr/>
          <p:nvPr/>
        </p:nvGraphicFramePr>
        <p:xfrm>
          <a:off xmlns:a="http://schemas.openxmlformats.org/drawingml/2006/main" x="876300" y="1943100"/>
          <a:ext xmlns:a="http://schemas.openxmlformats.org/drawingml/2006/main" cx="10439400" cy="2343150"/>
        </p:xfrm>
        <a:graphic xmlns:a="http://schemas.openxmlformats.org/drawingml/2006/main">
          <a:graphicData uri="http://schemas.openxmlformats.org/drawingml/2006/table">
            <a:tbl>
              <a:tblPr/>
              <a:tblGrid>
                <a:gridCol w="4639733"/>
                <a:gridCol w="2899833"/>
                <a:gridCol w="2899833"/>
              </a:tblGrid>
              <a:tr h="585788">
                <a:tc>
                  <a:txBody>
                    <a:bodyPr/>
                    <a:lstStyle/>
                    <a:p>
                      <a:r>
                        <a:rPr sz="1350" b="1">
                          <a:solidFill>
                            <a:srgbClr val="FFFFFF"/>
                          </a:solidFill>
                          <a:latin typeface="Yu Gothic"/>
                          <a:ea typeface="Yu Gothic"/>
                          <a:cs typeface="Yu Gothic"/>
                        </a:rPr>
                        <a:t>held-out mean</a:t>
                      </a:r>
                    </a:p>
                  </a:txBody>
                  <a:tcPr marL="91440" marR="91440" marT="45720" marB="45720">
                    <a:solidFill>
                      <a:srgbClr val="111827"/>
                    </a:solidFill>
                  </a:tcPr>
                </a:tc>
                <a:tc>
                  <a:txBody>
                    <a:bodyPr/>
                    <a:lstStyle/>
                    <a:p>
                      <a:r>
                        <a:rPr sz="1350" b="1">
                          <a:solidFill>
                            <a:srgbClr val="FFFFFF"/>
                          </a:solidFill>
                          <a:latin typeface="Yu Gothic"/>
                          <a:ea typeface="Yu Gothic"/>
                          <a:cs typeface="Yu Gothic"/>
                        </a:rPr>
                        <a:t>3 min smoke</a:t>
                      </a:r>
                    </a:p>
                  </a:txBody>
                  <a:tcPr marL="91440" marR="91440" marT="45720" marB="45720">
                    <a:solidFill>
                      <a:srgbClr val="111827"/>
                    </a:solidFill>
                  </a:tcPr>
                </a:tc>
                <a:tc>
                  <a:txBody>
                    <a:bodyPr/>
                    <a:lstStyle/>
                    <a:p>
                      <a:r>
                        <a:rPr sz="1350" b="1">
                          <a:solidFill>
                            <a:srgbClr val="FFFFFF"/>
                          </a:solidFill>
                          <a:latin typeface="Yu Gothic"/>
                          <a:ea typeface="Yu Gothic"/>
                          <a:cs typeface="Yu Gothic"/>
                        </a:rPr>
                        <a:t>120 min run</a:t>
                      </a:r>
                    </a:p>
                  </a:txBody>
                  <a:tcPr marL="91440" marR="91440" marT="45720" marB="45720">
                    <a:solidFill>
                      <a:srgbClr val="111827"/>
                    </a:solidFill>
                  </a:tcPr>
                </a:tc>
              </a:tr>
              <a:tr h="585788">
                <a:tc>
                  <a:txBody>
                    <a:bodyPr/>
                    <a:lstStyle/>
                    <a:p>
                      <a:r>
                        <a:rPr sz="1425" b="1">
                          <a:solidFill>
                            <a:srgbClr val="111827"/>
                          </a:solidFill>
                          <a:latin typeface="Yu Gothic"/>
                          <a:ea typeface="Yu Gothic"/>
                          <a:cs typeface="Yu Gothic"/>
                        </a:rPr>
                        <a:t>train loss</a:t>
                      </a:r>
                    </a:p>
                  </a:txBody>
                  <a:tcPr marL="91440" marR="91440" marT="45720" marB="45720">
                    <a:solidFill>
                      <a:srgbClr val="FFFFFF"/>
                    </a:solidFill>
                  </a:tcPr>
                </a:tc>
                <a:tc>
                  <a:txBody>
                    <a:bodyPr/>
                    <a:lstStyle/>
                    <a:p>
                      <a:r>
                        <a:rPr sz="1425" b="0">
                          <a:solidFill>
                            <a:srgbClr val="111827"/>
                          </a:solidFill>
                          <a:latin typeface="Consolas"/>
                          <a:ea typeface="Consolas"/>
                          <a:cs typeface="Consolas"/>
                        </a:rPr>
                        <a:t>higher</a:t>
                      </a:r>
                    </a:p>
                  </a:txBody>
                  <a:tcPr marL="91440" marR="91440" marT="45720" marB="45720">
                    <a:solidFill>
                      <a:srgbClr val="FFFFFF"/>
                    </a:solidFill>
                  </a:tcPr>
                </a:tc>
                <a:tc>
                  <a:txBody>
                    <a:bodyPr/>
                    <a:lstStyle/>
                    <a:p>
                      <a:r>
                        <a:rPr sz="1425" b="1">
                          <a:solidFill>
                            <a:srgbClr val="3D8DFF"/>
                          </a:solidFill>
                          <a:latin typeface="Consolas"/>
                          <a:ea typeface="Consolas"/>
                          <a:cs typeface="Consolas"/>
                        </a:rPr>
                        <a:t>0.00818</a:t>
                      </a:r>
                    </a:p>
                  </a:txBody>
                  <a:tcPr marL="91440" marR="91440" marT="45720" marB="45720">
                    <a:solidFill>
                      <a:srgbClr val="FFFFFF"/>
                    </a:solidFill>
                  </a:tcPr>
                </a:tc>
              </a:tr>
              <a:tr h="585788">
                <a:tc>
                  <a:txBody>
                    <a:bodyPr/>
                    <a:lstStyle/>
                    <a:p>
                      <a:r>
                        <a:rPr sz="1425" b="1">
                          <a:solidFill>
                            <a:srgbClr val="111827"/>
                          </a:solidFill>
                          <a:latin typeface="Yu Gothic"/>
                          <a:ea typeface="Yu Gothic"/>
                          <a:cs typeface="Yu Gothic"/>
                        </a:rPr>
                        <a:t>Relative L2</a:t>
                      </a:r>
                    </a:p>
                  </a:txBody>
                  <a:tcPr marL="91440" marR="91440" marT="45720" marB="45720">
                    <a:solidFill>
                      <a:srgbClr val="F1F3F5"/>
                    </a:solidFill>
                  </a:tcPr>
                </a:tc>
                <a:tc>
                  <a:txBody>
                    <a:bodyPr/>
                    <a:lstStyle/>
                    <a:p>
                      <a:r>
                        <a:rPr sz="1425" b="0">
                          <a:solidFill>
                            <a:srgbClr val="111827"/>
                          </a:solidFill>
                          <a:latin typeface="Consolas"/>
                          <a:ea typeface="Consolas"/>
                          <a:cs typeface="Consolas"/>
                        </a:rPr>
                        <a:t>≈ 0.486</a:t>
                      </a:r>
                    </a:p>
                  </a:txBody>
                  <a:tcPr marL="91440" marR="91440" marT="45720" marB="45720">
                    <a:solidFill>
                      <a:srgbClr val="F1F3F5"/>
                    </a:solidFill>
                  </a:tcPr>
                </a:tc>
                <a:tc>
                  <a:txBody>
                    <a:bodyPr/>
                    <a:lstStyle/>
                    <a:p>
                      <a:r>
                        <a:rPr sz="1425" b="1">
                          <a:solidFill>
                            <a:srgbClr val="3D8DFF"/>
                          </a:solidFill>
                          <a:latin typeface="Consolas"/>
                          <a:ea typeface="Consolas"/>
                          <a:cs typeface="Consolas"/>
                        </a:rPr>
                        <a:t>≈ 0.509</a:t>
                      </a:r>
                    </a:p>
                  </a:txBody>
                  <a:tcPr marL="91440" marR="91440" marT="45720" marB="45720">
                    <a:solidFill>
                      <a:srgbClr val="F1F3F5"/>
                    </a:solidFill>
                  </a:tcPr>
                </a:tc>
              </a:tr>
              <a:tr h="585788">
                <a:tc>
                  <a:txBody>
                    <a:bodyPr/>
                    <a:lstStyle/>
                    <a:p>
                      <a:r>
                        <a:rPr sz="1425" b="1">
                          <a:solidFill>
                            <a:srgbClr val="111827"/>
                          </a:solidFill>
                          <a:latin typeface="Yu Gothic"/>
                          <a:ea typeface="Yu Gothic"/>
                          <a:cs typeface="Yu Gothic"/>
                        </a:rPr>
                        <a:t>Correlation</a:t>
                      </a:r>
                    </a:p>
                  </a:txBody>
                  <a:tcPr marL="91440" marR="91440" marT="45720" marB="45720">
                    <a:solidFill>
                      <a:srgbClr val="FFFFFF"/>
                    </a:solidFill>
                  </a:tcPr>
                </a:tc>
                <a:tc>
                  <a:txBody>
                    <a:bodyPr/>
                    <a:lstStyle/>
                    <a:p>
                      <a:r>
                        <a:rPr sz="1425" b="0">
                          <a:solidFill>
                            <a:srgbClr val="111827"/>
                          </a:solidFill>
                          <a:latin typeface="Consolas"/>
                          <a:ea typeface="Consolas"/>
                          <a:cs typeface="Consolas"/>
                        </a:rPr>
                        <a:t>≈ 0.768</a:t>
                      </a:r>
                    </a:p>
                  </a:txBody>
                  <a:tcPr marL="91440" marR="91440" marT="45720" marB="45720">
                    <a:solidFill>
                      <a:srgbClr val="FFFFFF"/>
                    </a:solidFill>
                  </a:tcPr>
                </a:tc>
                <a:tc>
                  <a:txBody>
                    <a:bodyPr/>
                    <a:lstStyle/>
                    <a:p>
                      <a:r>
                        <a:rPr sz="1425" b="1">
                          <a:solidFill>
                            <a:srgbClr val="3D8DFF"/>
                          </a:solidFill>
                          <a:latin typeface="Consolas"/>
                          <a:ea typeface="Consolas"/>
                          <a:cs typeface="Consolas"/>
                        </a:rPr>
                        <a:t>≈ 0.771</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D8AC6BE5-B310-4A3F-B0C4-BF0BAECEC74B}"/>
              </a:ext>
            </a:extLst>
          </p:cNvPr>
          <p:cNvSpPr>
            <a:spLocks xmlns:a="http://schemas.openxmlformats.org/drawingml/2006/main" noGrp="1"/>
          </p:cNvSpPr>
          <p:nvPr/>
        </p:nvSpPr>
        <p:spPr>
          <a:xfrm xmlns:a="http://schemas.openxmlformats.org/drawingml/2006/main">
            <a:off x="876300" y="46863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1" i="0">
                <a:solidFill>
                  <a:srgbClr val="3D8DFF"/>
                </a:solidFill>
                <a:latin typeface="Consolas"/>
                <a:ea typeface="Consolas"/>
                <a:cs typeface="Consolas"/>
              </a:defRPr>
            </a:pPr>
            <a:r>
              <a:rPr sz="1275" b="1" i="0">
                <a:solidFill>
                  <a:srgbClr val="3D8DFF"/>
                </a:solidFill>
                <a:latin typeface="Consolas"/>
                <a:ea typeface="Consolas"/>
                <a:cs typeface="Consolas"/>
              </a:rPr>
              <a:t>観察</a:t>
            </a:r>
          </a:p>
        </p:txBody>
      </p:sp>
      <p:sp>
        <p:nvSpPr>
          <p:cNvPr id="12" name="">
            <a:extLst xmlns:a="http://schemas.openxmlformats.org/drawingml/2006/main">
              <a:ext uri="{FF2B5EF4-FFF2-40B4-BE49-F238E27FC236}">
                <a16:creationId xmlns:a16="http://schemas.microsoft.com/office/drawing/2014/main" id="{0696E99E-61EB-4877-A753-D64AB1BDAD49}"/>
              </a:ext>
            </a:extLst>
          </p:cNvPr>
          <p:cNvSpPr>
            <a:spLocks xmlns:a="http://schemas.openxmlformats.org/drawingml/2006/main" noGrp="1"/>
          </p:cNvSpPr>
          <p:nvPr/>
        </p:nvSpPr>
        <p:spPr>
          <a:xfrm xmlns:a="http://schemas.openxmlformats.org/drawingml/2006/main">
            <a:off x="2076450" y="4648200"/>
            <a:ext cx="885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最適化は進んだ。しかし未知形状のRelative L2は改善せず、相関はほぼ横ばい。</a:t>
            </a:r>
          </a:p>
        </p:txBody>
      </p:sp>
      <p:sp>
        <p:nvSpPr>
          <p:cNvPr id="13" name="">
            <a:extLst xmlns:a="http://schemas.openxmlformats.org/drawingml/2006/main">
              <a:ext uri="{FF2B5EF4-FFF2-40B4-BE49-F238E27FC236}">
                <a16:creationId xmlns:a16="http://schemas.microsoft.com/office/drawing/2014/main" id="{A5851F06-A98D-4412-AB9F-C98DF944CF81}"/>
              </a:ext>
            </a:extLst>
          </p:cNvPr>
          <p:cNvSpPr>
            <a:spLocks xmlns:a="http://schemas.openxmlformats.org/drawingml/2006/main" noGrp="1"/>
          </p:cNvSpPr>
          <p:nvPr/>
        </p:nvSpPr>
        <p:spPr>
          <a:xfrm xmlns:a="http://schemas.openxmlformats.org/drawingml/2006/main">
            <a:off x="876300" y="5276850"/>
            <a:ext cx="10439400" cy="666750"/>
          </a:xfrm>
          <a:prstGeom xmlns:a="http://schemas.openxmlformats.org/drawingml/2006/main" prst="rect">
            <a:avLst/>
          </a:prstGeom>
          <a:solidFill xmlns:a="http://schemas.openxmlformats.org/drawingml/2006/main">
            <a:srgbClr val="FFF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2E577E-8FC7-43D7-BF7D-9E82CAFA49A7}"/>
              </a:ext>
            </a:extLst>
          </p:cNvPr>
          <p:cNvSpPr>
            <a:spLocks xmlns:a="http://schemas.openxmlformats.org/drawingml/2006/main" noGrp="1"/>
          </p:cNvSpPr>
          <p:nvPr/>
        </p:nvSpPr>
        <p:spPr>
          <a:xfrm xmlns:a="http://schemas.openxmlformats.org/drawingml/2006/main">
            <a:off x="1066800" y="5448300"/>
            <a:ext cx="1005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425" b="1" i="0">
                <a:solidFill>
                  <a:srgbClr val="C8423A"/>
                </a:solidFill>
                <a:latin typeface="Yu Gothic"/>
                <a:ea typeface="Yu Gothic"/>
                <a:cs typeface="Yu Gothic"/>
              </a:defRPr>
            </a:pPr>
            <a:r>
              <a:rPr sz="1425" b="1" i="0">
                <a:solidFill>
                  <a:srgbClr val="C8423A"/>
                </a:solidFill>
                <a:latin typeface="Yu Gothic"/>
                <a:ea typeface="Yu Gothic"/>
                <a:cs typeface="Yu Gothic"/>
              </a:rPr>
              <a:t>原因は未確定：条件一致とvalidation履歴が不足。過学習・学習形状不足・縮小モデルの表現力を次の仮説にする。</a:t>
            </a:r>
          </a:p>
        </p:txBody>
      </p:sp>
    </p:spTree>
    <p:extLst>
      <p:ext uri="{BB962C8B-B14F-4D97-AF65-F5344CB8AC3E}">
        <p14:creationId xmlns:p14="http://schemas.microsoft.com/office/powerpoint/2010/main" val="167123518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67484B-10AF-48A5-A319-CE9C779E0C1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5E97AE-841F-450C-9888-59DF699656B0}"/>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a:t>
            </a:r>
          </a:p>
        </p:txBody>
      </p:sp>
      <p:sp>
        <p:nvSpPr>
          <p:cNvPr id="3" name="">
            <a:extLst xmlns:a="http://schemas.openxmlformats.org/drawingml/2006/main">
              <a:ext uri="{FF2B5EF4-FFF2-40B4-BE49-F238E27FC236}">
                <a16:creationId xmlns:a16="http://schemas.microsoft.com/office/drawing/2014/main" id="{8C7D9AC8-4B92-4F8B-85D4-140EC7C1E6C9}"/>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22 / 32</a:t>
            </a:r>
          </a:p>
        </p:txBody>
      </p:sp>
      <p:sp>
        <p:nvSpPr>
          <p:cNvPr id="4" name="">
            <a:extLst xmlns:a="http://schemas.openxmlformats.org/drawingml/2006/main">
              <a:ext uri="{FF2B5EF4-FFF2-40B4-BE49-F238E27FC236}">
                <a16:creationId xmlns:a16="http://schemas.microsoft.com/office/drawing/2014/main" id="{08159731-1632-4434-B36C-92E736C391EE}"/>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20CE77E4-9829-4707-9C54-04E8AEEDC6D4}"/>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github.com/naoyamd/physicsnemo-domino-colab-intro</a:t>
            </a:r>
          </a:p>
        </p:txBody>
      </p:sp>
      <p:sp>
        <p:nvSpPr>
          <p:cNvPr id="6" name="">
            <a:extLst xmlns:a="http://schemas.openxmlformats.org/drawingml/2006/main">
              <a:ext uri="{FF2B5EF4-FFF2-40B4-BE49-F238E27FC236}">
                <a16:creationId xmlns:a16="http://schemas.microsoft.com/office/drawing/2014/main" id="{FC19318B-9247-409F-8D88-14F13CFE287D}"/>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D3DBD7F-0F79-4410-B480-891B9322DF15}"/>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EFA4912B-B2AF-469B-AA3B-0C2AA6438420}"/>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Appendix：評価値と再現条件を一次資料へ結びつける</a:t>
            </a:r>
          </a:p>
        </p:txBody>
      </p:sp>
      <p:sp>
        <p:nvSpPr>
          <p:cNvPr id="9" name="">
            <a:extLst xmlns:a="http://schemas.openxmlformats.org/drawingml/2006/main">
              <a:ext uri="{FF2B5EF4-FFF2-40B4-BE49-F238E27FC236}">
                <a16:creationId xmlns:a16="http://schemas.microsoft.com/office/drawing/2014/main" id="{0BFC8A1C-3B84-4D24-AB3F-D5FADA42E93E}"/>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graphicFrame>
        <p:nvGraphicFramePr>
          <p:cNvPr id="27" name=""/>
          <p:cNvGraphicFramePr/>
          <p:nvPr/>
        </p:nvGraphicFramePr>
        <p:xfrm>
          <a:off xmlns:a="http://schemas.openxmlformats.org/drawingml/2006/main" x="495300" y="1714500"/>
          <a:ext xmlns:a="http://schemas.openxmlformats.org/drawingml/2006/main" cx="11201400" cy="2286000"/>
        </p:xfrm>
        <a:graphic xmlns:a="http://schemas.openxmlformats.org/drawingml/2006/main">
          <a:graphicData uri="http://schemas.openxmlformats.org/drawingml/2006/table">
            <a:tbl>
              <a:tblPr/>
              <a:tblGrid>
                <a:gridCol w="1411200"/>
                <a:gridCol w="1940400"/>
                <a:gridCol w="2381400"/>
                <a:gridCol w="1764000"/>
                <a:gridCol w="1764000"/>
                <a:gridCol w="1940400"/>
              </a:tblGrid>
              <a:tr h="571500">
                <a:tc>
                  <a:txBody>
                    <a:bodyPr/>
                    <a:lstStyle/>
                    <a:p>
                      <a:r>
                        <a:rPr sz="1200" b="1">
                          <a:solidFill>
                            <a:srgbClr val="FFFFFF"/>
                          </a:solidFill>
                          <a:latin typeface="Yu Gothic"/>
                          <a:ea typeface="Yu Gothic"/>
                          <a:cs typeface="Yu Gothic"/>
                        </a:rPr>
                        <a:t>case</a:t>
                      </a:r>
                    </a:p>
                  </a:txBody>
                  <a:tcPr marL="91440" marR="91440" marT="45720" marB="45720">
                    <a:solidFill>
                      <a:srgbClr val="111827"/>
                    </a:solidFill>
                  </a:tcPr>
                </a:tc>
                <a:tc>
                  <a:txBody>
                    <a:bodyPr/>
                    <a:lstStyle/>
                    <a:p>
                      <a:r>
                        <a:rPr sz="1200" b="1">
                          <a:solidFill>
                            <a:srgbClr val="FFFFFF"/>
                          </a:solidFill>
                          <a:latin typeface="Yu Gothic"/>
                          <a:ea typeface="Yu Gothic"/>
                          <a:cs typeface="Yu Gothic"/>
                        </a:rPr>
                        <a:t>Rel L2</a:t>
                      </a:r>
                    </a:p>
                  </a:txBody>
                  <a:tcPr marL="91440" marR="91440" marT="45720" marB="45720">
                    <a:solidFill>
                      <a:srgbClr val="111827"/>
                    </a:solidFill>
                  </a:tcPr>
                </a:tc>
                <a:tc>
                  <a:txBody>
                    <a:bodyPr/>
                    <a:lstStyle/>
                    <a:p>
                      <a:r>
                        <a:rPr sz="1200" b="1">
                          <a:solidFill>
                            <a:srgbClr val="FFFFFF"/>
                          </a:solidFill>
                          <a:latin typeface="Yu Gothic"/>
                          <a:ea typeface="Yu Gothic"/>
                          <a:cs typeface="Yu Gothic"/>
                        </a:rPr>
                        <a:t>Area Rel L2</a:t>
                      </a:r>
                    </a:p>
                  </a:txBody>
                  <a:tcPr marL="91440" marR="91440" marT="45720" marB="45720">
                    <a:solidFill>
                      <a:srgbClr val="111827"/>
                    </a:solidFill>
                  </a:tcPr>
                </a:tc>
                <a:tc>
                  <a:txBody>
                    <a:bodyPr/>
                    <a:lstStyle/>
                    <a:p>
                      <a:r>
                        <a:rPr sz="1200" b="1">
                          <a:solidFill>
                            <a:srgbClr val="FFFFFF"/>
                          </a:solidFill>
                          <a:latin typeface="Yu Gothic"/>
                          <a:ea typeface="Yu Gothic"/>
                          <a:cs typeface="Yu Gothic"/>
                        </a:rPr>
                        <a:t>MAE</a:t>
                      </a:r>
                    </a:p>
                  </a:txBody>
                  <a:tcPr marL="91440" marR="91440" marT="45720" marB="45720">
                    <a:solidFill>
                      <a:srgbClr val="111827"/>
                    </a:solidFill>
                  </a:tcPr>
                </a:tc>
                <a:tc>
                  <a:txBody>
                    <a:bodyPr/>
                    <a:lstStyle/>
                    <a:p>
                      <a:r>
                        <a:rPr sz="1200" b="1">
                          <a:solidFill>
                            <a:srgbClr val="FFFFFF"/>
                          </a:solidFill>
                          <a:latin typeface="Yu Gothic"/>
                          <a:ea typeface="Yu Gothic"/>
                          <a:cs typeface="Yu Gothic"/>
                        </a:rPr>
                        <a:t>RMSE</a:t>
                      </a:r>
                    </a:p>
                  </a:txBody>
                  <a:tcPr marL="91440" marR="91440" marT="45720" marB="45720">
                    <a:solidFill>
                      <a:srgbClr val="111827"/>
                    </a:solidFill>
                  </a:tcPr>
                </a:tc>
                <a:tc>
                  <a:txBody>
                    <a:bodyPr/>
                    <a:lstStyle/>
                    <a:p>
                      <a:r>
                        <a:rPr sz="1200" b="1">
                          <a:solidFill>
                            <a:srgbClr val="FFFFFF"/>
                          </a:solidFill>
                          <a:latin typeface="Yu Gothic"/>
                          <a:ea typeface="Yu Gothic"/>
                          <a:cs typeface="Yu Gothic"/>
                        </a:rPr>
                        <a:t>Correlation</a:t>
                      </a:r>
                    </a:p>
                  </a:txBody>
                  <a:tcPr marL="91440" marR="91440" marT="45720" marB="45720">
                    <a:solidFill>
                      <a:srgbClr val="111827"/>
                    </a:solidFill>
                  </a:tcPr>
                </a:tc>
              </a:tr>
              <a:tr h="571500">
                <a:tc>
                  <a:txBody>
                    <a:bodyPr/>
                    <a:lstStyle/>
                    <a:p>
                      <a:r>
                        <a:rPr sz="1275" b="1">
                          <a:solidFill>
                            <a:srgbClr val="111827"/>
                          </a:solidFill>
                          <a:latin typeface="Yu Gothic"/>
                          <a:ea typeface="Yu Gothic"/>
                          <a:cs typeface="Yu Gothic"/>
                        </a:rPr>
                        <a:t>43</a:t>
                      </a:r>
                    </a:p>
                  </a:txBody>
                  <a:tcPr marL="91440" marR="91440" marT="45720" marB="45720">
                    <a:solidFill>
                      <a:srgbClr val="FFFFFF"/>
                    </a:solidFill>
                  </a:tcPr>
                </a:tc>
                <a:tc>
                  <a:txBody>
                    <a:bodyPr/>
                    <a:lstStyle/>
                    <a:p>
                      <a:r>
                        <a:rPr sz="1275" b="0">
                          <a:solidFill>
                            <a:srgbClr val="111827"/>
                          </a:solidFill>
                          <a:latin typeface="Consolas"/>
                          <a:ea typeface="Consolas"/>
                          <a:cs typeface="Consolas"/>
                        </a:rPr>
                        <a:t>0.5141</a:t>
                      </a:r>
                    </a:p>
                  </a:txBody>
                  <a:tcPr marL="91440" marR="91440" marT="45720" marB="45720">
                    <a:solidFill>
                      <a:srgbClr val="FFFFFF"/>
                    </a:solidFill>
                  </a:tcPr>
                </a:tc>
                <a:tc>
                  <a:txBody>
                    <a:bodyPr/>
                    <a:lstStyle/>
                    <a:p>
                      <a:r>
                        <a:rPr sz="1275" b="0">
                          <a:solidFill>
                            <a:srgbClr val="111827"/>
                          </a:solidFill>
                          <a:latin typeface="Consolas"/>
                          <a:ea typeface="Consolas"/>
                          <a:cs typeface="Consolas"/>
                        </a:rPr>
                        <a:t>0.5322</a:t>
                      </a:r>
                    </a:p>
                  </a:txBody>
                  <a:tcPr marL="91440" marR="91440" marT="45720" marB="45720">
                    <a:solidFill>
                      <a:srgbClr val="FFFFFF"/>
                    </a:solidFill>
                  </a:tcPr>
                </a:tc>
                <a:tc>
                  <a:txBody>
                    <a:bodyPr/>
                    <a:lstStyle/>
                    <a:p>
                      <a:r>
                        <a:rPr sz="1275" b="0">
                          <a:solidFill>
                            <a:srgbClr val="111827"/>
                          </a:solidFill>
                          <a:latin typeface="Consolas"/>
                          <a:ea typeface="Consolas"/>
                          <a:cs typeface="Consolas"/>
                        </a:rPr>
                        <a:t>119.615</a:t>
                      </a:r>
                    </a:p>
                  </a:txBody>
                  <a:tcPr marL="91440" marR="91440" marT="45720" marB="45720">
                    <a:solidFill>
                      <a:srgbClr val="FFFFFF"/>
                    </a:solidFill>
                  </a:tcPr>
                </a:tc>
                <a:tc>
                  <a:txBody>
                    <a:bodyPr/>
                    <a:lstStyle/>
                    <a:p>
                      <a:r>
                        <a:rPr sz="1275" b="0">
                          <a:solidFill>
                            <a:srgbClr val="111827"/>
                          </a:solidFill>
                          <a:latin typeface="Consolas"/>
                          <a:ea typeface="Consolas"/>
                          <a:cs typeface="Consolas"/>
                        </a:rPr>
                        <a:t>201.930</a:t>
                      </a:r>
                    </a:p>
                  </a:txBody>
                  <a:tcPr marL="91440" marR="91440" marT="45720" marB="45720">
                    <a:solidFill>
                      <a:srgbClr val="FFFFFF"/>
                    </a:solidFill>
                  </a:tcPr>
                </a:tc>
                <a:tc>
                  <a:txBody>
                    <a:bodyPr/>
                    <a:lstStyle/>
                    <a:p>
                      <a:r>
                        <a:rPr sz="1275" b="0">
                          <a:solidFill>
                            <a:srgbClr val="111827"/>
                          </a:solidFill>
                          <a:latin typeface="Consolas"/>
                          <a:ea typeface="Consolas"/>
                          <a:cs typeface="Consolas"/>
                        </a:rPr>
                        <a:t>0.7610</a:t>
                      </a:r>
                    </a:p>
                  </a:txBody>
                  <a:tcPr marL="91440" marR="91440" marT="45720" marB="45720">
                    <a:solidFill>
                      <a:srgbClr val="FFFFFF"/>
                    </a:solidFill>
                  </a:tcPr>
                </a:tc>
              </a:tr>
              <a:tr h="571500">
                <a:tc>
                  <a:txBody>
                    <a:bodyPr/>
                    <a:lstStyle/>
                    <a:p>
                      <a:r>
                        <a:rPr sz="1275" b="1">
                          <a:solidFill>
                            <a:srgbClr val="111827"/>
                          </a:solidFill>
                          <a:latin typeface="Yu Gothic"/>
                          <a:ea typeface="Yu Gothic"/>
                          <a:cs typeface="Yu Gothic"/>
                        </a:rPr>
                        <a:t>63</a:t>
                      </a:r>
                    </a:p>
                  </a:txBody>
                  <a:tcPr marL="91440" marR="91440" marT="45720" marB="45720">
                    <a:solidFill>
                      <a:srgbClr val="F1F3F5"/>
                    </a:solidFill>
                  </a:tcPr>
                </a:tc>
                <a:tc>
                  <a:txBody>
                    <a:bodyPr/>
                    <a:lstStyle/>
                    <a:p>
                      <a:r>
                        <a:rPr sz="1275" b="0">
                          <a:solidFill>
                            <a:srgbClr val="111827"/>
                          </a:solidFill>
                          <a:latin typeface="Consolas"/>
                          <a:ea typeface="Consolas"/>
                          <a:cs typeface="Consolas"/>
                        </a:rPr>
                        <a:t>0.5033</a:t>
                      </a:r>
                    </a:p>
                  </a:txBody>
                  <a:tcPr marL="91440" marR="91440" marT="45720" marB="45720">
                    <a:solidFill>
                      <a:srgbClr val="F1F3F5"/>
                    </a:solidFill>
                  </a:tcPr>
                </a:tc>
                <a:tc>
                  <a:txBody>
                    <a:bodyPr/>
                    <a:lstStyle/>
                    <a:p>
                      <a:r>
                        <a:rPr sz="1275" b="0">
                          <a:solidFill>
                            <a:srgbClr val="111827"/>
                          </a:solidFill>
                          <a:latin typeface="Consolas"/>
                          <a:ea typeface="Consolas"/>
                          <a:cs typeface="Consolas"/>
                        </a:rPr>
                        <a:t>0.5204</a:t>
                      </a:r>
                    </a:p>
                  </a:txBody>
                  <a:tcPr marL="91440" marR="91440" marT="45720" marB="45720">
                    <a:solidFill>
                      <a:srgbClr val="F1F3F5"/>
                    </a:solidFill>
                  </a:tcPr>
                </a:tc>
                <a:tc>
                  <a:txBody>
                    <a:bodyPr/>
                    <a:lstStyle/>
                    <a:p>
                      <a:r>
                        <a:rPr sz="1275" b="0">
                          <a:solidFill>
                            <a:srgbClr val="111827"/>
                          </a:solidFill>
                          <a:latin typeface="Consolas"/>
                          <a:ea typeface="Consolas"/>
                          <a:cs typeface="Consolas"/>
                        </a:rPr>
                        <a:t>107.465</a:t>
                      </a:r>
                    </a:p>
                  </a:txBody>
                  <a:tcPr marL="91440" marR="91440" marT="45720" marB="45720">
                    <a:solidFill>
                      <a:srgbClr val="F1F3F5"/>
                    </a:solidFill>
                  </a:tcPr>
                </a:tc>
                <a:tc>
                  <a:txBody>
                    <a:bodyPr/>
                    <a:lstStyle/>
                    <a:p>
                      <a:r>
                        <a:rPr sz="1275" b="0">
                          <a:solidFill>
                            <a:srgbClr val="111827"/>
                          </a:solidFill>
                          <a:latin typeface="Consolas"/>
                          <a:ea typeface="Consolas"/>
                          <a:cs typeface="Consolas"/>
                        </a:rPr>
                        <a:t>188.459</a:t>
                      </a:r>
                    </a:p>
                  </a:txBody>
                  <a:tcPr marL="91440" marR="91440" marT="45720" marB="45720">
                    <a:solidFill>
                      <a:srgbClr val="F1F3F5"/>
                    </a:solidFill>
                  </a:tcPr>
                </a:tc>
                <a:tc>
                  <a:txBody>
                    <a:bodyPr/>
                    <a:lstStyle/>
                    <a:p>
                      <a:r>
                        <a:rPr sz="1275" b="0">
                          <a:solidFill>
                            <a:srgbClr val="111827"/>
                          </a:solidFill>
                          <a:latin typeface="Consolas"/>
                          <a:ea typeface="Consolas"/>
                          <a:cs typeface="Consolas"/>
                        </a:rPr>
                        <a:t>0.7809</a:t>
                      </a:r>
                    </a:p>
                  </a:txBody>
                  <a:tcPr marL="91440" marR="91440" marT="45720" marB="45720">
                    <a:solidFill>
                      <a:srgbClr val="F1F3F5"/>
                    </a:solidFill>
                  </a:tcPr>
                </a:tc>
              </a:tr>
              <a:tr h="571500">
                <a:tc>
                  <a:txBody>
                    <a:bodyPr/>
                    <a:lstStyle/>
                    <a:p>
                      <a:r>
                        <a:rPr sz="1275" b="1">
                          <a:solidFill>
                            <a:srgbClr val="111827"/>
                          </a:solidFill>
                          <a:latin typeface="Yu Gothic"/>
                          <a:ea typeface="Yu Gothic"/>
                          <a:cs typeface="Yu Gothic"/>
                        </a:rPr>
                        <a:t>mean</a:t>
                      </a:r>
                    </a:p>
                  </a:txBody>
                  <a:tcPr marL="91440" marR="91440" marT="45720" marB="45720">
                    <a:solidFill>
                      <a:srgbClr val="EAF5FB"/>
                    </a:solidFill>
                  </a:tcPr>
                </a:tc>
                <a:tc>
                  <a:txBody>
                    <a:bodyPr/>
                    <a:lstStyle/>
                    <a:p>
                      <a:r>
                        <a:rPr sz="1275" b="1">
                          <a:solidFill>
                            <a:srgbClr val="111827"/>
                          </a:solidFill>
                          <a:latin typeface="Consolas"/>
                          <a:ea typeface="Consolas"/>
                          <a:cs typeface="Consolas"/>
                        </a:rPr>
                        <a:t>0.5087</a:t>
                      </a:r>
                    </a:p>
                  </a:txBody>
                  <a:tcPr marL="91440" marR="91440" marT="45720" marB="45720">
                    <a:solidFill>
                      <a:srgbClr val="EAF5FB"/>
                    </a:solidFill>
                  </a:tcPr>
                </a:tc>
                <a:tc>
                  <a:txBody>
                    <a:bodyPr/>
                    <a:lstStyle/>
                    <a:p>
                      <a:r>
                        <a:rPr sz="1275" b="1">
                          <a:solidFill>
                            <a:srgbClr val="111827"/>
                          </a:solidFill>
                          <a:latin typeface="Consolas"/>
                          <a:ea typeface="Consolas"/>
                          <a:cs typeface="Consolas"/>
                        </a:rPr>
                        <a:t>0.5263</a:t>
                      </a:r>
                    </a:p>
                  </a:txBody>
                  <a:tcPr marL="91440" marR="91440" marT="45720" marB="45720">
                    <a:solidFill>
                      <a:srgbClr val="EAF5FB"/>
                    </a:solidFill>
                  </a:tcPr>
                </a:tc>
                <a:tc>
                  <a:txBody>
                    <a:bodyPr/>
                    <a:lstStyle/>
                    <a:p>
                      <a:r>
                        <a:rPr sz="1275" b="1">
                          <a:solidFill>
                            <a:srgbClr val="111827"/>
                          </a:solidFill>
                          <a:latin typeface="Consolas"/>
                          <a:ea typeface="Consolas"/>
                          <a:cs typeface="Consolas"/>
                        </a:rPr>
                        <a:t>113.540</a:t>
                      </a:r>
                    </a:p>
                  </a:txBody>
                  <a:tcPr marL="91440" marR="91440" marT="45720" marB="45720">
                    <a:solidFill>
                      <a:srgbClr val="EAF5FB"/>
                    </a:solidFill>
                  </a:tcPr>
                </a:tc>
                <a:tc>
                  <a:txBody>
                    <a:bodyPr/>
                    <a:lstStyle/>
                    <a:p>
                      <a:r>
                        <a:rPr sz="1275" b="1">
                          <a:solidFill>
                            <a:srgbClr val="111827"/>
                          </a:solidFill>
                          <a:latin typeface="Consolas"/>
                          <a:ea typeface="Consolas"/>
                          <a:cs typeface="Consolas"/>
                        </a:rPr>
                        <a:t>195.195</a:t>
                      </a:r>
                    </a:p>
                  </a:txBody>
                  <a:tcPr marL="91440" marR="91440" marT="45720" marB="45720">
                    <a:solidFill>
                      <a:srgbClr val="EAF5FB"/>
                    </a:solidFill>
                  </a:tcPr>
                </a:tc>
                <a:tc>
                  <a:txBody>
                    <a:bodyPr/>
                    <a:lstStyle/>
                    <a:p>
                      <a:r>
                        <a:rPr sz="1275" b="1">
                          <a:solidFill>
                            <a:srgbClr val="111827"/>
                          </a:solidFill>
                          <a:latin typeface="Consolas"/>
                          <a:ea typeface="Consolas"/>
                          <a:cs typeface="Consolas"/>
                        </a:rPr>
                        <a:t>0.7710</a:t>
                      </a:r>
                    </a:p>
                  </a:txBody>
                  <a:tcPr marL="91440" marR="91440" marT="45720" marB="45720">
                    <a:solidFill>
                      <a:srgbClr val="EAF5FB"/>
                    </a:solidFill>
                  </a:tcPr>
                </a:tc>
              </a:tr>
            </a:tbl>
          </a:graphicData>
        </a:graphic>
      </p:graphicFrame>
      <p:sp>
        <p:nvSpPr>
          <p:cNvPr id="11" name="">
            <a:extLst xmlns:a="http://schemas.openxmlformats.org/drawingml/2006/main">
              <a:ext uri="{FF2B5EF4-FFF2-40B4-BE49-F238E27FC236}">
                <a16:creationId xmlns:a16="http://schemas.microsoft.com/office/drawing/2014/main" id="{8A4B3619-F963-4BFE-AEA0-C049FAD45872}"/>
              </a:ext>
            </a:extLst>
          </p:cNvPr>
          <p:cNvSpPr>
            <a:spLocks xmlns:a="http://schemas.openxmlformats.org/drawingml/2006/main" noGrp="1"/>
          </p:cNvSpPr>
          <p:nvPr/>
        </p:nvSpPr>
        <p:spPr>
          <a:xfrm xmlns:a="http://schemas.openxmlformats.org/drawingml/2006/main">
            <a:off x="495300" y="4400550"/>
            <a:ext cx="2095500" cy="285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6F7797-FB2C-405B-AA0E-E5B5F89A53DE}"/>
              </a:ext>
            </a:extLst>
          </p:cNvPr>
          <p:cNvSpPr>
            <a:spLocks xmlns:a="http://schemas.openxmlformats.org/drawingml/2006/main" noGrp="1"/>
          </p:cNvSpPr>
          <p:nvPr/>
        </p:nvSpPr>
        <p:spPr>
          <a:xfrm xmlns:a="http://schemas.openxmlformats.org/drawingml/2006/main">
            <a:off x="590550" y="44481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REPOSITORY</a:t>
            </a:r>
          </a:p>
        </p:txBody>
      </p:sp>
      <p:sp>
        <p:nvSpPr>
          <p:cNvPr id="13" name="">
            <a:extLst xmlns:a="http://schemas.openxmlformats.org/drawingml/2006/main">
              <a:ext uri="{FF2B5EF4-FFF2-40B4-BE49-F238E27FC236}">
                <a16:creationId xmlns:a16="http://schemas.microsoft.com/office/drawing/2014/main" id="{BEB16683-CF91-49C2-B703-B0E3E76FFF59}"/>
              </a:ext>
            </a:extLst>
          </p:cNvPr>
          <p:cNvSpPr>
            <a:spLocks xmlns:a="http://schemas.openxmlformats.org/drawingml/2006/main" noGrp="1"/>
          </p:cNvSpPr>
          <p:nvPr/>
        </p:nvSpPr>
        <p:spPr>
          <a:xfrm xmlns:a="http://schemas.openxmlformats.org/drawingml/2006/main">
            <a:off x="495300" y="48196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425" b="1" i="0">
                <a:solidFill>
                  <a:srgbClr val="111827"/>
                </a:solidFill>
                <a:latin typeface="Consolas"/>
                <a:ea typeface="Consolas"/>
                <a:cs typeface="Consolas"/>
              </a:defRPr>
            </a:pPr>
            <a:r>
              <a:rPr sz="1425" b="1" i="0">
                <a:solidFill>
                  <a:srgbClr val="111827"/>
                </a:solidFill>
                <a:latin typeface="Consolas"/>
                <a:ea typeface="Consolas"/>
                <a:cs typeface="Consolas"/>
              </a:rPr>
              <a:t>github.com/naoyamd/physicsnemo-domino-colab-intro</a:t>
            </a:r>
          </a:p>
        </p:txBody>
      </p:sp>
      <p:sp>
        <p:nvSpPr>
          <p:cNvPr id="14" name="">
            <a:extLst xmlns:a="http://schemas.openxmlformats.org/drawingml/2006/main">
              <a:ext uri="{FF2B5EF4-FFF2-40B4-BE49-F238E27FC236}">
                <a16:creationId xmlns:a16="http://schemas.microsoft.com/office/drawing/2014/main" id="{8456AFF1-17CD-4A21-8499-22D4B73BB6CD}"/>
              </a:ext>
            </a:extLst>
          </p:cNvPr>
          <p:cNvSpPr>
            <a:spLocks xmlns:a="http://schemas.openxmlformats.org/drawingml/2006/main" noGrp="1"/>
          </p:cNvSpPr>
          <p:nvPr/>
        </p:nvSpPr>
        <p:spPr>
          <a:xfrm xmlns:a="http://schemas.openxmlformats.org/drawingml/2006/main">
            <a:off x="495300" y="5238750"/>
            <a:ext cx="619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notebooks/domino_surface_only_colab.ipynb</a:t>
            </a:r>
          </a:p>
          <a:p xmlns:a="http://schemas.openxmlformats.org/drawingml/2006/main">
            <a:pPr algn="l">
              <a:lnSpc>
                <a:spcPct val="13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docs/results/run_20260712.md</a:t>
            </a:r>
          </a:p>
          <a:p xmlns:a="http://schemas.openxmlformats.org/drawingml/2006/main">
            <a:pPr algn="l">
              <a:lnSpc>
                <a:spcPct val="13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docs/assets/run_20260712/</a:t>
            </a:r>
          </a:p>
        </p:txBody>
      </p:sp>
      <p:sp>
        <p:nvSpPr>
          <p:cNvPr id="15" name="">
            <a:extLst xmlns:a="http://schemas.openxmlformats.org/drawingml/2006/main">
              <a:ext uri="{FF2B5EF4-FFF2-40B4-BE49-F238E27FC236}">
                <a16:creationId xmlns:a16="http://schemas.microsoft.com/office/drawing/2014/main" id="{A2F068BD-F715-4E98-BEAF-0ABEAB20DE6E}"/>
              </a:ext>
            </a:extLst>
          </p:cNvPr>
          <p:cNvSpPr>
            <a:spLocks xmlns:a="http://schemas.openxmlformats.org/drawingml/2006/main" noGrp="1"/>
          </p:cNvSpPr>
          <p:nvPr/>
        </p:nvSpPr>
        <p:spPr>
          <a:xfrm xmlns:a="http://schemas.openxmlformats.org/drawingml/2006/main">
            <a:off x="7334250" y="4400550"/>
            <a:ext cx="2095500" cy="28575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06FD2D9-5712-4DD4-9034-0F649B91103D}"/>
              </a:ext>
            </a:extLst>
          </p:cNvPr>
          <p:cNvSpPr>
            <a:spLocks xmlns:a="http://schemas.openxmlformats.org/drawingml/2006/main" noGrp="1"/>
          </p:cNvSpPr>
          <p:nvPr/>
        </p:nvSpPr>
        <p:spPr>
          <a:xfrm xmlns:a="http://schemas.openxmlformats.org/drawingml/2006/main">
            <a:off x="7429500" y="44481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VERSION NOTE</a:t>
            </a:r>
          </a:p>
        </p:txBody>
      </p:sp>
      <p:sp>
        <p:nvSpPr>
          <p:cNvPr id="17" name="">
            <a:extLst xmlns:a="http://schemas.openxmlformats.org/drawingml/2006/main">
              <a:ext uri="{FF2B5EF4-FFF2-40B4-BE49-F238E27FC236}">
                <a16:creationId xmlns:a16="http://schemas.microsoft.com/office/drawing/2014/main" id="{E8D35C02-5D7C-4964-B82F-08029ED86577}"/>
              </a:ext>
            </a:extLst>
          </p:cNvPr>
          <p:cNvSpPr>
            <a:spLocks xmlns:a="http://schemas.openxmlformats.org/drawingml/2006/main" noGrp="1"/>
          </p:cNvSpPr>
          <p:nvPr/>
        </p:nvSpPr>
        <p:spPr>
          <a:xfrm xmlns:a="http://schemas.openxmlformats.org/drawingml/2006/main">
            <a:off x="7334250" y="481965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425" b="1" i="0">
                <a:solidFill>
                  <a:srgbClr val="111827"/>
                </a:solidFill>
                <a:latin typeface="Yu Gothic"/>
                <a:ea typeface="Yu Gothic"/>
                <a:cs typeface="Yu Gothic"/>
              </a:defRPr>
            </a:pPr>
            <a:r>
              <a:rPr sz="1425" b="1" i="0">
                <a:solidFill>
                  <a:srgbClr val="111827"/>
                </a:solidFill>
                <a:latin typeface="Yu Gothic"/>
                <a:ea typeface="Yu Gothic"/>
                <a:cs typeface="Yu Gothic"/>
              </a:rPr>
              <a:t>本デッキの計算結果はPhysicsNeMo 2.1.1で固定。</a:t>
            </a:r>
          </a:p>
          <a:p xmlns:a="http://schemas.openxmlformats.org/drawingml/2006/main">
            <a:pPr algn="l">
              <a:lnSpc>
                <a:spcPct val="135000"/>
              </a:lnSpc>
              <a:buNone/>
              <a:defRPr sz="1425" b="1" i="0">
                <a:solidFill>
                  <a:srgbClr val="111827"/>
                </a:solidFill>
                <a:latin typeface="Yu Gothic"/>
                <a:ea typeface="Yu Gothic"/>
                <a:cs typeface="Yu Gothic"/>
              </a:defRPr>
            </a:pPr>
            <a:r>
              <a:rPr sz="1425" b="1" i="0">
                <a:solidFill>
                  <a:srgbClr val="111827"/>
                </a:solidFill>
                <a:latin typeface="Yu Gothic"/>
                <a:ea typeface="Yu Gothic"/>
                <a:cs typeface="Yu Gothic"/>
              </a:rPr>
              <a:t>最新の公式recipe・APIは変更される可能性がある。</a:t>
            </a:r>
          </a:p>
        </p:txBody>
      </p:sp>
    </p:spTree>
    <p:extLst>
      <p:ext uri="{BB962C8B-B14F-4D97-AF65-F5344CB8AC3E}">
        <p14:creationId xmlns:p14="http://schemas.microsoft.com/office/powerpoint/2010/main" val="8751801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049501-1692-409B-B895-7E1037A90A9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C9CEE1-0BD5-4998-BF8C-22A8AC1336CA}"/>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TAKEAWAYS</a:t>
            </a:r>
          </a:p>
        </p:txBody>
      </p:sp>
      <p:sp>
        <p:nvSpPr>
          <p:cNvPr id="3" name="">
            <a:extLst xmlns:a="http://schemas.openxmlformats.org/drawingml/2006/main">
              <a:ext uri="{FF2B5EF4-FFF2-40B4-BE49-F238E27FC236}">
                <a16:creationId xmlns:a16="http://schemas.microsoft.com/office/drawing/2014/main" id="{A5DC0390-3EE0-41C9-BF4E-1ADB1631B6B8}"/>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23 / 32</a:t>
            </a:r>
          </a:p>
        </p:txBody>
      </p:sp>
      <p:sp>
        <p:nvSpPr>
          <p:cNvPr id="4" name="">
            <a:extLst xmlns:a="http://schemas.openxmlformats.org/drawingml/2006/main">
              <a:ext uri="{FF2B5EF4-FFF2-40B4-BE49-F238E27FC236}">
                <a16:creationId xmlns:a16="http://schemas.microsoft.com/office/drawing/2014/main" id="{4D964736-60D3-406D-B14D-630FB5AADE73}"/>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73B2120C-D48A-4884-B9AD-933CA847C28E}"/>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 | This run: github.com/naoyamd/physicsnemo-domino-colab-intro</a:t>
            </a:r>
          </a:p>
        </p:txBody>
      </p:sp>
      <p:sp>
        <p:nvSpPr>
          <p:cNvPr id="6" name="">
            <a:extLst xmlns:a="http://schemas.openxmlformats.org/drawingml/2006/main">
              <a:ext uri="{FF2B5EF4-FFF2-40B4-BE49-F238E27FC236}">
                <a16:creationId xmlns:a16="http://schemas.microsoft.com/office/drawing/2014/main" id="{A5FA7209-58DE-4A96-9893-E08F6924BF98}"/>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567B06-57B5-4692-AE3D-BD89298FF487}"/>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混合</a:t>
            </a:r>
          </a:p>
        </p:txBody>
      </p:sp>
      <p:sp>
        <p:nvSpPr>
          <p:cNvPr id="8" name="">
            <a:extLst xmlns:a="http://schemas.openxmlformats.org/drawingml/2006/main">
              <a:ext uri="{FF2B5EF4-FFF2-40B4-BE49-F238E27FC236}">
                <a16:creationId xmlns:a16="http://schemas.microsoft.com/office/drawing/2014/main" id="{705D6D65-3E3A-4350-8A24-2FD54CE2D87D}"/>
              </a:ext>
            </a:extLst>
          </p:cNvPr>
          <p:cNvSpPr>
            <a:spLocks xmlns:a="http://schemas.openxmlformats.org/drawingml/2006/main" noGrp="1"/>
          </p:cNvSpPr>
          <p:nvPr/>
        </p:nvSpPr>
        <p:spPr>
          <a:xfrm xmlns:a="http://schemas.openxmlformats.org/drawingml/2006/main">
            <a:off x="514350" y="1028700"/>
            <a:ext cx="5810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75" b="1" i="0">
                <a:solidFill>
                  <a:srgbClr val="111827"/>
                </a:solidFill>
                <a:latin typeface="Yu Gothic"/>
                <a:ea typeface="Yu Gothic"/>
                <a:cs typeface="Yu Gothic"/>
              </a:defRPr>
            </a:pPr>
            <a:r>
              <a:rPr sz="4275" b="1" i="0">
                <a:solidFill>
                  <a:srgbClr val="111827"/>
                </a:solidFill>
                <a:latin typeface="Yu Gothic"/>
                <a:ea typeface="Yu Gothic"/>
                <a:cs typeface="Yu Gothic"/>
              </a:rPr>
              <a:t>DoMINO入門：</a:t>
            </a:r>
          </a:p>
          <a:p xmlns:a="http://schemas.openxmlformats.org/drawingml/2006/main">
            <a:pPr algn="l">
              <a:lnSpc>
                <a:spcPct val="108000"/>
              </a:lnSpc>
              <a:buNone/>
              <a:defRPr sz="4275" b="1" i="0">
                <a:solidFill>
                  <a:srgbClr val="111827"/>
                </a:solidFill>
                <a:latin typeface="Yu Gothic"/>
                <a:ea typeface="Yu Gothic"/>
                <a:cs typeface="Yu Gothic"/>
              </a:defRPr>
            </a:pPr>
            <a:r>
              <a:rPr sz="4275" b="1" i="0">
                <a:solidFill>
                  <a:srgbClr val="111827"/>
                </a:solidFill>
                <a:latin typeface="Yu Gothic"/>
                <a:ea typeface="Yu Gothic"/>
                <a:cs typeface="Yu Gothic"/>
              </a:rPr>
              <a:t>3つだけ持ち帰る</a:t>
            </a:r>
          </a:p>
        </p:txBody>
      </p:sp>
      <p:sp>
        <p:nvSpPr>
          <p:cNvPr id="9" name="">
            <a:extLst xmlns:a="http://schemas.openxmlformats.org/drawingml/2006/main">
              <a:ext uri="{FF2B5EF4-FFF2-40B4-BE49-F238E27FC236}">
                <a16:creationId xmlns:a16="http://schemas.microsoft.com/office/drawing/2014/main" id="{FE8BD83E-22F6-448A-B6D9-559692C6D957}"/>
              </a:ext>
            </a:extLst>
          </p:cNvPr>
          <p:cNvSpPr>
            <a:spLocks xmlns:a="http://schemas.openxmlformats.org/drawingml/2006/main" noGrp="1"/>
          </p:cNvSpPr>
          <p:nvPr/>
        </p:nvSpPr>
        <p:spPr>
          <a:xfrm xmlns:a="http://schemas.openxmlformats.org/drawingml/2006/main">
            <a:off x="514350" y="28575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i="0">
                <a:solidFill>
                  <a:srgbClr val="3D8DFF"/>
                </a:solidFill>
                <a:latin typeface="Consolas"/>
                <a:ea typeface="Consolas"/>
                <a:cs typeface="Consolas"/>
              </a:defRPr>
            </a:pPr>
            <a:r>
              <a:rPr sz="2325" b="1" i="0">
                <a:solidFill>
                  <a:srgbClr val="3D8DFF"/>
                </a:solidFill>
                <a:latin typeface="Consolas"/>
                <a:ea typeface="Consolas"/>
                <a:cs typeface="Consolas"/>
              </a:rPr>
              <a:t>1</a:t>
            </a:r>
          </a:p>
        </p:txBody>
      </p:sp>
      <p:sp>
        <p:nvSpPr>
          <p:cNvPr id="10" name="">
            <a:extLst xmlns:a="http://schemas.openxmlformats.org/drawingml/2006/main">
              <a:ext uri="{FF2B5EF4-FFF2-40B4-BE49-F238E27FC236}">
                <a16:creationId xmlns:a16="http://schemas.microsoft.com/office/drawing/2014/main" id="{0DA0D2E2-765F-4777-894B-EEAC3DA31B96}"/>
              </a:ext>
            </a:extLst>
          </p:cNvPr>
          <p:cNvSpPr>
            <a:spLocks xmlns:a="http://schemas.openxmlformats.org/drawingml/2006/main" noGrp="1"/>
          </p:cNvSpPr>
          <p:nvPr/>
        </p:nvSpPr>
        <p:spPr>
          <a:xfrm xmlns:a="http://schemas.openxmlformats.org/drawingml/2006/main">
            <a:off x="1219200" y="28575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DoMINOは、点群形状から物理場をquery点ごとに予測するNeural Operator</a:t>
            </a:r>
          </a:p>
        </p:txBody>
      </p:sp>
      <p:sp>
        <p:nvSpPr>
          <p:cNvPr id="11" name="">
            <a:extLst xmlns:a="http://schemas.openxmlformats.org/drawingml/2006/main">
              <a:ext uri="{FF2B5EF4-FFF2-40B4-BE49-F238E27FC236}">
                <a16:creationId xmlns:a16="http://schemas.microsoft.com/office/drawing/2014/main" id="{D89400E2-CDF3-49EA-9864-719903D5EF67}"/>
              </a:ext>
            </a:extLst>
          </p:cNvPr>
          <p:cNvSpPr>
            <a:spLocks xmlns:a="http://schemas.openxmlformats.org/drawingml/2006/main" noGrp="1"/>
          </p:cNvSpPr>
          <p:nvPr/>
        </p:nvSpPr>
        <p:spPr>
          <a:xfrm xmlns:a="http://schemas.openxmlformats.org/drawingml/2006/main">
            <a:off x="1219200" y="3486150"/>
            <a:ext cx="981075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12" name="">
            <a:extLst xmlns:a="http://schemas.openxmlformats.org/drawingml/2006/main">
              <a:ext uri="{FF2B5EF4-FFF2-40B4-BE49-F238E27FC236}">
                <a16:creationId xmlns:a16="http://schemas.microsoft.com/office/drawing/2014/main" id="{C01322FD-DBB7-4031-92A5-DA54BA98D510}"/>
              </a:ext>
            </a:extLst>
          </p:cNvPr>
          <p:cNvSpPr>
            <a:spLocks xmlns:a="http://schemas.openxmlformats.org/drawingml/2006/main" noGrp="1"/>
          </p:cNvSpPr>
          <p:nvPr/>
        </p:nvSpPr>
        <p:spPr>
          <a:xfrm xmlns:a="http://schemas.openxmlformats.org/drawingml/2006/main">
            <a:off x="514350" y="37528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i="0">
                <a:solidFill>
                  <a:srgbClr val="3D8DFF"/>
                </a:solidFill>
                <a:latin typeface="Consolas"/>
                <a:ea typeface="Consolas"/>
                <a:cs typeface="Consolas"/>
              </a:defRPr>
            </a:pPr>
            <a:r>
              <a:rPr sz="2325" b="1" i="0">
                <a:solidFill>
                  <a:srgbClr val="3D8DFF"/>
                </a:solidFill>
                <a:latin typeface="Consolas"/>
                <a:ea typeface="Consolas"/>
                <a:cs typeface="Consolas"/>
              </a:rPr>
              <a:t>2</a:t>
            </a:r>
          </a:p>
        </p:txBody>
      </p:sp>
      <p:sp>
        <p:nvSpPr>
          <p:cNvPr id="13" name="">
            <a:extLst xmlns:a="http://schemas.openxmlformats.org/drawingml/2006/main">
              <a:ext uri="{FF2B5EF4-FFF2-40B4-BE49-F238E27FC236}">
                <a16:creationId xmlns:a16="http://schemas.microsoft.com/office/drawing/2014/main" id="{9608205B-EC00-4097-8DBC-1F5F2E2EFBFA}"/>
              </a:ext>
            </a:extLst>
          </p:cNvPr>
          <p:cNvSpPr>
            <a:spLocks xmlns:a="http://schemas.openxmlformats.org/drawingml/2006/main" noGrp="1"/>
          </p:cNvSpPr>
          <p:nvPr/>
        </p:nvSpPr>
        <p:spPr>
          <a:xfrm xmlns:a="http://schemas.openxmlformats.org/drawingml/2006/main">
            <a:off x="1219200" y="37528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globalな形状表現とlocalなstencilを組み合わせ、複雑3Dを扱う</a:t>
            </a:r>
          </a:p>
        </p:txBody>
      </p:sp>
      <p:sp>
        <p:nvSpPr>
          <p:cNvPr id="14" name="">
            <a:extLst xmlns:a="http://schemas.openxmlformats.org/drawingml/2006/main">
              <a:ext uri="{FF2B5EF4-FFF2-40B4-BE49-F238E27FC236}">
                <a16:creationId xmlns:a16="http://schemas.microsoft.com/office/drawing/2014/main" id="{9C4F1AD7-DBDC-4FB5-93DF-A6F5425FE807}"/>
              </a:ext>
            </a:extLst>
          </p:cNvPr>
          <p:cNvSpPr>
            <a:spLocks xmlns:a="http://schemas.openxmlformats.org/drawingml/2006/main" noGrp="1"/>
          </p:cNvSpPr>
          <p:nvPr/>
        </p:nvSpPr>
        <p:spPr>
          <a:xfrm xmlns:a="http://schemas.openxmlformats.org/drawingml/2006/main">
            <a:off x="1219200" y="4381500"/>
            <a:ext cx="981075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15" name="">
            <a:extLst xmlns:a="http://schemas.openxmlformats.org/drawingml/2006/main">
              <a:ext uri="{FF2B5EF4-FFF2-40B4-BE49-F238E27FC236}">
                <a16:creationId xmlns:a16="http://schemas.microsoft.com/office/drawing/2014/main" id="{1823B9D6-1082-47A1-AF22-4CA4F54B4C7A}"/>
              </a:ext>
            </a:extLst>
          </p:cNvPr>
          <p:cNvSpPr>
            <a:spLocks xmlns:a="http://schemas.openxmlformats.org/drawingml/2006/main" noGrp="1"/>
          </p:cNvSpPr>
          <p:nvPr/>
        </p:nvSpPr>
        <p:spPr>
          <a:xfrm xmlns:a="http://schemas.openxmlformats.org/drawingml/2006/main">
            <a:off x="514350" y="46482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i="0">
                <a:solidFill>
                  <a:srgbClr val="F58220"/>
                </a:solidFill>
                <a:latin typeface="Consolas"/>
                <a:ea typeface="Consolas"/>
                <a:cs typeface="Consolas"/>
              </a:defRPr>
            </a:pPr>
            <a:r>
              <a:rPr sz="2325" b="1" i="0">
                <a:solidFill>
                  <a:srgbClr val="F58220"/>
                </a:solidFill>
                <a:latin typeface="Consolas"/>
                <a:ea typeface="Consolas"/>
                <a:cs typeface="Consolas"/>
              </a:rPr>
              <a:t>3</a:t>
            </a:r>
          </a:p>
        </p:txBody>
      </p:sp>
      <p:sp>
        <p:nvSpPr>
          <p:cNvPr id="16" name="">
            <a:extLst xmlns:a="http://schemas.openxmlformats.org/drawingml/2006/main">
              <a:ext uri="{FF2B5EF4-FFF2-40B4-BE49-F238E27FC236}">
                <a16:creationId xmlns:a16="http://schemas.microsoft.com/office/drawing/2014/main" id="{8433BB74-CF62-4B9B-ACEB-CD4CDE0E3DE0}"/>
              </a:ext>
            </a:extLst>
          </p:cNvPr>
          <p:cNvSpPr>
            <a:spLocks xmlns:a="http://schemas.openxmlformats.org/drawingml/2006/main" noGrp="1"/>
          </p:cNvSpPr>
          <p:nvPr/>
        </p:nvSpPr>
        <p:spPr>
          <a:xfrm xmlns:a="http://schemas.openxmlformats.org/drawingml/2006/main">
            <a:off x="1219200" y="46482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800" b="1" i="0">
                <a:solidFill>
                  <a:srgbClr val="111827"/>
                </a:solidFill>
                <a:latin typeface="Yu Gothic"/>
                <a:ea typeface="Yu Gothic"/>
                <a:cs typeface="Yu Gothic"/>
              </a:defRPr>
            </a:pPr>
            <a:r>
              <a:rPr sz="1800" b="1" i="0">
                <a:solidFill>
                  <a:srgbClr val="111827"/>
                </a:solidFill>
                <a:latin typeface="Yu Gothic"/>
                <a:ea typeface="Yu Gothic"/>
                <a:cs typeface="Yu Gothic"/>
              </a:rPr>
              <a:t>今回の縮小実験は大域パターンを学べたが、局所ピークと汎化が課題</a:t>
            </a:r>
          </a:p>
        </p:txBody>
      </p:sp>
      <p:sp>
        <p:nvSpPr>
          <p:cNvPr id="17" name="">
            <a:extLst xmlns:a="http://schemas.openxmlformats.org/drawingml/2006/main">
              <a:ext uri="{FF2B5EF4-FFF2-40B4-BE49-F238E27FC236}">
                <a16:creationId xmlns:a16="http://schemas.microsoft.com/office/drawing/2014/main" id="{5074AA6B-A8A4-4C6A-9C9C-A5EEE6F50E49}"/>
              </a:ext>
            </a:extLst>
          </p:cNvPr>
          <p:cNvSpPr>
            <a:spLocks xmlns:a="http://schemas.openxmlformats.org/drawingml/2006/main" noGrp="1"/>
          </p:cNvSpPr>
          <p:nvPr/>
        </p:nvSpPr>
        <p:spPr>
          <a:xfrm xmlns:a="http://schemas.openxmlformats.org/drawingml/2006/main">
            <a:off x="1219200" y="5276850"/>
            <a:ext cx="981075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18" name="">
            <a:extLst xmlns:a="http://schemas.openxmlformats.org/drawingml/2006/main">
              <a:ext uri="{FF2B5EF4-FFF2-40B4-BE49-F238E27FC236}">
                <a16:creationId xmlns:a16="http://schemas.microsoft.com/office/drawing/2014/main" id="{7773DA06-159D-4131-8411-6C45E65D62BD}"/>
              </a:ext>
            </a:extLst>
          </p:cNvPr>
          <p:cNvSpPr>
            <a:spLocks xmlns:a="http://schemas.openxmlformats.org/drawingml/2006/main" noGrp="1"/>
          </p:cNvSpPr>
          <p:nvPr/>
        </p:nvSpPr>
        <p:spPr>
          <a:xfrm xmlns:a="http://schemas.openxmlformats.org/drawingml/2006/main">
            <a:off x="514350" y="5676900"/>
            <a:ext cx="10515600" cy="4953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1C73C35-5E62-4008-8218-E9912071EE26}"/>
              </a:ext>
            </a:extLst>
          </p:cNvPr>
          <p:cNvSpPr>
            <a:spLocks xmlns:a="http://schemas.openxmlformats.org/drawingml/2006/main" noGrp="1"/>
          </p:cNvSpPr>
          <p:nvPr/>
        </p:nvSpPr>
        <p:spPr>
          <a:xfrm xmlns:a="http://schemas.openxmlformats.org/drawingml/2006/main">
            <a:off x="723900" y="581025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500" b="1" i="0">
                <a:solidFill>
                  <a:srgbClr val="FFFFFF"/>
                </a:solidFill>
                <a:latin typeface="Yu Gothic"/>
                <a:ea typeface="Yu Gothic"/>
                <a:cs typeface="Yu Gothic"/>
              </a:defRPr>
            </a:pPr>
            <a:r>
              <a:rPr sz="1500" b="1" i="0">
                <a:solidFill>
                  <a:srgbClr val="FFFFFF"/>
                </a:solidFill>
                <a:latin typeface="Yu Gothic"/>
                <a:ea typeface="Yu Gothic"/>
                <a:cs typeface="Yu Gothic"/>
              </a:rPr>
              <a:t>次の一手：validation履歴を保存し、形状数・局所近傍・モデル容量を一つずつ増やして比較する</a:t>
            </a:r>
          </a:p>
        </p:txBody>
      </p:sp>
    </p:spTree>
    <p:extLst>
      <p:ext uri="{BB962C8B-B14F-4D97-AF65-F5344CB8AC3E}">
        <p14:creationId xmlns:p14="http://schemas.microsoft.com/office/powerpoint/2010/main" val="6718479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291F03-6D5F-45BB-B4AC-20C0804F215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D3FBD3-2771-4A1B-BEC3-A355C129494C}"/>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PROVENANCE</a:t>
            </a:r>
          </a:p>
        </p:txBody>
      </p:sp>
      <p:sp>
        <p:nvSpPr>
          <p:cNvPr id="3" name="">
            <a:extLst xmlns:a="http://schemas.openxmlformats.org/drawingml/2006/main">
              <a:ext uri="{FF2B5EF4-FFF2-40B4-BE49-F238E27FC236}">
                <a16:creationId xmlns:a16="http://schemas.microsoft.com/office/drawing/2014/main" id="{0C2D7968-5B76-4302-BA80-BE613B16B116}"/>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24 / 32</a:t>
            </a:r>
          </a:p>
        </p:txBody>
      </p:sp>
      <p:sp>
        <p:nvSpPr>
          <p:cNvPr id="4" name="">
            <a:extLst xmlns:a="http://schemas.openxmlformats.org/drawingml/2006/main">
              <a:ext uri="{FF2B5EF4-FFF2-40B4-BE49-F238E27FC236}">
                <a16:creationId xmlns:a16="http://schemas.microsoft.com/office/drawing/2014/main" id="{53329EAD-7782-4C03-9328-940CFB5144C5}"/>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565ACEC5-98FB-4756-B125-715F32BF60C9}"/>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This run: docs/results/run_20260712.md | PhysicsNeMo 2.1.1</a:t>
            </a:r>
          </a:p>
        </p:txBody>
      </p:sp>
      <p:sp>
        <p:nvSpPr>
          <p:cNvPr id="6" name="">
            <a:extLst xmlns:a="http://schemas.openxmlformats.org/drawingml/2006/main">
              <a:ext uri="{FF2B5EF4-FFF2-40B4-BE49-F238E27FC236}">
                <a16:creationId xmlns:a16="http://schemas.microsoft.com/office/drawing/2014/main" id="{C1764E6E-CDC4-4D7C-A2C9-EC9255171A5E}"/>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DACC67D-F09A-4D28-B481-8EC498BA8EBF}"/>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混合</a:t>
            </a:r>
          </a:p>
        </p:txBody>
      </p:sp>
      <p:sp>
        <p:nvSpPr>
          <p:cNvPr id="8" name="">
            <a:extLst xmlns:a="http://schemas.openxmlformats.org/drawingml/2006/main">
              <a:ext uri="{FF2B5EF4-FFF2-40B4-BE49-F238E27FC236}">
                <a16:creationId xmlns:a16="http://schemas.microsoft.com/office/drawing/2014/main" id="{2FCF658A-4742-4D4A-A478-61C7FD14FEF9}"/>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Appendix｜出典ラベルと参照先</a:t>
            </a:r>
          </a:p>
        </p:txBody>
      </p:sp>
      <p:sp>
        <p:nvSpPr>
          <p:cNvPr id="9" name="">
            <a:extLst xmlns:a="http://schemas.openxmlformats.org/drawingml/2006/main">
              <a:ext uri="{FF2B5EF4-FFF2-40B4-BE49-F238E27FC236}">
                <a16:creationId xmlns:a16="http://schemas.microsoft.com/office/drawing/2014/main" id="{E5097B43-3CEC-4BB8-8742-13C828F038EA}"/>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2C93B7F6-D703-445E-BE71-A4D09995D985}"/>
              </a:ext>
            </a:extLst>
          </p:cNvPr>
          <p:cNvSpPr>
            <a:spLocks xmlns:a="http://schemas.openxmlformats.org/drawingml/2006/main" noGrp="1"/>
          </p:cNvSpPr>
          <p:nvPr/>
        </p:nvSpPr>
        <p:spPr>
          <a:xfrm xmlns:a="http://schemas.openxmlformats.org/drawingml/2006/main">
            <a:off x="590550" y="1695450"/>
            <a:ext cx="1485900" cy="5334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E3A4452-A5A7-42FA-A61D-B5ED1A27EF33}"/>
              </a:ext>
            </a:extLst>
          </p:cNvPr>
          <p:cNvSpPr>
            <a:spLocks xmlns:a="http://schemas.openxmlformats.org/drawingml/2006/main" noGrp="1"/>
          </p:cNvSpPr>
          <p:nvPr/>
        </p:nvSpPr>
        <p:spPr>
          <a:xfrm xmlns:a="http://schemas.openxmlformats.org/drawingml/2006/main">
            <a:off x="666750" y="18478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1" i="0">
                <a:solidFill>
                  <a:srgbClr val="FFFFFF"/>
                </a:solidFill>
                <a:latin typeface="Consolas"/>
                <a:ea typeface="Consolas"/>
                <a:cs typeface="Consolas"/>
              </a:defRPr>
            </a:pPr>
            <a:r>
              <a:rPr sz="1200" b="1" i="0">
                <a:solidFill>
                  <a:srgbClr val="FFFFFF"/>
                </a:solidFill>
                <a:latin typeface="Consolas"/>
                <a:ea typeface="Consolas"/>
                <a:cs typeface="Consolas"/>
              </a:rPr>
              <a:t>外部資料</a:t>
            </a:r>
          </a:p>
        </p:txBody>
      </p:sp>
      <p:sp>
        <p:nvSpPr>
          <p:cNvPr id="12" name="">
            <a:extLst xmlns:a="http://schemas.openxmlformats.org/drawingml/2006/main">
              <a:ext uri="{FF2B5EF4-FFF2-40B4-BE49-F238E27FC236}">
                <a16:creationId xmlns:a16="http://schemas.microsoft.com/office/drawing/2014/main" id="{CBBF897A-656C-47B1-B037-F14F3BB3824F}"/>
              </a:ext>
            </a:extLst>
          </p:cNvPr>
          <p:cNvSpPr>
            <a:spLocks xmlns:a="http://schemas.openxmlformats.org/drawingml/2006/main" noGrp="1"/>
          </p:cNvSpPr>
          <p:nvPr/>
        </p:nvSpPr>
        <p:spPr>
          <a:xfrm xmlns:a="http://schemas.openxmlformats.org/drawingml/2006/main">
            <a:off x="2343150" y="182880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3D8DFF"/>
                </a:solidFill>
                <a:latin typeface="Consolas"/>
                <a:ea typeface="Consolas"/>
                <a:cs typeface="Consolas"/>
              </a:defRPr>
            </a:pPr>
            <a:r>
              <a:rPr sz="1650" b="1" i="0">
                <a:solidFill>
                  <a:srgbClr val="3D8DFF"/>
                </a:solidFill>
                <a:latin typeface="Consolas"/>
                <a:ea typeface="Consolas"/>
                <a:cs typeface="Consolas"/>
              </a:rPr>
              <a:t>3–12</a:t>
            </a:r>
          </a:p>
        </p:txBody>
      </p:sp>
      <p:sp>
        <p:nvSpPr>
          <p:cNvPr id="13" name="">
            <a:extLst xmlns:a="http://schemas.openxmlformats.org/drawingml/2006/main">
              <a:ext uri="{FF2B5EF4-FFF2-40B4-BE49-F238E27FC236}">
                <a16:creationId xmlns:a16="http://schemas.microsoft.com/office/drawing/2014/main" id="{7D63D649-DCD9-460D-A17A-E74833E3EECD}"/>
              </a:ext>
            </a:extLst>
          </p:cNvPr>
          <p:cNvSpPr>
            <a:spLocks xmlns:a="http://schemas.openxmlformats.org/drawingml/2006/main" noGrp="1"/>
          </p:cNvSpPr>
          <p:nvPr/>
        </p:nvSpPr>
        <p:spPr>
          <a:xfrm xmlns:a="http://schemas.openxmlformats.org/drawingml/2006/main">
            <a:off x="3562350" y="18002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論文・PhysicsNeMo公式資料に基づく概念、比較、アーキテクチャ</a:t>
            </a:r>
          </a:p>
        </p:txBody>
      </p:sp>
      <p:sp>
        <p:nvSpPr>
          <p:cNvPr id="14" name="">
            <a:extLst xmlns:a="http://schemas.openxmlformats.org/drawingml/2006/main">
              <a:ext uri="{FF2B5EF4-FFF2-40B4-BE49-F238E27FC236}">
                <a16:creationId xmlns:a16="http://schemas.microsoft.com/office/drawing/2014/main" id="{3F711139-7EE2-4A87-9210-305DB3F86E8D}"/>
              </a:ext>
            </a:extLst>
          </p:cNvPr>
          <p:cNvSpPr>
            <a:spLocks xmlns:a="http://schemas.openxmlformats.org/drawingml/2006/main" noGrp="1"/>
          </p:cNvSpPr>
          <p:nvPr/>
        </p:nvSpPr>
        <p:spPr>
          <a:xfrm xmlns:a="http://schemas.openxmlformats.org/drawingml/2006/main">
            <a:off x="2343150" y="2343150"/>
            <a:ext cx="8743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15" name="">
            <a:extLst xmlns:a="http://schemas.openxmlformats.org/drawingml/2006/main">
              <a:ext uri="{FF2B5EF4-FFF2-40B4-BE49-F238E27FC236}">
                <a16:creationId xmlns:a16="http://schemas.microsoft.com/office/drawing/2014/main" id="{8CA833FA-1B7E-4C6A-B3AC-14F01D0DFF6E}"/>
              </a:ext>
            </a:extLst>
          </p:cNvPr>
          <p:cNvSpPr>
            <a:spLocks xmlns:a="http://schemas.openxmlformats.org/drawingml/2006/main" noGrp="1"/>
          </p:cNvSpPr>
          <p:nvPr/>
        </p:nvSpPr>
        <p:spPr>
          <a:xfrm xmlns:a="http://schemas.openxmlformats.org/drawingml/2006/main">
            <a:off x="590550" y="2533650"/>
            <a:ext cx="1485900" cy="5334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190B720-3633-4399-8476-7EA6A1D8B381}"/>
              </a:ext>
            </a:extLst>
          </p:cNvPr>
          <p:cNvSpPr>
            <a:spLocks xmlns:a="http://schemas.openxmlformats.org/drawingml/2006/main" noGrp="1"/>
          </p:cNvSpPr>
          <p:nvPr/>
        </p:nvSpPr>
        <p:spPr>
          <a:xfrm xmlns:a="http://schemas.openxmlformats.org/drawingml/2006/main">
            <a:off x="666750" y="26860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1" i="0">
                <a:solidFill>
                  <a:srgbClr val="FFFFFF"/>
                </a:solidFill>
                <a:latin typeface="Consolas"/>
                <a:ea typeface="Consolas"/>
                <a:cs typeface="Consolas"/>
              </a:defRPr>
            </a:pPr>
            <a:r>
              <a:rPr sz="1200" b="1" i="0">
                <a:solidFill>
                  <a:srgbClr val="FFFFFF"/>
                </a:solidFill>
                <a:latin typeface="Consolas"/>
                <a:ea typeface="Consolas"/>
                <a:cs typeface="Consolas"/>
              </a:rPr>
              <a:t>今回計算</a:t>
            </a:r>
          </a:p>
        </p:txBody>
      </p:sp>
      <p:sp>
        <p:nvSpPr>
          <p:cNvPr id="17" name="">
            <a:extLst xmlns:a="http://schemas.openxmlformats.org/drawingml/2006/main">
              <a:ext uri="{FF2B5EF4-FFF2-40B4-BE49-F238E27FC236}">
                <a16:creationId xmlns:a16="http://schemas.microsoft.com/office/drawing/2014/main" id="{89A9C430-D249-4D83-95DF-72166CFB886E}"/>
              </a:ext>
            </a:extLst>
          </p:cNvPr>
          <p:cNvSpPr>
            <a:spLocks xmlns:a="http://schemas.openxmlformats.org/drawingml/2006/main" noGrp="1"/>
          </p:cNvSpPr>
          <p:nvPr/>
        </p:nvSpPr>
        <p:spPr>
          <a:xfrm xmlns:a="http://schemas.openxmlformats.org/drawingml/2006/main">
            <a:off x="2343150" y="266700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F58220"/>
                </a:solidFill>
                <a:latin typeface="Consolas"/>
                <a:ea typeface="Consolas"/>
                <a:cs typeface="Consolas"/>
              </a:defRPr>
            </a:pPr>
            <a:r>
              <a:rPr sz="1650" b="1" i="0">
                <a:solidFill>
                  <a:srgbClr val="F58220"/>
                </a:solidFill>
                <a:latin typeface="Consolas"/>
                <a:ea typeface="Consolas"/>
                <a:cs typeface="Consolas"/>
              </a:rPr>
              <a:t>1, 14–22</a:t>
            </a:r>
          </a:p>
        </p:txBody>
      </p:sp>
      <p:sp>
        <p:nvSpPr>
          <p:cNvPr id="18" name="">
            <a:extLst xmlns:a="http://schemas.openxmlformats.org/drawingml/2006/main">
              <a:ext uri="{FF2B5EF4-FFF2-40B4-BE49-F238E27FC236}">
                <a16:creationId xmlns:a16="http://schemas.microsoft.com/office/drawing/2014/main" id="{90C31515-5858-4083-92FD-D6B5EA12C02D}"/>
              </a:ext>
            </a:extLst>
          </p:cNvPr>
          <p:cNvSpPr>
            <a:spLocks xmlns:a="http://schemas.openxmlformats.org/drawingml/2006/main" noGrp="1"/>
          </p:cNvSpPr>
          <p:nvPr/>
        </p:nvSpPr>
        <p:spPr>
          <a:xfrm xmlns:a="http://schemas.openxmlformats.org/drawingml/2006/main">
            <a:off x="3562350" y="26384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今回のColab実行から得た画像、設定、学習履歴、評価値</a:t>
            </a:r>
          </a:p>
        </p:txBody>
      </p:sp>
      <p:sp>
        <p:nvSpPr>
          <p:cNvPr id="19" name="">
            <a:extLst xmlns:a="http://schemas.openxmlformats.org/drawingml/2006/main">
              <a:ext uri="{FF2B5EF4-FFF2-40B4-BE49-F238E27FC236}">
                <a16:creationId xmlns:a16="http://schemas.microsoft.com/office/drawing/2014/main" id="{6F51530B-A1AD-4AB5-85F9-276BF664378E}"/>
              </a:ext>
            </a:extLst>
          </p:cNvPr>
          <p:cNvSpPr>
            <a:spLocks xmlns:a="http://schemas.openxmlformats.org/drawingml/2006/main" noGrp="1"/>
          </p:cNvSpPr>
          <p:nvPr/>
        </p:nvSpPr>
        <p:spPr>
          <a:xfrm xmlns:a="http://schemas.openxmlformats.org/drawingml/2006/main">
            <a:off x="2343150" y="3181350"/>
            <a:ext cx="8743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0" name="">
            <a:extLst xmlns:a="http://schemas.openxmlformats.org/drawingml/2006/main">
              <a:ext uri="{FF2B5EF4-FFF2-40B4-BE49-F238E27FC236}">
                <a16:creationId xmlns:a16="http://schemas.microsoft.com/office/drawing/2014/main" id="{9EC0AB46-83E1-4092-AC85-FA33D1C899C6}"/>
              </a:ext>
            </a:extLst>
          </p:cNvPr>
          <p:cNvSpPr>
            <a:spLocks xmlns:a="http://schemas.openxmlformats.org/drawingml/2006/main" noGrp="1"/>
          </p:cNvSpPr>
          <p:nvPr/>
        </p:nvSpPr>
        <p:spPr>
          <a:xfrm xmlns:a="http://schemas.openxmlformats.org/drawingml/2006/main">
            <a:off x="590550" y="3371850"/>
            <a:ext cx="1485900" cy="53340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2399D2D-4F5C-4832-8574-ACF90D7B865F}"/>
              </a:ext>
            </a:extLst>
          </p:cNvPr>
          <p:cNvSpPr>
            <a:spLocks xmlns:a="http://schemas.openxmlformats.org/drawingml/2006/main" noGrp="1"/>
          </p:cNvSpPr>
          <p:nvPr/>
        </p:nvSpPr>
        <p:spPr>
          <a:xfrm xmlns:a="http://schemas.openxmlformats.org/drawingml/2006/main">
            <a:off x="666750" y="35242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1" i="0">
                <a:solidFill>
                  <a:srgbClr val="FFFFFF"/>
                </a:solidFill>
                <a:latin typeface="Consolas"/>
                <a:ea typeface="Consolas"/>
                <a:cs typeface="Consolas"/>
              </a:defRPr>
            </a:pPr>
            <a:r>
              <a:rPr sz="1200" b="1" i="0">
                <a:solidFill>
                  <a:srgbClr val="FFFFFF"/>
                </a:solidFill>
                <a:latin typeface="Consolas"/>
                <a:ea typeface="Consolas"/>
                <a:cs typeface="Consolas"/>
              </a:rPr>
              <a:t>混合</a:t>
            </a:r>
          </a:p>
        </p:txBody>
      </p:sp>
      <p:sp>
        <p:nvSpPr>
          <p:cNvPr id="22" name="">
            <a:extLst xmlns:a="http://schemas.openxmlformats.org/drawingml/2006/main">
              <a:ext uri="{FF2B5EF4-FFF2-40B4-BE49-F238E27FC236}">
                <a16:creationId xmlns:a16="http://schemas.microsoft.com/office/drawing/2014/main" id="{5ADB85A7-2D08-46CD-8659-FF771B63327C}"/>
              </a:ext>
            </a:extLst>
          </p:cNvPr>
          <p:cNvSpPr>
            <a:spLocks xmlns:a="http://schemas.openxmlformats.org/drawingml/2006/main" noGrp="1"/>
          </p:cNvSpPr>
          <p:nvPr/>
        </p:nvSpPr>
        <p:spPr>
          <a:xfrm xmlns:a="http://schemas.openxmlformats.org/drawingml/2006/main">
            <a:off x="2343150" y="350520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4F7D00"/>
                </a:solidFill>
                <a:latin typeface="Consolas"/>
                <a:ea typeface="Consolas"/>
                <a:cs typeface="Consolas"/>
              </a:defRPr>
            </a:pPr>
            <a:r>
              <a:rPr sz="1650" b="1" i="0">
                <a:solidFill>
                  <a:srgbClr val="4F7D00"/>
                </a:solidFill>
                <a:latin typeface="Consolas"/>
                <a:ea typeface="Consolas"/>
                <a:cs typeface="Consolas"/>
              </a:rPr>
              <a:t>13, 23</a:t>
            </a:r>
          </a:p>
        </p:txBody>
      </p:sp>
      <p:sp>
        <p:nvSpPr>
          <p:cNvPr id="23" name="">
            <a:extLst xmlns:a="http://schemas.openxmlformats.org/drawingml/2006/main">
              <a:ext uri="{FF2B5EF4-FFF2-40B4-BE49-F238E27FC236}">
                <a16:creationId xmlns:a16="http://schemas.microsoft.com/office/drawing/2014/main" id="{B792435D-60F2-482F-9D66-E93A2A1AC6C0}"/>
              </a:ext>
            </a:extLst>
          </p:cNvPr>
          <p:cNvSpPr>
            <a:spLocks xmlns:a="http://schemas.openxmlformats.org/drawingml/2006/main" noGrp="1"/>
          </p:cNvSpPr>
          <p:nvPr/>
        </p:nvSpPr>
        <p:spPr>
          <a:xfrm xmlns:a="http://schemas.openxmlformats.org/drawingml/2006/main">
            <a:off x="3562350" y="34766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公式APIの説明と今回の設定、または外部概念と実験結果を併記</a:t>
            </a:r>
          </a:p>
        </p:txBody>
      </p:sp>
      <p:sp>
        <p:nvSpPr>
          <p:cNvPr id="24" name="">
            <a:extLst xmlns:a="http://schemas.openxmlformats.org/drawingml/2006/main">
              <a:ext uri="{FF2B5EF4-FFF2-40B4-BE49-F238E27FC236}">
                <a16:creationId xmlns:a16="http://schemas.microsoft.com/office/drawing/2014/main" id="{40088969-BE90-453D-9875-EFD4BF7B64F3}"/>
              </a:ext>
            </a:extLst>
          </p:cNvPr>
          <p:cNvSpPr>
            <a:spLocks xmlns:a="http://schemas.openxmlformats.org/drawingml/2006/main" noGrp="1"/>
          </p:cNvSpPr>
          <p:nvPr/>
        </p:nvSpPr>
        <p:spPr>
          <a:xfrm xmlns:a="http://schemas.openxmlformats.org/drawingml/2006/main">
            <a:off x="2343150" y="4019550"/>
            <a:ext cx="8743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5" name="">
            <a:extLst xmlns:a="http://schemas.openxmlformats.org/drawingml/2006/main">
              <a:ext uri="{FF2B5EF4-FFF2-40B4-BE49-F238E27FC236}">
                <a16:creationId xmlns:a16="http://schemas.microsoft.com/office/drawing/2014/main" id="{002F0C51-6DF6-47D9-A307-34EE2C9873A0}"/>
              </a:ext>
            </a:extLst>
          </p:cNvPr>
          <p:cNvSpPr>
            <a:spLocks xmlns:a="http://schemas.openxmlformats.org/drawingml/2006/main" noGrp="1"/>
          </p:cNvSpPr>
          <p:nvPr/>
        </p:nvSpPr>
        <p:spPr>
          <a:xfrm xmlns:a="http://schemas.openxmlformats.org/drawingml/2006/main">
            <a:off x="590550" y="4210050"/>
            <a:ext cx="1485900" cy="53340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1FCC2CC-01E6-43AA-84E5-C84C6F2EEC23}"/>
              </a:ext>
            </a:extLst>
          </p:cNvPr>
          <p:cNvSpPr>
            <a:spLocks xmlns:a="http://schemas.openxmlformats.org/drawingml/2006/main" noGrp="1"/>
          </p:cNvSpPr>
          <p:nvPr/>
        </p:nvSpPr>
        <p:spPr>
          <a:xfrm xmlns:a="http://schemas.openxmlformats.org/drawingml/2006/main">
            <a:off x="666750" y="43624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1" i="0">
                <a:solidFill>
                  <a:srgbClr val="FFFFFF"/>
                </a:solidFill>
                <a:latin typeface="Consolas"/>
                <a:ea typeface="Consolas"/>
                <a:cs typeface="Consolas"/>
              </a:defRPr>
            </a:pPr>
            <a:r>
              <a:rPr sz="1200" b="1" i="0">
                <a:solidFill>
                  <a:srgbClr val="FFFFFF"/>
                </a:solidFill>
                <a:latin typeface="Consolas"/>
                <a:ea typeface="Consolas"/>
                <a:cs typeface="Consolas"/>
              </a:rPr>
              <a:t>構成・解説</a:t>
            </a:r>
          </a:p>
        </p:txBody>
      </p:sp>
      <p:sp>
        <p:nvSpPr>
          <p:cNvPr id="27" name="">
            <a:extLst xmlns:a="http://schemas.openxmlformats.org/drawingml/2006/main">
              <a:ext uri="{FF2B5EF4-FFF2-40B4-BE49-F238E27FC236}">
                <a16:creationId xmlns:a16="http://schemas.microsoft.com/office/drawing/2014/main" id="{DBC917AB-FF98-49A6-9BFA-9EBB0894136A}"/>
              </a:ext>
            </a:extLst>
          </p:cNvPr>
          <p:cNvSpPr>
            <a:spLocks xmlns:a="http://schemas.openxmlformats.org/drawingml/2006/main" noGrp="1"/>
          </p:cNvSpPr>
          <p:nvPr/>
        </p:nvSpPr>
        <p:spPr>
          <a:xfrm xmlns:a="http://schemas.openxmlformats.org/drawingml/2006/main">
            <a:off x="2343150" y="434340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5B6472"/>
                </a:solidFill>
                <a:latin typeface="Consolas"/>
                <a:ea typeface="Consolas"/>
                <a:cs typeface="Consolas"/>
              </a:defRPr>
            </a:pPr>
            <a:r>
              <a:rPr sz="1650" b="1" i="0">
                <a:solidFill>
                  <a:srgbClr val="5B6472"/>
                </a:solidFill>
                <a:latin typeface="Consolas"/>
                <a:ea typeface="Consolas"/>
                <a:cs typeface="Consolas"/>
              </a:rPr>
              <a:t>2, 24–32</a:t>
            </a:r>
          </a:p>
        </p:txBody>
      </p:sp>
      <p:sp>
        <p:nvSpPr>
          <p:cNvPr id="28" name="">
            <a:extLst xmlns:a="http://schemas.openxmlformats.org/drawingml/2006/main">
              <a:ext uri="{FF2B5EF4-FFF2-40B4-BE49-F238E27FC236}">
                <a16:creationId xmlns:a16="http://schemas.microsoft.com/office/drawing/2014/main" id="{5D59DCDA-B393-4F34-985A-05B6B2D72550}"/>
              </a:ext>
            </a:extLst>
          </p:cNvPr>
          <p:cNvSpPr>
            <a:spLocks xmlns:a="http://schemas.openxmlformats.org/drawingml/2006/main" noGrp="1"/>
          </p:cNvSpPr>
          <p:nvPr/>
        </p:nvSpPr>
        <p:spPr>
          <a:xfrm xmlns:a="http://schemas.openxmlformats.org/drawingml/2006/main">
            <a:off x="3562350" y="43148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発表用の整理・読み方。数値は元の出典ラベルを引き継ぐ</a:t>
            </a:r>
          </a:p>
        </p:txBody>
      </p:sp>
      <p:sp>
        <p:nvSpPr>
          <p:cNvPr id="29" name="">
            <a:extLst xmlns:a="http://schemas.openxmlformats.org/drawingml/2006/main">
              <a:ext uri="{FF2B5EF4-FFF2-40B4-BE49-F238E27FC236}">
                <a16:creationId xmlns:a16="http://schemas.microsoft.com/office/drawing/2014/main" id="{BABA7146-5CD9-4DBC-920C-ABC1196C30FF}"/>
              </a:ext>
            </a:extLst>
          </p:cNvPr>
          <p:cNvSpPr>
            <a:spLocks xmlns:a="http://schemas.openxmlformats.org/drawingml/2006/main" noGrp="1"/>
          </p:cNvSpPr>
          <p:nvPr/>
        </p:nvSpPr>
        <p:spPr>
          <a:xfrm xmlns:a="http://schemas.openxmlformats.org/drawingml/2006/main">
            <a:off x="2343150" y="4857750"/>
            <a:ext cx="8743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30" name="">
            <a:extLst xmlns:a="http://schemas.openxmlformats.org/drawingml/2006/main">
              <a:ext uri="{FF2B5EF4-FFF2-40B4-BE49-F238E27FC236}">
                <a16:creationId xmlns:a16="http://schemas.microsoft.com/office/drawing/2014/main" id="{8709BEBC-3C97-4893-AFE8-8183609B4D16}"/>
              </a:ext>
            </a:extLst>
          </p:cNvPr>
          <p:cNvSpPr>
            <a:spLocks xmlns:a="http://schemas.openxmlformats.org/drawingml/2006/main" noGrp="1"/>
          </p:cNvSpPr>
          <p:nvPr/>
        </p:nvSpPr>
        <p:spPr>
          <a:xfrm xmlns:a="http://schemas.openxmlformats.org/drawingml/2006/main">
            <a:off x="590550" y="5314950"/>
            <a:ext cx="10496550" cy="6096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A10CF76-B8D7-4112-893D-3E0DDCEEAAAE}"/>
              </a:ext>
            </a:extLst>
          </p:cNvPr>
          <p:cNvSpPr>
            <a:spLocks xmlns:a="http://schemas.openxmlformats.org/drawingml/2006/main" noGrp="1"/>
          </p:cNvSpPr>
          <p:nvPr/>
        </p:nvSpPr>
        <p:spPr>
          <a:xfrm xmlns:a="http://schemas.openxmlformats.org/drawingml/2006/main">
            <a:off x="781050" y="5486400"/>
            <a:ext cx="1011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今回計算の一次記録：docs/results/run_20260712.md　／　再現コード：notebooks/domino_surface_only_colab.ipynb</a:t>
            </a:r>
          </a:p>
        </p:txBody>
      </p:sp>
    </p:spTree>
    <p:extLst>
      <p:ext uri="{BB962C8B-B14F-4D97-AF65-F5344CB8AC3E}">
        <p14:creationId xmlns:p14="http://schemas.microsoft.com/office/powerpoint/2010/main" val="3677056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70B233-F2A4-4889-A3DA-94CD55DF362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2C5CDD-B8B7-4CCC-9633-BDBC9701C333}"/>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CONCEPT</a:t>
            </a:r>
          </a:p>
        </p:txBody>
      </p:sp>
      <p:sp>
        <p:nvSpPr>
          <p:cNvPr id="3" name="">
            <a:extLst xmlns:a="http://schemas.openxmlformats.org/drawingml/2006/main">
              <a:ext uri="{FF2B5EF4-FFF2-40B4-BE49-F238E27FC236}">
                <a16:creationId xmlns:a16="http://schemas.microsoft.com/office/drawing/2014/main" id="{A6A65C29-8500-4F12-AAE3-8CBEAC850F77}"/>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25 / 32</a:t>
            </a:r>
          </a:p>
        </p:txBody>
      </p:sp>
      <p:sp>
        <p:nvSpPr>
          <p:cNvPr id="4" name="">
            <a:extLst xmlns:a="http://schemas.openxmlformats.org/drawingml/2006/main">
              <a:ext uri="{FF2B5EF4-FFF2-40B4-BE49-F238E27FC236}">
                <a16:creationId xmlns:a16="http://schemas.microsoft.com/office/drawing/2014/main" id="{049178C7-0074-4075-8545-084695DAFE09}"/>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18331448-1F23-4E3D-9490-D0D3FB1E3538}"/>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Kovachki et al., Neural Operator, JMLR 24 (2023) | External: Lu et al., DeepONet, NMI 3 (2021) | External: Ranade et al., DoMINO, arXiv:2501.13350 (2025)</a:t>
            </a:r>
          </a:p>
        </p:txBody>
      </p:sp>
      <p:sp>
        <p:nvSpPr>
          <p:cNvPr id="6" name="">
            <a:extLst xmlns:a="http://schemas.openxmlformats.org/drawingml/2006/main">
              <a:ext uri="{FF2B5EF4-FFF2-40B4-BE49-F238E27FC236}">
                <a16:creationId xmlns:a16="http://schemas.microsoft.com/office/drawing/2014/main" id="{DBFA1B44-D741-4514-9B3F-39A8A3A25C5A}"/>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B951840-D74A-4A72-918D-1961EEF2026C}"/>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65581BC6-BD0C-49AE-900F-82B0121EDC36}"/>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Appendix｜Neural OperatorとDoMINOの関係</a:t>
            </a:r>
          </a:p>
        </p:txBody>
      </p:sp>
      <p:sp>
        <p:nvSpPr>
          <p:cNvPr id="9" name="">
            <a:extLst xmlns:a="http://schemas.openxmlformats.org/drawingml/2006/main">
              <a:ext uri="{FF2B5EF4-FFF2-40B4-BE49-F238E27FC236}">
                <a16:creationId xmlns:a16="http://schemas.microsoft.com/office/drawing/2014/main" id="{78DE2169-2C30-431F-8E33-22FEA39DDDDD}"/>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9E1D606F-95CF-4FE3-BC7B-496EAE3E9B5B}"/>
              </a:ext>
            </a:extLst>
          </p:cNvPr>
          <p:cNvSpPr>
            <a:spLocks xmlns:a="http://schemas.openxmlformats.org/drawingml/2006/main" noGrp="1"/>
          </p:cNvSpPr>
          <p:nvPr/>
        </p:nvSpPr>
        <p:spPr>
          <a:xfrm xmlns:a="http://schemas.openxmlformats.org/drawingml/2006/main">
            <a:off x="590550" y="16954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3D8DFF"/>
                </a:solidFill>
                <a:latin typeface="Consolas"/>
                <a:ea typeface="Consolas"/>
                <a:cs typeface="Consolas"/>
              </a:defRPr>
            </a:pPr>
            <a:r>
              <a:rPr sz="1650" b="1" i="0">
                <a:solidFill>
                  <a:srgbClr val="3D8DFF"/>
                </a:solidFill>
                <a:latin typeface="Consolas"/>
                <a:ea typeface="Consolas"/>
                <a:cs typeface="Consolas"/>
              </a:rPr>
              <a:t>1  Operator learning</a:t>
            </a:r>
          </a:p>
        </p:txBody>
      </p:sp>
      <p:sp>
        <p:nvSpPr>
          <p:cNvPr id="11" name="">
            <a:extLst xmlns:a="http://schemas.openxmlformats.org/drawingml/2006/main">
              <a:ext uri="{FF2B5EF4-FFF2-40B4-BE49-F238E27FC236}">
                <a16:creationId xmlns:a16="http://schemas.microsoft.com/office/drawing/2014/main" id="{0DA9846A-01E2-472C-98B5-5A38F41C03ED}"/>
              </a:ext>
            </a:extLst>
          </p:cNvPr>
          <p:cNvSpPr>
            <a:spLocks xmlns:a="http://schemas.openxmlformats.org/drawingml/2006/main" noGrp="1"/>
          </p:cNvSpPr>
          <p:nvPr/>
        </p:nvSpPr>
        <p:spPr>
          <a:xfrm xmlns:a="http://schemas.openxmlformats.org/drawingml/2006/main">
            <a:off x="590550" y="2143125"/>
            <a:ext cx="504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575" b="0" i="0">
                <a:solidFill>
                  <a:srgbClr val="111827"/>
                </a:solidFill>
                <a:latin typeface="Yu Gothic"/>
                <a:ea typeface="Yu Gothic"/>
                <a:cs typeface="Yu Gothic"/>
              </a:defRPr>
            </a:pPr>
            <a:r>
              <a:rPr sz="1575" b="0" i="0">
                <a:solidFill>
                  <a:srgbClr val="111827"/>
                </a:solidFill>
                <a:latin typeface="Yu Gothic"/>
                <a:ea typeface="Yu Gothic"/>
                <a:cs typeface="Yu Gothic"/>
              </a:rPr>
              <a:t>有限個の入力値ではなく、入力関数 a(x) から出力関数 u(x) への写像 𝒢 を近似する。</a:t>
            </a:r>
          </a:p>
        </p:txBody>
      </p:sp>
      <p:sp>
        <p:nvSpPr>
          <p:cNvPr id="12" name="">
            <a:extLst xmlns:a="http://schemas.openxmlformats.org/drawingml/2006/main">
              <a:ext uri="{FF2B5EF4-FFF2-40B4-BE49-F238E27FC236}">
                <a16:creationId xmlns:a16="http://schemas.microsoft.com/office/drawing/2014/main" id="{1000FB33-3688-4658-B839-E2AF811BB462}"/>
              </a:ext>
            </a:extLst>
          </p:cNvPr>
          <p:cNvSpPr>
            <a:spLocks xmlns:a="http://schemas.openxmlformats.org/drawingml/2006/main" noGrp="1"/>
          </p:cNvSpPr>
          <p:nvPr/>
        </p:nvSpPr>
        <p:spPr>
          <a:xfrm xmlns:a="http://schemas.openxmlformats.org/drawingml/2006/main">
            <a:off x="590550" y="3238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i="0">
                <a:solidFill>
                  <a:srgbClr val="4F7D00"/>
                </a:solidFill>
                <a:latin typeface="Consolas"/>
                <a:ea typeface="Consolas"/>
                <a:cs typeface="Consolas"/>
              </a:defRPr>
            </a:pPr>
            <a:r>
              <a:rPr sz="1650" b="1" i="0">
                <a:solidFill>
                  <a:srgbClr val="4F7D00"/>
                </a:solidFill>
                <a:latin typeface="Consolas"/>
                <a:ea typeface="Consolas"/>
                <a:cs typeface="Consolas"/>
              </a:rPr>
              <a:t>2  Neural Operator</a:t>
            </a:r>
          </a:p>
        </p:txBody>
      </p:sp>
      <p:sp>
        <p:nvSpPr>
          <p:cNvPr id="13" name="">
            <a:extLst xmlns:a="http://schemas.openxmlformats.org/drawingml/2006/main">
              <a:ext uri="{FF2B5EF4-FFF2-40B4-BE49-F238E27FC236}">
                <a16:creationId xmlns:a16="http://schemas.microsoft.com/office/drawing/2014/main" id="{AEA7B58E-5585-45A7-A97E-F77EA8B9616C}"/>
              </a:ext>
            </a:extLst>
          </p:cNvPr>
          <p:cNvSpPr>
            <a:spLocks xmlns:a="http://schemas.openxmlformats.org/drawingml/2006/main" noGrp="1"/>
          </p:cNvSpPr>
          <p:nvPr/>
        </p:nvSpPr>
        <p:spPr>
          <a:xfrm xmlns:a="http://schemas.openxmlformats.org/drawingml/2006/main">
            <a:off x="590550" y="3686175"/>
            <a:ext cx="504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575" b="0" i="0">
                <a:solidFill>
                  <a:srgbClr val="111827"/>
                </a:solidFill>
                <a:latin typeface="Yu Gothic"/>
                <a:ea typeface="Yu Gothic"/>
                <a:cs typeface="Yu Gothic"/>
              </a:defRPr>
            </a:pPr>
            <a:r>
              <a:rPr sz="1575" b="0" i="0">
                <a:solidFill>
                  <a:srgbClr val="111827"/>
                </a:solidFill>
                <a:latin typeface="Yu Gothic"/>
                <a:ea typeface="Yu Gothic"/>
                <a:cs typeface="Yu Gothic"/>
              </a:rPr>
              <a:t>関数空間上の写像をニューラルネットで表現する上位概念。FNO・GNO・DeepONet系など実装は複数ある。</a:t>
            </a:r>
          </a:p>
        </p:txBody>
      </p:sp>
      <p:sp>
        <p:nvSpPr>
          <p:cNvPr id="14" name="">
            <a:extLst xmlns:a="http://schemas.openxmlformats.org/drawingml/2006/main">
              <a:ext uri="{FF2B5EF4-FFF2-40B4-BE49-F238E27FC236}">
                <a16:creationId xmlns:a16="http://schemas.microsoft.com/office/drawing/2014/main" id="{908AAE6F-7368-4204-920B-6896EAEB6FA7}"/>
              </a:ext>
            </a:extLst>
          </p:cNvPr>
          <p:cNvSpPr>
            <a:spLocks xmlns:a="http://schemas.openxmlformats.org/drawingml/2006/main" noGrp="1"/>
          </p:cNvSpPr>
          <p:nvPr/>
        </p:nvSpPr>
        <p:spPr>
          <a:xfrm xmlns:a="http://schemas.openxmlformats.org/drawingml/2006/main">
            <a:off x="6191250" y="1695450"/>
            <a:ext cx="4953000" cy="29718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EAE657-F5A4-44F6-9F69-ED5261069231}"/>
              </a:ext>
            </a:extLst>
          </p:cNvPr>
          <p:cNvSpPr>
            <a:spLocks xmlns:a="http://schemas.openxmlformats.org/drawingml/2006/main" noGrp="1"/>
          </p:cNvSpPr>
          <p:nvPr/>
        </p:nvSpPr>
        <p:spPr>
          <a:xfrm xmlns:a="http://schemas.openxmlformats.org/drawingml/2006/main">
            <a:off x="6477000" y="195262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FFFFFF"/>
                </a:solidFill>
                <a:latin typeface="Yu Gothic"/>
                <a:ea typeface="Yu Gothic"/>
                <a:cs typeface="Yu Gothic"/>
              </a:defRPr>
            </a:pPr>
            <a:r>
              <a:rPr sz="1800" b="1" i="0">
                <a:solidFill>
                  <a:srgbClr val="FFFFFF"/>
                </a:solidFill>
                <a:latin typeface="Yu Gothic"/>
                <a:ea typeface="Yu Gothic"/>
                <a:cs typeface="Yu Gothic"/>
              </a:rPr>
              <a:t>DoMINO = 具体的な設計選択</a:t>
            </a:r>
          </a:p>
        </p:txBody>
      </p:sp>
      <p:sp>
        <p:nvSpPr>
          <p:cNvPr id="16" name="">
            <a:extLst xmlns:a="http://schemas.openxmlformats.org/drawingml/2006/main">
              <a:ext uri="{FF2B5EF4-FFF2-40B4-BE49-F238E27FC236}">
                <a16:creationId xmlns:a16="http://schemas.microsoft.com/office/drawing/2014/main" id="{809C10E5-908A-47A1-9705-01E3EF4D5B3E}"/>
              </a:ext>
            </a:extLst>
          </p:cNvPr>
          <p:cNvSpPr>
            <a:spLocks xmlns:a="http://schemas.openxmlformats.org/drawingml/2006/main" noGrp="1"/>
          </p:cNvSpPr>
          <p:nvPr/>
        </p:nvSpPr>
        <p:spPr>
          <a:xfrm xmlns:a="http://schemas.openxmlformats.org/drawingml/2006/main">
            <a:off x="6477000" y="2543175"/>
            <a:ext cx="42481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2000"/>
              </a:lnSpc>
              <a:buNone/>
              <a:defRPr sz="1500" b="0" i="0">
                <a:solidFill>
                  <a:srgbClr val="FFFFFF"/>
                </a:solidFill>
                <a:latin typeface="Yu Gothic"/>
                <a:ea typeface="Yu Gothic"/>
                <a:cs typeface="Yu Gothic"/>
              </a:defRPr>
            </a:pPr>
            <a:r>
              <a:rPr sz="1500" b="0" i="0">
                <a:solidFill>
                  <a:srgbClr val="FFFFFF"/>
                </a:solidFill>
                <a:latin typeface="Yu Gothic"/>
                <a:ea typeface="Yu Gothic"/>
                <a:cs typeface="Yu Gothic"/>
              </a:rPr>
              <a:t>• 入力：3D形状の点群</a:t>
            </a:r>
          </a:p>
          <a:p xmlns:a="http://schemas.openxmlformats.org/drawingml/2006/main">
            <a:pPr algn="l">
              <a:lnSpc>
                <a:spcPct val="142000"/>
              </a:lnSpc>
              <a:buNone/>
              <a:defRPr sz="1500" b="0" i="0">
                <a:solidFill>
                  <a:srgbClr val="FFFFFF"/>
                </a:solidFill>
                <a:latin typeface="Yu Gothic"/>
                <a:ea typeface="Yu Gothic"/>
                <a:cs typeface="Yu Gothic"/>
              </a:defRPr>
            </a:pPr>
            <a:r>
              <a:rPr sz="1500" b="0" i="0">
                <a:solidFill>
                  <a:srgbClr val="FFFFFF"/>
                </a:solidFill>
                <a:latin typeface="Yu Gothic"/>
                <a:ea typeface="Yu Gothic"/>
                <a:cs typeface="Yu Gothic"/>
              </a:rPr>
              <a:t>• 共有表現：multi-scale global encoding</a:t>
            </a:r>
          </a:p>
          <a:p xmlns:a="http://schemas.openxmlformats.org/drawingml/2006/main">
            <a:pPr algn="l">
              <a:lnSpc>
                <a:spcPct val="142000"/>
              </a:lnSpc>
              <a:buNone/>
              <a:defRPr sz="1500" b="0" i="0">
                <a:solidFill>
                  <a:srgbClr val="FFFFFF"/>
                </a:solidFill>
                <a:latin typeface="Yu Gothic"/>
                <a:ea typeface="Yu Gothic"/>
                <a:cs typeface="Yu Gothic"/>
              </a:defRPr>
            </a:pPr>
            <a:r>
              <a:rPr sz="1500" b="0" i="0">
                <a:solidFill>
                  <a:srgbClr val="FFFFFF"/>
                </a:solidFill>
                <a:latin typeface="Yu Gothic"/>
                <a:ea typeface="Yu Gothic"/>
                <a:cs typeface="Yu Gothic"/>
              </a:rPr>
              <a:t>• 局所化：query周辺のlocal encoding</a:t>
            </a:r>
          </a:p>
          <a:p xmlns:a="http://schemas.openxmlformats.org/drawingml/2006/main">
            <a:pPr algn="l">
              <a:lnSpc>
                <a:spcPct val="142000"/>
              </a:lnSpc>
              <a:buNone/>
              <a:defRPr sz="1500" b="0" i="0">
                <a:solidFill>
                  <a:srgbClr val="FFFFFF"/>
                </a:solidFill>
                <a:latin typeface="Yu Gothic"/>
                <a:ea typeface="Yu Gothic"/>
                <a:cs typeface="Yu Gothic"/>
              </a:defRPr>
            </a:pPr>
            <a:r>
              <a:rPr sz="1500" b="0" i="0">
                <a:solidFill>
                  <a:srgbClr val="FFFFFF"/>
                </a:solidFill>
                <a:latin typeface="Yu Gothic"/>
                <a:ea typeface="Yu Gothic"/>
                <a:cs typeface="Yu Gothic"/>
              </a:rPr>
              <a:t>• 離散化：動的stencil</a:t>
            </a:r>
          </a:p>
          <a:p xmlns:a="http://schemas.openxmlformats.org/drawingml/2006/main">
            <a:pPr algn="l">
              <a:lnSpc>
                <a:spcPct val="142000"/>
              </a:lnSpc>
              <a:buNone/>
              <a:defRPr sz="1500" b="0" i="0">
                <a:solidFill>
                  <a:srgbClr val="FFFFFF"/>
                </a:solidFill>
                <a:latin typeface="Yu Gothic"/>
                <a:ea typeface="Yu Gothic"/>
                <a:cs typeface="Yu Gothic"/>
              </a:defRPr>
            </a:pPr>
            <a:r>
              <a:rPr sz="1500" b="0" i="0">
                <a:solidFill>
                  <a:srgbClr val="FFFFFF"/>
                </a:solidFill>
                <a:latin typeface="Yu Gothic"/>
                <a:ea typeface="Yu Gothic"/>
                <a:cs typeface="Yu Gothic"/>
              </a:rPr>
              <a:t>• 出力：query点の表面・体積物理量</a:t>
            </a:r>
          </a:p>
        </p:txBody>
      </p:sp>
      <p:sp>
        <p:nvSpPr>
          <p:cNvPr id="17" name="">
            <a:extLst xmlns:a="http://schemas.openxmlformats.org/drawingml/2006/main">
              <a:ext uri="{FF2B5EF4-FFF2-40B4-BE49-F238E27FC236}">
                <a16:creationId xmlns:a16="http://schemas.microsoft.com/office/drawing/2014/main" id="{E6861DED-C3B9-485F-B94A-9017D7B81F34}"/>
              </a:ext>
            </a:extLst>
          </p:cNvPr>
          <p:cNvSpPr>
            <a:spLocks xmlns:a="http://schemas.openxmlformats.org/drawingml/2006/main" noGrp="1"/>
          </p:cNvSpPr>
          <p:nvPr/>
        </p:nvSpPr>
        <p:spPr>
          <a:xfrm xmlns:a="http://schemas.openxmlformats.org/drawingml/2006/main">
            <a:off x="590550" y="5257800"/>
            <a:ext cx="1055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800" b="1" i="0">
                <a:solidFill>
                  <a:srgbClr val="C8423A"/>
                </a:solidFill>
                <a:latin typeface="Yu Gothic"/>
                <a:ea typeface="Yu Gothic"/>
                <a:cs typeface="Yu Gothic"/>
              </a:defRPr>
            </a:pPr>
            <a:r>
              <a:rPr sz="1800" b="1" i="0">
                <a:solidFill>
                  <a:srgbClr val="C8423A"/>
                </a:solidFill>
                <a:latin typeface="Yu Gothic"/>
                <a:ea typeface="Yu Gothic"/>
                <a:cs typeface="Yu Gothic"/>
              </a:rPr>
              <a:t>読み方：Neural Operator ⊃ geometry-aware operator ⊃ DoMINOの実装</a:t>
            </a:r>
          </a:p>
        </p:txBody>
      </p:sp>
    </p:spTree>
    <p:extLst>
      <p:ext uri="{BB962C8B-B14F-4D97-AF65-F5344CB8AC3E}">
        <p14:creationId xmlns:p14="http://schemas.microsoft.com/office/powerpoint/2010/main" val="6212221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C6C380-8F6B-4965-9F94-0B9C7231A4D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825377-72F0-4FE3-8321-7811F32326F5}"/>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ARCHITECTURE</a:t>
            </a:r>
          </a:p>
        </p:txBody>
      </p:sp>
      <p:sp>
        <p:nvSpPr>
          <p:cNvPr id="3" name="">
            <a:extLst xmlns:a="http://schemas.openxmlformats.org/drawingml/2006/main">
              <a:ext uri="{FF2B5EF4-FFF2-40B4-BE49-F238E27FC236}">
                <a16:creationId xmlns:a16="http://schemas.microsoft.com/office/drawing/2014/main" id="{EAA2B8EB-3131-4B73-98BC-4B9D8579EC8A}"/>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26 / 32</a:t>
            </a:r>
          </a:p>
        </p:txBody>
      </p:sp>
      <p:sp>
        <p:nvSpPr>
          <p:cNvPr id="4" name="">
            <a:extLst xmlns:a="http://schemas.openxmlformats.org/drawingml/2006/main">
              <a:ext uri="{FF2B5EF4-FFF2-40B4-BE49-F238E27FC236}">
                <a16:creationId xmlns:a16="http://schemas.microsoft.com/office/drawing/2014/main" id="{A843408F-F2C3-4DDC-9666-0E146BB16837}"/>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7A021280-25AF-45D9-9CE9-C3B78837A2C3}"/>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External: Ranade et al., DoMINO, arXiv:2501.13350 (2025) | External: NVIDIA PhysicsNeMo 26.03 DoMINO recipe</a:t>
            </a:r>
          </a:p>
        </p:txBody>
      </p:sp>
      <p:sp>
        <p:nvSpPr>
          <p:cNvPr id="6" name="">
            <a:extLst xmlns:a="http://schemas.openxmlformats.org/drawingml/2006/main">
              <a:ext uri="{FF2B5EF4-FFF2-40B4-BE49-F238E27FC236}">
                <a16:creationId xmlns:a16="http://schemas.microsoft.com/office/drawing/2014/main" id="{A409E9FC-9250-423E-B7F0-1D5F8B51F71D}"/>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C1A74B-FAA4-44FA-AA0C-8EE262397AC8}"/>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外部資料</a:t>
            </a:r>
          </a:p>
        </p:txBody>
      </p:sp>
      <p:sp>
        <p:nvSpPr>
          <p:cNvPr id="8" name="">
            <a:extLst xmlns:a="http://schemas.openxmlformats.org/drawingml/2006/main">
              <a:ext uri="{FF2B5EF4-FFF2-40B4-BE49-F238E27FC236}">
                <a16:creationId xmlns:a16="http://schemas.microsoft.com/office/drawing/2014/main" id="{17F2F576-0952-46CD-A999-91497355AB73}"/>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Appendix｜global / local / stencil</a:t>
            </a:r>
          </a:p>
        </p:txBody>
      </p:sp>
      <p:sp>
        <p:nvSpPr>
          <p:cNvPr id="9" name="">
            <a:extLst xmlns:a="http://schemas.openxmlformats.org/drawingml/2006/main">
              <a:ext uri="{FF2B5EF4-FFF2-40B4-BE49-F238E27FC236}">
                <a16:creationId xmlns:a16="http://schemas.microsoft.com/office/drawing/2014/main" id="{97D7449F-A914-46B8-B2AD-C83EC19AB5CA}"/>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8AD5A446-4D8E-4DBF-AB54-1A1BBF849034}"/>
              </a:ext>
            </a:extLst>
          </p:cNvPr>
          <p:cNvSpPr>
            <a:spLocks xmlns:a="http://schemas.openxmlformats.org/drawingml/2006/main" noGrp="1"/>
          </p:cNvSpPr>
          <p:nvPr/>
        </p:nvSpPr>
        <p:spPr>
          <a:xfrm xmlns:a="http://schemas.openxmlformats.org/drawingml/2006/main">
            <a:off x="590550" y="1657350"/>
            <a:ext cx="1809750" cy="742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D812CAA-08D2-4DD7-A59B-860A86C75B45}"/>
              </a:ext>
            </a:extLst>
          </p:cNvPr>
          <p:cNvSpPr>
            <a:spLocks xmlns:a="http://schemas.openxmlformats.org/drawingml/2006/main" noGrp="1"/>
          </p:cNvSpPr>
          <p:nvPr/>
        </p:nvSpPr>
        <p:spPr>
          <a:xfrm xmlns:a="http://schemas.openxmlformats.org/drawingml/2006/main">
            <a:off x="723900" y="18859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1" i="0">
                <a:solidFill>
                  <a:srgbClr val="FFFFFF"/>
                </a:solidFill>
                <a:latin typeface="Consolas"/>
                <a:ea typeface="Consolas"/>
                <a:cs typeface="Consolas"/>
              </a:defRPr>
            </a:pPr>
            <a:r>
              <a:rPr sz="1350" b="1" i="0">
                <a:solidFill>
                  <a:srgbClr val="FFFFFF"/>
                </a:solidFill>
                <a:latin typeface="Consolas"/>
                <a:ea typeface="Consolas"/>
                <a:cs typeface="Consolas"/>
              </a:rPr>
              <a:t>GLOBAL</a:t>
            </a:r>
          </a:p>
        </p:txBody>
      </p:sp>
      <p:sp>
        <p:nvSpPr>
          <p:cNvPr id="12" name="">
            <a:extLst xmlns:a="http://schemas.openxmlformats.org/drawingml/2006/main">
              <a:ext uri="{FF2B5EF4-FFF2-40B4-BE49-F238E27FC236}">
                <a16:creationId xmlns:a16="http://schemas.microsoft.com/office/drawing/2014/main" id="{84F87B71-9B1C-41DA-BFBD-093A7D7AB0FD}"/>
              </a:ext>
            </a:extLst>
          </p:cNvPr>
          <p:cNvSpPr>
            <a:spLocks xmlns:a="http://schemas.openxmlformats.org/drawingml/2006/main" noGrp="1"/>
          </p:cNvSpPr>
          <p:nvPr/>
        </p:nvSpPr>
        <p:spPr>
          <a:xfrm xmlns:a="http://schemas.openxmlformats.org/drawingml/2006/main">
            <a:off x="2686050" y="1733550"/>
            <a:ext cx="440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1" i="0">
                <a:solidFill>
                  <a:srgbClr val="111827"/>
                </a:solidFill>
                <a:latin typeface="Yu Gothic"/>
                <a:ea typeface="Yu Gothic"/>
                <a:cs typeface="Yu Gothic"/>
              </a:defRPr>
            </a:pPr>
            <a:r>
              <a:rPr sz="1350" b="1" i="0">
                <a:solidFill>
                  <a:srgbClr val="111827"/>
                </a:solidFill>
                <a:latin typeface="Yu Gothic"/>
                <a:ea typeface="Yu Gothic"/>
                <a:cs typeface="Yu Gothic"/>
              </a:rPr>
              <a:t>点群形状を構造化潜在格子へ投影し、形状全体の情報を共有</a:t>
            </a:r>
          </a:p>
        </p:txBody>
      </p:sp>
      <p:sp>
        <p:nvSpPr>
          <p:cNvPr id="13" name="">
            <a:extLst xmlns:a="http://schemas.openxmlformats.org/drawingml/2006/main">
              <a:ext uri="{FF2B5EF4-FFF2-40B4-BE49-F238E27FC236}">
                <a16:creationId xmlns:a16="http://schemas.microsoft.com/office/drawing/2014/main" id="{B4F4E46E-FC1F-4266-84FE-629B58894199}"/>
              </a:ext>
            </a:extLst>
          </p:cNvPr>
          <p:cNvSpPr>
            <a:spLocks xmlns:a="http://schemas.openxmlformats.org/drawingml/2006/main" noGrp="1"/>
          </p:cNvSpPr>
          <p:nvPr/>
        </p:nvSpPr>
        <p:spPr>
          <a:xfrm xmlns:a="http://schemas.openxmlformats.org/drawingml/2006/main">
            <a:off x="7486650" y="1733550"/>
            <a:ext cx="3600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形状ごとに一度計算し、多数のqueryで再利用</a:t>
            </a:r>
          </a:p>
        </p:txBody>
      </p:sp>
      <p:sp>
        <p:nvSpPr>
          <p:cNvPr id="14" name="">
            <a:extLst xmlns:a="http://schemas.openxmlformats.org/drawingml/2006/main">
              <a:ext uri="{FF2B5EF4-FFF2-40B4-BE49-F238E27FC236}">
                <a16:creationId xmlns:a16="http://schemas.microsoft.com/office/drawing/2014/main" id="{4277520C-CEAD-40CA-9339-308E775400AA}"/>
              </a:ext>
            </a:extLst>
          </p:cNvPr>
          <p:cNvSpPr>
            <a:spLocks xmlns:a="http://schemas.openxmlformats.org/drawingml/2006/main" noGrp="1"/>
          </p:cNvSpPr>
          <p:nvPr/>
        </p:nvSpPr>
        <p:spPr>
          <a:xfrm xmlns:a="http://schemas.openxmlformats.org/drawingml/2006/main">
            <a:off x="2686050" y="2495550"/>
            <a:ext cx="84010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15" name="">
            <a:extLst xmlns:a="http://schemas.openxmlformats.org/drawingml/2006/main">
              <a:ext uri="{FF2B5EF4-FFF2-40B4-BE49-F238E27FC236}">
                <a16:creationId xmlns:a16="http://schemas.microsoft.com/office/drawing/2014/main" id="{704ECB47-73D8-4AC1-86D5-991D151F0480}"/>
              </a:ext>
            </a:extLst>
          </p:cNvPr>
          <p:cNvSpPr>
            <a:spLocks xmlns:a="http://schemas.openxmlformats.org/drawingml/2006/main" noGrp="1"/>
          </p:cNvSpPr>
          <p:nvPr/>
        </p:nvSpPr>
        <p:spPr>
          <a:xfrm xmlns:a="http://schemas.openxmlformats.org/drawingml/2006/main">
            <a:off x="590550" y="2647950"/>
            <a:ext cx="1809750" cy="742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554DE75-C683-4FF1-9F05-D698D6EE4CE3}"/>
              </a:ext>
            </a:extLst>
          </p:cNvPr>
          <p:cNvSpPr>
            <a:spLocks xmlns:a="http://schemas.openxmlformats.org/drawingml/2006/main" noGrp="1"/>
          </p:cNvSpPr>
          <p:nvPr/>
        </p:nvSpPr>
        <p:spPr>
          <a:xfrm xmlns:a="http://schemas.openxmlformats.org/drawingml/2006/main">
            <a:off x="723900" y="28765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1" i="0">
                <a:solidFill>
                  <a:srgbClr val="FFFFFF"/>
                </a:solidFill>
                <a:latin typeface="Consolas"/>
                <a:ea typeface="Consolas"/>
                <a:cs typeface="Consolas"/>
              </a:defRPr>
            </a:pPr>
            <a:r>
              <a:rPr sz="1350" b="1" i="0">
                <a:solidFill>
                  <a:srgbClr val="FFFFFF"/>
                </a:solidFill>
                <a:latin typeface="Consolas"/>
                <a:ea typeface="Consolas"/>
                <a:cs typeface="Consolas"/>
              </a:rPr>
              <a:t>MULTI-SCALE</a:t>
            </a:r>
          </a:p>
        </p:txBody>
      </p:sp>
      <p:sp>
        <p:nvSpPr>
          <p:cNvPr id="17" name="">
            <a:extLst xmlns:a="http://schemas.openxmlformats.org/drawingml/2006/main">
              <a:ext uri="{FF2B5EF4-FFF2-40B4-BE49-F238E27FC236}">
                <a16:creationId xmlns:a16="http://schemas.microsoft.com/office/drawing/2014/main" id="{D23B9586-088F-49C2-91A9-72F56838799C}"/>
              </a:ext>
            </a:extLst>
          </p:cNvPr>
          <p:cNvSpPr>
            <a:spLocks xmlns:a="http://schemas.openxmlformats.org/drawingml/2006/main" noGrp="1"/>
          </p:cNvSpPr>
          <p:nvPr/>
        </p:nvSpPr>
        <p:spPr>
          <a:xfrm xmlns:a="http://schemas.openxmlformats.org/drawingml/2006/main">
            <a:off x="2686050" y="2724150"/>
            <a:ext cx="440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1" i="0">
                <a:solidFill>
                  <a:srgbClr val="111827"/>
                </a:solidFill>
                <a:latin typeface="Yu Gothic"/>
                <a:ea typeface="Yu Gothic"/>
                <a:cs typeface="Yu Gothic"/>
              </a:defRPr>
            </a:pPr>
            <a:r>
              <a:rPr sz="1350" b="1" i="0">
                <a:solidFill>
                  <a:srgbClr val="111827"/>
                </a:solidFill>
                <a:latin typeface="Yu Gothic"/>
                <a:ea typeface="Yu Gothic"/>
                <a:cs typeface="Yu Gothic"/>
              </a:rPr>
              <a:t>異なる半径のpoint convolutionと反復処理で情報を伝播</a:t>
            </a:r>
          </a:p>
        </p:txBody>
      </p:sp>
      <p:sp>
        <p:nvSpPr>
          <p:cNvPr id="18" name="">
            <a:extLst xmlns:a="http://schemas.openxmlformats.org/drawingml/2006/main">
              <a:ext uri="{FF2B5EF4-FFF2-40B4-BE49-F238E27FC236}">
                <a16:creationId xmlns:a16="http://schemas.microsoft.com/office/drawing/2014/main" id="{8A7B51ED-DD3A-4EE2-A1D6-6A0E7B4C662D}"/>
              </a:ext>
            </a:extLst>
          </p:cNvPr>
          <p:cNvSpPr>
            <a:spLocks xmlns:a="http://schemas.openxmlformats.org/drawingml/2006/main" noGrp="1"/>
          </p:cNvSpPr>
          <p:nvPr/>
        </p:nvSpPr>
        <p:spPr>
          <a:xfrm xmlns:a="http://schemas.openxmlformats.org/drawingml/2006/main">
            <a:off x="7486650" y="2724150"/>
            <a:ext cx="3600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細部と長距離依存の両立を狙う</a:t>
            </a:r>
          </a:p>
        </p:txBody>
      </p:sp>
      <p:sp>
        <p:nvSpPr>
          <p:cNvPr id="19" name="">
            <a:extLst xmlns:a="http://schemas.openxmlformats.org/drawingml/2006/main">
              <a:ext uri="{FF2B5EF4-FFF2-40B4-BE49-F238E27FC236}">
                <a16:creationId xmlns:a16="http://schemas.microsoft.com/office/drawing/2014/main" id="{ACA4447E-FF77-46BD-8FB3-D0B8079E5CF6}"/>
              </a:ext>
            </a:extLst>
          </p:cNvPr>
          <p:cNvSpPr>
            <a:spLocks xmlns:a="http://schemas.openxmlformats.org/drawingml/2006/main" noGrp="1"/>
          </p:cNvSpPr>
          <p:nvPr/>
        </p:nvSpPr>
        <p:spPr>
          <a:xfrm xmlns:a="http://schemas.openxmlformats.org/drawingml/2006/main">
            <a:off x="2686050" y="3486150"/>
            <a:ext cx="84010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0" name="">
            <a:extLst xmlns:a="http://schemas.openxmlformats.org/drawingml/2006/main">
              <a:ext uri="{FF2B5EF4-FFF2-40B4-BE49-F238E27FC236}">
                <a16:creationId xmlns:a16="http://schemas.microsoft.com/office/drawing/2014/main" id="{634AB8A2-63B6-47CC-A679-4F63E69B731D}"/>
              </a:ext>
            </a:extLst>
          </p:cNvPr>
          <p:cNvSpPr>
            <a:spLocks xmlns:a="http://schemas.openxmlformats.org/drawingml/2006/main" noGrp="1"/>
          </p:cNvSpPr>
          <p:nvPr/>
        </p:nvSpPr>
        <p:spPr>
          <a:xfrm xmlns:a="http://schemas.openxmlformats.org/drawingml/2006/main">
            <a:off x="590550" y="3638550"/>
            <a:ext cx="1809750" cy="742950"/>
          </a:xfrm>
          <a:prstGeom xmlns:a="http://schemas.openxmlformats.org/drawingml/2006/main" prst="rect">
            <a:avLst/>
          </a:prstGeom>
          <a:solidFill xmlns:a="http://schemas.openxmlformats.org/drawingml/2006/main">
            <a:srgbClr val="4F7D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788A08-6E87-44C7-8217-EE0D40853109}"/>
              </a:ext>
            </a:extLst>
          </p:cNvPr>
          <p:cNvSpPr>
            <a:spLocks xmlns:a="http://schemas.openxmlformats.org/drawingml/2006/main" noGrp="1"/>
          </p:cNvSpPr>
          <p:nvPr/>
        </p:nvSpPr>
        <p:spPr>
          <a:xfrm xmlns:a="http://schemas.openxmlformats.org/drawingml/2006/main">
            <a:off x="723900" y="38671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1" i="0">
                <a:solidFill>
                  <a:srgbClr val="FFFFFF"/>
                </a:solidFill>
                <a:latin typeface="Consolas"/>
                <a:ea typeface="Consolas"/>
                <a:cs typeface="Consolas"/>
              </a:defRPr>
            </a:pPr>
            <a:r>
              <a:rPr sz="1350" b="1" i="0">
                <a:solidFill>
                  <a:srgbClr val="FFFFFF"/>
                </a:solidFill>
                <a:latin typeface="Consolas"/>
                <a:ea typeface="Consolas"/>
                <a:cs typeface="Consolas"/>
              </a:rPr>
              <a:t>LOCAL</a:t>
            </a:r>
          </a:p>
        </p:txBody>
      </p:sp>
      <p:sp>
        <p:nvSpPr>
          <p:cNvPr id="22" name="">
            <a:extLst xmlns:a="http://schemas.openxmlformats.org/drawingml/2006/main">
              <a:ext uri="{FF2B5EF4-FFF2-40B4-BE49-F238E27FC236}">
                <a16:creationId xmlns:a16="http://schemas.microsoft.com/office/drawing/2014/main" id="{CF88C6D0-4AF0-40EE-9E27-F9154BC609D3}"/>
              </a:ext>
            </a:extLst>
          </p:cNvPr>
          <p:cNvSpPr>
            <a:spLocks xmlns:a="http://schemas.openxmlformats.org/drawingml/2006/main" noGrp="1"/>
          </p:cNvSpPr>
          <p:nvPr/>
        </p:nvSpPr>
        <p:spPr>
          <a:xfrm xmlns:a="http://schemas.openxmlformats.org/drawingml/2006/main">
            <a:off x="2686050" y="3714750"/>
            <a:ext cx="440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1" i="0">
                <a:solidFill>
                  <a:srgbClr val="111827"/>
                </a:solidFill>
                <a:latin typeface="Yu Gothic"/>
                <a:ea typeface="Yu Gothic"/>
                <a:cs typeface="Yu Gothic"/>
              </a:defRPr>
            </a:pPr>
            <a:r>
              <a:rPr sz="1350" b="1" i="0">
                <a:solidFill>
                  <a:srgbClr val="111827"/>
                </a:solidFill>
                <a:latin typeface="Yu Gothic"/>
                <a:ea typeface="Yu Gothic"/>
                <a:cs typeface="Yu Gothic"/>
              </a:rPr>
              <a:t>query周辺のsub-regionをglobal表現から切り出す</a:t>
            </a:r>
          </a:p>
        </p:txBody>
      </p:sp>
      <p:sp>
        <p:nvSpPr>
          <p:cNvPr id="23" name="">
            <a:extLst xmlns:a="http://schemas.openxmlformats.org/drawingml/2006/main">
              <a:ext uri="{FF2B5EF4-FFF2-40B4-BE49-F238E27FC236}">
                <a16:creationId xmlns:a16="http://schemas.microsoft.com/office/drawing/2014/main" id="{F441EBA9-1010-4991-ADF3-D109BF719349}"/>
              </a:ext>
            </a:extLst>
          </p:cNvPr>
          <p:cNvSpPr>
            <a:spLocks xmlns:a="http://schemas.openxmlformats.org/drawingml/2006/main" noGrp="1"/>
          </p:cNvSpPr>
          <p:nvPr/>
        </p:nvSpPr>
        <p:spPr>
          <a:xfrm xmlns:a="http://schemas.openxmlformats.org/drawingml/2006/main">
            <a:off x="7486650" y="3714750"/>
            <a:ext cx="3600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高次元global表現を各点の予測へ直接入れない</a:t>
            </a:r>
          </a:p>
        </p:txBody>
      </p:sp>
      <p:sp>
        <p:nvSpPr>
          <p:cNvPr id="24" name="">
            <a:extLst xmlns:a="http://schemas.openxmlformats.org/drawingml/2006/main">
              <a:ext uri="{FF2B5EF4-FFF2-40B4-BE49-F238E27FC236}">
                <a16:creationId xmlns:a16="http://schemas.microsoft.com/office/drawing/2014/main" id="{1027A4E6-0ED2-4E1F-9663-256C7687AA0B}"/>
              </a:ext>
            </a:extLst>
          </p:cNvPr>
          <p:cNvSpPr>
            <a:spLocks xmlns:a="http://schemas.openxmlformats.org/drawingml/2006/main" noGrp="1"/>
          </p:cNvSpPr>
          <p:nvPr/>
        </p:nvSpPr>
        <p:spPr>
          <a:xfrm xmlns:a="http://schemas.openxmlformats.org/drawingml/2006/main">
            <a:off x="2686050" y="4476750"/>
            <a:ext cx="84010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5" name="">
            <a:extLst xmlns:a="http://schemas.openxmlformats.org/drawingml/2006/main">
              <a:ext uri="{FF2B5EF4-FFF2-40B4-BE49-F238E27FC236}">
                <a16:creationId xmlns:a16="http://schemas.microsoft.com/office/drawing/2014/main" id="{8CA6E266-F915-4B94-8DC9-FFC24974E30C}"/>
              </a:ext>
            </a:extLst>
          </p:cNvPr>
          <p:cNvSpPr>
            <a:spLocks xmlns:a="http://schemas.openxmlformats.org/drawingml/2006/main" noGrp="1"/>
          </p:cNvSpPr>
          <p:nvPr/>
        </p:nvSpPr>
        <p:spPr>
          <a:xfrm xmlns:a="http://schemas.openxmlformats.org/drawingml/2006/main">
            <a:off x="590550" y="4629150"/>
            <a:ext cx="1809750" cy="74295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306AEE1-559B-4E61-9EDC-8CB2485E1682}"/>
              </a:ext>
            </a:extLst>
          </p:cNvPr>
          <p:cNvSpPr>
            <a:spLocks xmlns:a="http://schemas.openxmlformats.org/drawingml/2006/main" noGrp="1"/>
          </p:cNvSpPr>
          <p:nvPr/>
        </p:nvSpPr>
        <p:spPr>
          <a:xfrm xmlns:a="http://schemas.openxmlformats.org/drawingml/2006/main">
            <a:off x="723900" y="48577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1" i="0">
                <a:solidFill>
                  <a:srgbClr val="FFFFFF"/>
                </a:solidFill>
                <a:latin typeface="Consolas"/>
                <a:ea typeface="Consolas"/>
                <a:cs typeface="Consolas"/>
              </a:defRPr>
            </a:pPr>
            <a:r>
              <a:rPr sz="1350" b="1" i="0">
                <a:solidFill>
                  <a:srgbClr val="FFFFFF"/>
                </a:solidFill>
                <a:latin typeface="Consolas"/>
                <a:ea typeface="Consolas"/>
                <a:cs typeface="Consolas"/>
              </a:rPr>
              <a:t>STENCIL</a:t>
            </a:r>
          </a:p>
        </p:txBody>
      </p:sp>
      <p:sp>
        <p:nvSpPr>
          <p:cNvPr id="27" name="">
            <a:extLst xmlns:a="http://schemas.openxmlformats.org/drawingml/2006/main">
              <a:ext uri="{FF2B5EF4-FFF2-40B4-BE49-F238E27FC236}">
                <a16:creationId xmlns:a16="http://schemas.microsoft.com/office/drawing/2014/main" id="{5B7DB120-324B-4107-8DD5-7FC8A1AC9505}"/>
              </a:ext>
            </a:extLst>
          </p:cNvPr>
          <p:cNvSpPr>
            <a:spLocks xmlns:a="http://schemas.openxmlformats.org/drawingml/2006/main" noGrp="1"/>
          </p:cNvSpPr>
          <p:nvPr/>
        </p:nvSpPr>
        <p:spPr>
          <a:xfrm xmlns:a="http://schemas.openxmlformats.org/drawingml/2006/main">
            <a:off x="2686050" y="4705350"/>
            <a:ext cx="440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1" i="0">
                <a:solidFill>
                  <a:srgbClr val="111827"/>
                </a:solidFill>
                <a:latin typeface="Yu Gothic"/>
                <a:ea typeface="Yu Gothic"/>
                <a:cs typeface="Yu Gothic"/>
              </a:defRPr>
            </a:pPr>
            <a:r>
              <a:rPr sz="1350" b="1" i="0">
                <a:solidFill>
                  <a:srgbClr val="111827"/>
                </a:solidFill>
                <a:latin typeface="Yu Gothic"/>
                <a:ea typeface="Yu Gothic"/>
                <a:cs typeface="Yu Gothic"/>
              </a:rPr>
              <a:t>queryと近傍点の座標・SDF・法線をbasis networkへ入力</a:t>
            </a:r>
          </a:p>
        </p:txBody>
      </p:sp>
      <p:sp>
        <p:nvSpPr>
          <p:cNvPr id="28" name="">
            <a:extLst xmlns:a="http://schemas.openxmlformats.org/drawingml/2006/main">
              <a:ext uri="{FF2B5EF4-FFF2-40B4-BE49-F238E27FC236}">
                <a16:creationId xmlns:a16="http://schemas.microsoft.com/office/drawing/2014/main" id="{1E4F3F04-89B9-4379-BF75-350B77F40370}"/>
              </a:ext>
            </a:extLst>
          </p:cNvPr>
          <p:cNvSpPr>
            <a:spLocks xmlns:a="http://schemas.openxmlformats.org/drawingml/2006/main" noGrp="1"/>
          </p:cNvSpPr>
          <p:nvPr/>
        </p:nvSpPr>
        <p:spPr>
          <a:xfrm xmlns:a="http://schemas.openxmlformats.org/drawingml/2006/main">
            <a:off x="7486650" y="4705350"/>
            <a:ext cx="3600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350" b="0" i="0">
                <a:solidFill>
                  <a:srgbClr val="5B6472"/>
                </a:solidFill>
                <a:latin typeface="Yu Gothic"/>
                <a:ea typeface="Yu Gothic"/>
                <a:cs typeface="Yu Gothic"/>
              </a:defRPr>
            </a:pPr>
            <a:r>
              <a:rPr sz="1350" b="0" i="0">
                <a:solidFill>
                  <a:srgbClr val="5B6472"/>
                </a:solidFill>
                <a:latin typeface="Yu Gothic"/>
                <a:ea typeface="Yu Gothic"/>
                <a:cs typeface="Yu Gothic"/>
              </a:rPr>
              <a:t>有限体積・有限要素に似た局所情報の集約</a:t>
            </a:r>
          </a:p>
        </p:txBody>
      </p:sp>
      <p:sp>
        <p:nvSpPr>
          <p:cNvPr id="29" name="">
            <a:extLst xmlns:a="http://schemas.openxmlformats.org/drawingml/2006/main">
              <a:ext uri="{FF2B5EF4-FFF2-40B4-BE49-F238E27FC236}">
                <a16:creationId xmlns:a16="http://schemas.microsoft.com/office/drawing/2014/main" id="{EF2B864A-01F1-4BD1-A191-699D4FDACA07}"/>
              </a:ext>
            </a:extLst>
          </p:cNvPr>
          <p:cNvSpPr>
            <a:spLocks xmlns:a="http://schemas.openxmlformats.org/drawingml/2006/main" noGrp="1"/>
          </p:cNvSpPr>
          <p:nvPr/>
        </p:nvSpPr>
        <p:spPr>
          <a:xfrm xmlns:a="http://schemas.openxmlformats.org/drawingml/2006/main">
            <a:off x="2686050" y="5467350"/>
            <a:ext cx="84010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30" name="">
            <a:extLst xmlns:a="http://schemas.openxmlformats.org/drawingml/2006/main">
              <a:ext uri="{FF2B5EF4-FFF2-40B4-BE49-F238E27FC236}">
                <a16:creationId xmlns:a16="http://schemas.microsoft.com/office/drawing/2014/main" id="{9D0F982E-9D04-4EA1-9A18-FFAC9B0E009F}"/>
              </a:ext>
            </a:extLst>
          </p:cNvPr>
          <p:cNvSpPr>
            <a:spLocks xmlns:a="http://schemas.openxmlformats.org/drawingml/2006/main" noGrp="1"/>
          </p:cNvSpPr>
          <p:nvPr/>
        </p:nvSpPr>
        <p:spPr>
          <a:xfrm xmlns:a="http://schemas.openxmlformats.org/drawingml/2006/main">
            <a:off x="590550" y="579120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1" i="0">
                <a:solidFill>
                  <a:srgbClr val="C8423A"/>
                </a:solidFill>
                <a:latin typeface="Yu Gothic"/>
                <a:ea typeface="Yu Gothic"/>
                <a:cs typeface="Yu Gothic"/>
              </a:defRPr>
            </a:pPr>
            <a:r>
              <a:rPr sz="1350" b="1" i="0">
                <a:solidFill>
                  <a:srgbClr val="C8423A"/>
                </a:solidFill>
                <a:latin typeface="Yu Gothic"/>
                <a:ea typeface="Yu Gothic"/>
                <a:cs typeface="Yu Gothic"/>
              </a:rPr>
              <a:t>surfaceとvolumeは出力変数が異なるためaggregation networkを分けられるが、global geometry encodingは共有できる</a:t>
            </a:r>
          </a:p>
        </p:txBody>
      </p:sp>
    </p:spTree>
    <p:extLst>
      <p:ext uri="{BB962C8B-B14F-4D97-AF65-F5344CB8AC3E}">
        <p14:creationId xmlns:p14="http://schemas.microsoft.com/office/powerpoint/2010/main" val="4469110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9EFE6F-51CE-4BCB-A5B4-D6DA409F4EB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DF3355-074F-49BE-BFAB-A98AB46AD3F4}"/>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RUN STENCIL</a:t>
            </a:r>
          </a:p>
        </p:txBody>
      </p:sp>
      <p:sp>
        <p:nvSpPr>
          <p:cNvPr id="3" name="">
            <a:extLst xmlns:a="http://schemas.openxmlformats.org/drawingml/2006/main">
              <a:ext uri="{FF2B5EF4-FFF2-40B4-BE49-F238E27FC236}">
                <a16:creationId xmlns:a16="http://schemas.microsoft.com/office/drawing/2014/main" id="{52E7AB04-2A82-427F-A5A1-B106534939CE}"/>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27 / 32</a:t>
            </a:r>
          </a:p>
        </p:txBody>
      </p:sp>
      <p:sp>
        <p:nvSpPr>
          <p:cNvPr id="4" name="">
            <a:extLst xmlns:a="http://schemas.openxmlformats.org/drawingml/2006/main">
              <a:ext uri="{FF2B5EF4-FFF2-40B4-BE49-F238E27FC236}">
                <a16:creationId xmlns:a16="http://schemas.microsoft.com/office/drawing/2014/main" id="{28F5B84B-0CD9-471C-A09C-CA023B90752B}"/>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951A6692-1161-44B5-A000-43CE437FAD7E}"/>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B9E0710E-D57B-4680-A271-929322AB08B7}"/>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A7DE49-E3EF-44AD-BFE3-D8FEDD332AE2}"/>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244D887B-6383-4954-8CED-049F7DF0E146}"/>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Appendix｜今回のsurface-only stencil</a:t>
            </a:r>
          </a:p>
        </p:txBody>
      </p:sp>
      <p:sp>
        <p:nvSpPr>
          <p:cNvPr id="9" name="">
            <a:extLst xmlns:a="http://schemas.openxmlformats.org/drawingml/2006/main">
              <a:ext uri="{FF2B5EF4-FFF2-40B4-BE49-F238E27FC236}">
                <a16:creationId xmlns:a16="http://schemas.microsoft.com/office/drawing/2014/main" id="{18233996-F6E2-4A32-A0F9-2CA564074755}"/>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19601A5B-9977-4769-9423-027399219A87}"/>
              </a:ext>
            </a:extLst>
          </p:cNvPr>
          <p:cNvSpPr>
            <a:spLocks xmlns:a="http://schemas.openxmlformats.org/drawingml/2006/main" noGrp="1"/>
          </p:cNvSpPr>
          <p:nvPr/>
        </p:nvSpPr>
        <p:spPr>
          <a:xfrm xmlns:a="http://schemas.openxmlformats.org/drawingml/2006/main">
            <a:off x="495300" y="1657350"/>
            <a:ext cx="5715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fa1aa4ce2574295"/>
          <a:stretch xmlns:a="http://schemas.openxmlformats.org/drawingml/2006/main"/>
        </p:blipFill>
        <p:spPr>
          <a:xfrm xmlns:a="http://schemas.openxmlformats.org/drawingml/2006/main">
            <a:off x="495300" y="2097881"/>
            <a:ext cx="5715000" cy="3214688"/>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70EB980-451F-4BD2-982B-DF8EAC63D1E7}"/>
              </a:ext>
            </a:extLst>
          </p:cNvPr>
          <p:cNvSpPr>
            <a:spLocks xmlns:a="http://schemas.openxmlformats.org/drawingml/2006/main" noGrp="1"/>
          </p:cNvSpPr>
          <p:nvPr/>
        </p:nvSpPr>
        <p:spPr>
          <a:xfrm xmlns:a="http://schemas.openxmlformats.org/drawingml/2006/main">
            <a:off x="6629400" y="16954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3D8DFF"/>
                </a:solidFill>
                <a:latin typeface="Yu Gothic"/>
                <a:ea typeface="Yu Gothic"/>
                <a:cs typeface="Yu Gothic"/>
              </a:defRPr>
            </a:pPr>
            <a:r>
              <a:rPr sz="1800" b="1" i="0">
                <a:solidFill>
                  <a:srgbClr val="3D8DFF"/>
                </a:solidFill>
                <a:latin typeface="Yu Gothic"/>
                <a:ea typeface="Yu Gothic"/>
                <a:cs typeface="Yu Gothic"/>
              </a:rPr>
              <a:t>図の要素</a:t>
            </a:r>
          </a:p>
        </p:txBody>
      </p:sp>
      <p:sp>
        <p:nvSpPr>
          <p:cNvPr id="13" name="">
            <a:extLst xmlns:a="http://schemas.openxmlformats.org/drawingml/2006/main">
              <a:ext uri="{FF2B5EF4-FFF2-40B4-BE49-F238E27FC236}">
                <a16:creationId xmlns:a16="http://schemas.microsoft.com/office/drawing/2014/main" id="{A7D5D19E-8738-416C-9F91-CEE184F566D5}"/>
              </a:ext>
            </a:extLst>
          </p:cNvPr>
          <p:cNvSpPr>
            <a:spLocks xmlns:a="http://schemas.openxmlformats.org/drawingml/2006/main" noGrp="1"/>
          </p:cNvSpPr>
          <p:nvPr/>
        </p:nvSpPr>
        <p:spPr>
          <a:xfrm xmlns:a="http://schemas.openxmlformats.org/drawingml/2006/main">
            <a:off x="6629400" y="2171700"/>
            <a:ext cx="4381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query：圧力を予測する中心点</a:t>
            </a:r>
          </a:p>
          <a:p xmlns:a="http://schemas.openxmlformats.org/drawingml/2006/main">
            <a:pPr algn="l">
              <a:lnSpc>
                <a:spcPct val="14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neighbor：中心の近傍3点</a:t>
            </a:r>
          </a:p>
          <a:p xmlns:a="http://schemas.openxmlformats.org/drawingml/2006/main">
            <a:pPr algn="l">
              <a:lnSpc>
                <a:spcPct val="14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local geometry：global 24³格子から抽出</a:t>
            </a:r>
          </a:p>
          <a:p xmlns:a="http://schemas.openxmlformats.org/drawingml/2006/main">
            <a:pPr algn="l">
              <a:lnSpc>
                <a:spcPct val="14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surface normal：境界の向きを表す入力</a:t>
            </a:r>
          </a:p>
        </p:txBody>
      </p:sp>
      <p:sp>
        <p:nvSpPr>
          <p:cNvPr id="14" name="">
            <a:extLst xmlns:a="http://schemas.openxmlformats.org/drawingml/2006/main">
              <a:ext uri="{FF2B5EF4-FFF2-40B4-BE49-F238E27FC236}">
                <a16:creationId xmlns:a16="http://schemas.microsoft.com/office/drawing/2014/main" id="{CC36EA93-BC26-4009-BAE3-8E3DBEA689D1}"/>
              </a:ext>
            </a:extLst>
          </p:cNvPr>
          <p:cNvSpPr>
            <a:spLocks xmlns:a="http://schemas.openxmlformats.org/drawingml/2006/main" noGrp="1"/>
          </p:cNvSpPr>
          <p:nvPr/>
        </p:nvSpPr>
        <p:spPr>
          <a:xfrm xmlns:a="http://schemas.openxmlformats.org/drawingml/2006/main">
            <a:off x="6629400" y="40957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i="0">
                <a:solidFill>
                  <a:srgbClr val="F58220"/>
                </a:solidFill>
                <a:latin typeface="Yu Gothic"/>
                <a:ea typeface="Yu Gothic"/>
                <a:cs typeface="Yu Gothic"/>
              </a:defRPr>
            </a:pPr>
            <a:r>
              <a:rPr sz="1800" b="1" i="0">
                <a:solidFill>
                  <a:srgbClr val="F58220"/>
                </a:solidFill>
                <a:latin typeface="Yu Gothic"/>
                <a:ea typeface="Yu Gothic"/>
                <a:cs typeface="Yu Gothic"/>
              </a:rPr>
              <a:t>今回の縮小設定</a:t>
            </a:r>
          </a:p>
        </p:txBody>
      </p:sp>
      <p:sp>
        <p:nvSpPr>
          <p:cNvPr id="15" name="">
            <a:extLst xmlns:a="http://schemas.openxmlformats.org/drawingml/2006/main">
              <a:ext uri="{FF2B5EF4-FFF2-40B4-BE49-F238E27FC236}">
                <a16:creationId xmlns:a16="http://schemas.microsoft.com/office/drawing/2014/main" id="{0FE4014F-4A87-4159-9F2F-3198399E9A69}"/>
              </a:ext>
            </a:extLst>
          </p:cNvPr>
          <p:cNvSpPr>
            <a:spLocks xmlns:a="http://schemas.openxmlformats.org/drawingml/2006/main" noGrp="1"/>
          </p:cNvSpPr>
          <p:nvPr/>
        </p:nvSpPr>
        <p:spPr>
          <a:xfrm xmlns:a="http://schemas.openxmlformats.org/drawingml/2006/main">
            <a:off x="6629400" y="4552950"/>
            <a:ext cx="4286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surface 8,192点／形状</a:t>
            </a:r>
          </a:p>
          <a:p xmlns:a="http://schemas.openxmlformats.org/drawingml/2006/main">
            <a:pPr algn="l">
              <a:lnSpc>
                <a:spcPct val="13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geometry 4,096点／形状</a:t>
            </a:r>
          </a:p>
          <a:p xmlns:a="http://schemas.openxmlformats.org/drawingml/2006/main">
            <a:pPr algn="l">
              <a:lnSpc>
                <a:spcPct val="13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query + 3近傍</a:t>
            </a:r>
          </a:p>
        </p:txBody>
      </p:sp>
      <p:sp>
        <p:nvSpPr>
          <p:cNvPr id="16" name="">
            <a:extLst xmlns:a="http://schemas.openxmlformats.org/drawingml/2006/main">
              <a:ext uri="{FF2B5EF4-FFF2-40B4-BE49-F238E27FC236}">
                <a16:creationId xmlns:a16="http://schemas.microsoft.com/office/drawing/2014/main" id="{7EB34472-41B0-4BC1-B85F-A66BA089CAB3}"/>
              </a:ext>
            </a:extLst>
          </p:cNvPr>
          <p:cNvSpPr>
            <a:spLocks xmlns:a="http://schemas.openxmlformats.org/drawingml/2006/main" noGrp="1"/>
          </p:cNvSpPr>
          <p:nvPr/>
        </p:nvSpPr>
        <p:spPr>
          <a:xfrm xmlns:a="http://schemas.openxmlformats.org/drawingml/2006/main">
            <a:off x="6496050" y="5695950"/>
            <a:ext cx="462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75" b="1" i="0">
                <a:solidFill>
                  <a:srgbClr val="C8423A"/>
                </a:solidFill>
                <a:latin typeface="Yu Gothic"/>
                <a:ea typeface="Yu Gothic"/>
                <a:cs typeface="Yu Gothic"/>
              </a:defRPr>
            </a:pPr>
            <a:r>
              <a:rPr sz="1275" b="1" i="0">
                <a:solidFill>
                  <a:srgbClr val="C8423A"/>
                </a:solidFill>
                <a:latin typeface="Yu Gothic"/>
                <a:ea typeface="Yu Gothic"/>
                <a:cs typeface="Yu Gothic"/>
              </a:rPr>
              <a:t>局所ピークを平滑化した一因になり得るが、近傍数だけでは断定できない</a:t>
            </a:r>
          </a:p>
        </p:txBody>
      </p:sp>
    </p:spTree>
    <p:extLst>
      <p:ext uri="{BB962C8B-B14F-4D97-AF65-F5344CB8AC3E}">
        <p14:creationId xmlns:p14="http://schemas.microsoft.com/office/powerpoint/2010/main" val="175587831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6FF1AE-5E95-4A97-B1FA-F08DCBFEC57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B84AFC-CC62-4FE0-9E44-19F7C6EB257E}"/>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APPX EXPERIMENT</a:t>
            </a:r>
          </a:p>
        </p:txBody>
      </p:sp>
      <p:sp>
        <p:nvSpPr>
          <p:cNvPr id="3" name="">
            <a:extLst xmlns:a="http://schemas.openxmlformats.org/drawingml/2006/main">
              <a:ext uri="{FF2B5EF4-FFF2-40B4-BE49-F238E27FC236}">
                <a16:creationId xmlns:a16="http://schemas.microsoft.com/office/drawing/2014/main" id="{192B3AE4-54D7-4DEC-9A26-68F77D6621E8}"/>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28 / 32</a:t>
            </a:r>
          </a:p>
        </p:txBody>
      </p:sp>
      <p:sp>
        <p:nvSpPr>
          <p:cNvPr id="4" name="">
            <a:extLst xmlns:a="http://schemas.openxmlformats.org/drawingml/2006/main">
              <a:ext uri="{FF2B5EF4-FFF2-40B4-BE49-F238E27FC236}">
                <a16:creationId xmlns:a16="http://schemas.microsoft.com/office/drawing/2014/main" id="{8B001788-A3DB-4E71-BEB3-2AE14FCCDD64}"/>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ECFED0A6-31D8-4E17-A35F-BF8C5FD5AC04}"/>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1BA9E979-7FD7-4DF5-8D74-FEC5D340AD1E}"/>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983E16F-D43F-4140-9451-5C9CAE047194}"/>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0BE9A53B-29D9-404F-B743-D1C6E99B16B5}"/>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APPX｜計算条件と再現範囲</a:t>
            </a:r>
          </a:p>
        </p:txBody>
      </p:sp>
      <p:sp>
        <p:nvSpPr>
          <p:cNvPr id="9" name="">
            <a:extLst xmlns:a="http://schemas.openxmlformats.org/drawingml/2006/main">
              <a:ext uri="{FF2B5EF4-FFF2-40B4-BE49-F238E27FC236}">
                <a16:creationId xmlns:a16="http://schemas.microsoft.com/office/drawing/2014/main" id="{6D9772BF-EEE1-489C-ACEF-80D970FB76B5}"/>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716F84A9-DD4B-4150-9235-5972D04FC103}"/>
              </a:ext>
            </a:extLst>
          </p:cNvPr>
          <p:cNvSpPr>
            <a:spLocks xmlns:a="http://schemas.openxmlformats.org/drawingml/2006/main" noGrp="1"/>
          </p:cNvSpPr>
          <p:nvPr/>
        </p:nvSpPr>
        <p:spPr>
          <a:xfrm xmlns:a="http://schemas.openxmlformats.org/drawingml/2006/main">
            <a:off x="590550" y="1676400"/>
            <a:ext cx="4762500" cy="285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F052291-53EE-4B15-ACDA-B34D639B225E}"/>
              </a:ext>
            </a:extLst>
          </p:cNvPr>
          <p:cNvSpPr>
            <a:spLocks xmlns:a="http://schemas.openxmlformats.org/drawingml/2006/main" noGrp="1"/>
          </p:cNvSpPr>
          <p:nvPr/>
        </p:nvSpPr>
        <p:spPr>
          <a:xfrm xmlns:a="http://schemas.openxmlformats.org/drawingml/2006/main">
            <a:off x="685800" y="172402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DATA</a:t>
            </a:r>
          </a:p>
        </p:txBody>
      </p:sp>
      <p:sp>
        <p:nvSpPr>
          <p:cNvPr id="12" name="">
            <a:extLst xmlns:a="http://schemas.openxmlformats.org/drawingml/2006/main">
              <a:ext uri="{FF2B5EF4-FFF2-40B4-BE49-F238E27FC236}">
                <a16:creationId xmlns:a16="http://schemas.microsoft.com/office/drawing/2014/main" id="{1FCE0503-6778-4D6F-AF90-B754CAD46CC1}"/>
              </a:ext>
            </a:extLst>
          </p:cNvPr>
          <p:cNvSpPr>
            <a:spLocks xmlns:a="http://schemas.openxmlformats.org/drawingml/2006/main" noGrp="1"/>
          </p:cNvSpPr>
          <p:nvPr/>
        </p:nvSpPr>
        <p:spPr>
          <a:xfrm xmlns:a="http://schemas.openxmlformats.org/drawingml/2006/main">
            <a:off x="590550" y="21145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train / val / test</a:t>
            </a:r>
          </a:p>
        </p:txBody>
      </p:sp>
      <p:sp>
        <p:nvSpPr>
          <p:cNvPr id="13" name="">
            <a:extLst xmlns:a="http://schemas.openxmlformats.org/drawingml/2006/main">
              <a:ext uri="{FF2B5EF4-FFF2-40B4-BE49-F238E27FC236}">
                <a16:creationId xmlns:a16="http://schemas.microsoft.com/office/drawing/2014/main" id="{33A7A135-C8CE-4148-8344-534EAA1E3A74}"/>
              </a:ext>
            </a:extLst>
          </p:cNvPr>
          <p:cNvSpPr>
            <a:spLocks xmlns:a="http://schemas.openxmlformats.org/drawingml/2006/main" noGrp="1"/>
          </p:cNvSpPr>
          <p:nvPr/>
        </p:nvSpPr>
        <p:spPr>
          <a:xfrm xmlns:a="http://schemas.openxmlformats.org/drawingml/2006/main">
            <a:off x="2971800" y="21145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10 / 2 / 2 shapes</a:t>
            </a:r>
          </a:p>
        </p:txBody>
      </p:sp>
      <p:sp>
        <p:nvSpPr>
          <p:cNvPr id="14" name="">
            <a:extLst xmlns:a="http://schemas.openxmlformats.org/drawingml/2006/main">
              <a:ext uri="{FF2B5EF4-FFF2-40B4-BE49-F238E27FC236}">
                <a16:creationId xmlns:a16="http://schemas.microsoft.com/office/drawing/2014/main" id="{8AAD11F2-5C02-49E7-9CC2-566EA33A067E}"/>
              </a:ext>
            </a:extLst>
          </p:cNvPr>
          <p:cNvSpPr>
            <a:spLocks xmlns:a="http://schemas.openxmlformats.org/drawingml/2006/main" noGrp="1"/>
          </p:cNvSpPr>
          <p:nvPr/>
        </p:nvSpPr>
        <p:spPr>
          <a:xfrm xmlns:a="http://schemas.openxmlformats.org/drawingml/2006/main">
            <a:off x="590550" y="253365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15" name="">
            <a:extLst xmlns:a="http://schemas.openxmlformats.org/drawingml/2006/main">
              <a:ext uri="{FF2B5EF4-FFF2-40B4-BE49-F238E27FC236}">
                <a16:creationId xmlns:a16="http://schemas.microsoft.com/office/drawing/2014/main" id="{ACFFFA15-F599-4369-9405-588871CA9750}"/>
              </a:ext>
            </a:extLst>
          </p:cNvPr>
          <p:cNvSpPr>
            <a:spLocks xmlns:a="http://schemas.openxmlformats.org/drawingml/2006/main" noGrp="1"/>
          </p:cNvSpPr>
          <p:nvPr/>
        </p:nvSpPr>
        <p:spPr>
          <a:xfrm xmlns:a="http://schemas.openxmlformats.org/drawingml/2006/main">
            <a:off x="590550" y="28003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surface points</a:t>
            </a:r>
          </a:p>
        </p:txBody>
      </p:sp>
      <p:sp>
        <p:nvSpPr>
          <p:cNvPr id="16" name="">
            <a:extLst xmlns:a="http://schemas.openxmlformats.org/drawingml/2006/main">
              <a:ext uri="{FF2B5EF4-FFF2-40B4-BE49-F238E27FC236}">
                <a16:creationId xmlns:a16="http://schemas.microsoft.com/office/drawing/2014/main" id="{89804652-038D-48A9-AC09-8413F5DA5E18}"/>
              </a:ext>
            </a:extLst>
          </p:cNvPr>
          <p:cNvSpPr>
            <a:spLocks xmlns:a="http://schemas.openxmlformats.org/drawingml/2006/main" noGrp="1"/>
          </p:cNvSpPr>
          <p:nvPr/>
        </p:nvSpPr>
        <p:spPr>
          <a:xfrm xmlns:a="http://schemas.openxmlformats.org/drawingml/2006/main">
            <a:off x="2971800" y="2800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8,192 / shape</a:t>
            </a:r>
          </a:p>
        </p:txBody>
      </p:sp>
      <p:sp>
        <p:nvSpPr>
          <p:cNvPr id="17" name="">
            <a:extLst xmlns:a="http://schemas.openxmlformats.org/drawingml/2006/main">
              <a:ext uri="{FF2B5EF4-FFF2-40B4-BE49-F238E27FC236}">
                <a16:creationId xmlns:a16="http://schemas.microsoft.com/office/drawing/2014/main" id="{C94DCC71-82CA-4047-A9E0-8489807D12E5}"/>
              </a:ext>
            </a:extLst>
          </p:cNvPr>
          <p:cNvSpPr>
            <a:spLocks xmlns:a="http://schemas.openxmlformats.org/drawingml/2006/main" noGrp="1"/>
          </p:cNvSpPr>
          <p:nvPr/>
        </p:nvSpPr>
        <p:spPr>
          <a:xfrm xmlns:a="http://schemas.openxmlformats.org/drawingml/2006/main">
            <a:off x="590550" y="321945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18" name="">
            <a:extLst xmlns:a="http://schemas.openxmlformats.org/drawingml/2006/main">
              <a:ext uri="{FF2B5EF4-FFF2-40B4-BE49-F238E27FC236}">
                <a16:creationId xmlns:a16="http://schemas.microsoft.com/office/drawing/2014/main" id="{13964B07-6B4D-436A-A031-89C03ABC6545}"/>
              </a:ext>
            </a:extLst>
          </p:cNvPr>
          <p:cNvSpPr>
            <a:spLocks xmlns:a="http://schemas.openxmlformats.org/drawingml/2006/main" noGrp="1"/>
          </p:cNvSpPr>
          <p:nvPr/>
        </p:nvSpPr>
        <p:spPr>
          <a:xfrm xmlns:a="http://schemas.openxmlformats.org/drawingml/2006/main">
            <a:off x="590550" y="34861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geometry points</a:t>
            </a:r>
          </a:p>
        </p:txBody>
      </p:sp>
      <p:sp>
        <p:nvSpPr>
          <p:cNvPr id="19" name="">
            <a:extLst xmlns:a="http://schemas.openxmlformats.org/drawingml/2006/main">
              <a:ext uri="{FF2B5EF4-FFF2-40B4-BE49-F238E27FC236}">
                <a16:creationId xmlns:a16="http://schemas.microsoft.com/office/drawing/2014/main" id="{2FF7AAEF-54FD-400C-8168-589111437B8A}"/>
              </a:ext>
            </a:extLst>
          </p:cNvPr>
          <p:cNvSpPr>
            <a:spLocks xmlns:a="http://schemas.openxmlformats.org/drawingml/2006/main" noGrp="1"/>
          </p:cNvSpPr>
          <p:nvPr/>
        </p:nvSpPr>
        <p:spPr>
          <a:xfrm xmlns:a="http://schemas.openxmlformats.org/drawingml/2006/main">
            <a:off x="2971800" y="34861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4,096 / shape</a:t>
            </a:r>
          </a:p>
        </p:txBody>
      </p:sp>
      <p:sp>
        <p:nvSpPr>
          <p:cNvPr id="20" name="">
            <a:extLst xmlns:a="http://schemas.openxmlformats.org/drawingml/2006/main">
              <a:ext uri="{FF2B5EF4-FFF2-40B4-BE49-F238E27FC236}">
                <a16:creationId xmlns:a16="http://schemas.microsoft.com/office/drawing/2014/main" id="{5E9140BB-94FE-4C86-A923-978BB8410A77}"/>
              </a:ext>
            </a:extLst>
          </p:cNvPr>
          <p:cNvSpPr>
            <a:spLocks xmlns:a="http://schemas.openxmlformats.org/drawingml/2006/main" noGrp="1"/>
          </p:cNvSpPr>
          <p:nvPr/>
        </p:nvSpPr>
        <p:spPr>
          <a:xfrm xmlns:a="http://schemas.openxmlformats.org/drawingml/2006/main">
            <a:off x="590550" y="390525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1" name="">
            <a:extLst xmlns:a="http://schemas.openxmlformats.org/drawingml/2006/main">
              <a:ext uri="{FF2B5EF4-FFF2-40B4-BE49-F238E27FC236}">
                <a16:creationId xmlns:a16="http://schemas.microsoft.com/office/drawing/2014/main" id="{23664E4A-DC7A-46F6-8DDB-99271C9FE8BD}"/>
              </a:ext>
            </a:extLst>
          </p:cNvPr>
          <p:cNvSpPr>
            <a:spLocks xmlns:a="http://schemas.openxmlformats.org/drawingml/2006/main" noGrp="1"/>
          </p:cNvSpPr>
          <p:nvPr/>
        </p:nvSpPr>
        <p:spPr>
          <a:xfrm xmlns:a="http://schemas.openxmlformats.org/drawingml/2006/main">
            <a:off x="590550" y="41719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global grid</a:t>
            </a:r>
          </a:p>
        </p:txBody>
      </p:sp>
      <p:sp>
        <p:nvSpPr>
          <p:cNvPr id="22" name="">
            <a:extLst xmlns:a="http://schemas.openxmlformats.org/drawingml/2006/main">
              <a:ext uri="{FF2B5EF4-FFF2-40B4-BE49-F238E27FC236}">
                <a16:creationId xmlns:a16="http://schemas.microsoft.com/office/drawing/2014/main" id="{E2001CBD-15C8-45E9-BB9F-7D6764A64BCF}"/>
              </a:ext>
            </a:extLst>
          </p:cNvPr>
          <p:cNvSpPr>
            <a:spLocks xmlns:a="http://schemas.openxmlformats.org/drawingml/2006/main" noGrp="1"/>
          </p:cNvSpPr>
          <p:nvPr/>
        </p:nvSpPr>
        <p:spPr>
          <a:xfrm xmlns:a="http://schemas.openxmlformats.org/drawingml/2006/main">
            <a:off x="2971800" y="4171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24³</a:t>
            </a:r>
          </a:p>
        </p:txBody>
      </p:sp>
      <p:sp>
        <p:nvSpPr>
          <p:cNvPr id="23" name="">
            <a:extLst xmlns:a="http://schemas.openxmlformats.org/drawingml/2006/main">
              <a:ext uri="{FF2B5EF4-FFF2-40B4-BE49-F238E27FC236}">
                <a16:creationId xmlns:a16="http://schemas.microsoft.com/office/drawing/2014/main" id="{1E6AB698-14D9-433B-887C-A4AA5A4A61D1}"/>
              </a:ext>
            </a:extLst>
          </p:cNvPr>
          <p:cNvSpPr>
            <a:spLocks xmlns:a="http://schemas.openxmlformats.org/drawingml/2006/main" noGrp="1"/>
          </p:cNvSpPr>
          <p:nvPr/>
        </p:nvSpPr>
        <p:spPr>
          <a:xfrm xmlns:a="http://schemas.openxmlformats.org/drawingml/2006/main">
            <a:off x="590550" y="459105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4" name="">
            <a:extLst xmlns:a="http://schemas.openxmlformats.org/drawingml/2006/main">
              <a:ext uri="{FF2B5EF4-FFF2-40B4-BE49-F238E27FC236}">
                <a16:creationId xmlns:a16="http://schemas.microsoft.com/office/drawing/2014/main" id="{C1EAEDAE-F4FC-4B52-91B1-BA20D071DBD4}"/>
              </a:ext>
            </a:extLst>
          </p:cNvPr>
          <p:cNvSpPr>
            <a:spLocks xmlns:a="http://schemas.openxmlformats.org/drawingml/2006/main" noGrp="1"/>
          </p:cNvSpPr>
          <p:nvPr/>
        </p:nvSpPr>
        <p:spPr>
          <a:xfrm xmlns:a="http://schemas.openxmlformats.org/drawingml/2006/main">
            <a:off x="6191250" y="1676400"/>
            <a:ext cx="4762500" cy="28575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B87E71A-EDEF-4542-AE7D-C8A85DD25B6C}"/>
              </a:ext>
            </a:extLst>
          </p:cNvPr>
          <p:cNvSpPr>
            <a:spLocks xmlns:a="http://schemas.openxmlformats.org/drawingml/2006/main" noGrp="1"/>
          </p:cNvSpPr>
          <p:nvPr/>
        </p:nvSpPr>
        <p:spPr>
          <a:xfrm xmlns:a="http://schemas.openxmlformats.org/drawingml/2006/main">
            <a:off x="6286500" y="172402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COMPUTE</a:t>
            </a:r>
          </a:p>
        </p:txBody>
      </p:sp>
      <p:sp>
        <p:nvSpPr>
          <p:cNvPr id="26" name="">
            <a:extLst xmlns:a="http://schemas.openxmlformats.org/drawingml/2006/main">
              <a:ext uri="{FF2B5EF4-FFF2-40B4-BE49-F238E27FC236}">
                <a16:creationId xmlns:a16="http://schemas.microsoft.com/office/drawing/2014/main" id="{1BEF3C40-9157-4B09-8C7D-5CB8FAF993D5}"/>
              </a:ext>
            </a:extLst>
          </p:cNvPr>
          <p:cNvSpPr>
            <a:spLocks xmlns:a="http://schemas.openxmlformats.org/drawingml/2006/main" noGrp="1"/>
          </p:cNvSpPr>
          <p:nvPr/>
        </p:nvSpPr>
        <p:spPr>
          <a:xfrm xmlns:a="http://schemas.openxmlformats.org/drawingml/2006/main">
            <a:off x="6191250" y="21145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GPU</a:t>
            </a:r>
          </a:p>
        </p:txBody>
      </p:sp>
      <p:sp>
        <p:nvSpPr>
          <p:cNvPr id="27" name="">
            <a:extLst xmlns:a="http://schemas.openxmlformats.org/drawingml/2006/main">
              <a:ext uri="{FF2B5EF4-FFF2-40B4-BE49-F238E27FC236}">
                <a16:creationId xmlns:a16="http://schemas.microsoft.com/office/drawing/2014/main" id="{C4FBC3A5-0EC4-484A-9CDA-F28DDF310E0A}"/>
              </a:ext>
            </a:extLst>
          </p:cNvPr>
          <p:cNvSpPr>
            <a:spLocks xmlns:a="http://schemas.openxmlformats.org/drawingml/2006/main" noGrp="1"/>
          </p:cNvSpPr>
          <p:nvPr/>
        </p:nvSpPr>
        <p:spPr>
          <a:xfrm xmlns:a="http://schemas.openxmlformats.org/drawingml/2006/main">
            <a:off x="8572500" y="21145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Tesla T4</a:t>
            </a:r>
          </a:p>
        </p:txBody>
      </p:sp>
      <p:sp>
        <p:nvSpPr>
          <p:cNvPr id="28" name="">
            <a:extLst xmlns:a="http://schemas.openxmlformats.org/drawingml/2006/main">
              <a:ext uri="{FF2B5EF4-FFF2-40B4-BE49-F238E27FC236}">
                <a16:creationId xmlns:a16="http://schemas.microsoft.com/office/drawing/2014/main" id="{4ED9AD5D-42F9-42FB-82F8-8B15C6DCA8A8}"/>
              </a:ext>
            </a:extLst>
          </p:cNvPr>
          <p:cNvSpPr>
            <a:spLocks xmlns:a="http://schemas.openxmlformats.org/drawingml/2006/main" noGrp="1"/>
          </p:cNvSpPr>
          <p:nvPr/>
        </p:nvSpPr>
        <p:spPr>
          <a:xfrm xmlns:a="http://schemas.openxmlformats.org/drawingml/2006/main">
            <a:off x="6191250" y="247650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9" name="">
            <a:extLst xmlns:a="http://schemas.openxmlformats.org/drawingml/2006/main">
              <a:ext uri="{FF2B5EF4-FFF2-40B4-BE49-F238E27FC236}">
                <a16:creationId xmlns:a16="http://schemas.microsoft.com/office/drawing/2014/main" id="{52DDB1E8-2B8A-42E0-9FFE-0F4339A5AA2D}"/>
              </a:ext>
            </a:extLst>
          </p:cNvPr>
          <p:cNvSpPr>
            <a:spLocks xmlns:a="http://schemas.openxmlformats.org/drawingml/2006/main" noGrp="1"/>
          </p:cNvSpPr>
          <p:nvPr/>
        </p:nvSpPr>
        <p:spPr>
          <a:xfrm xmlns:a="http://schemas.openxmlformats.org/drawingml/2006/main">
            <a:off x="6191250" y="27051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wall time</a:t>
            </a:r>
          </a:p>
        </p:txBody>
      </p:sp>
      <p:sp>
        <p:nvSpPr>
          <p:cNvPr id="30" name="">
            <a:extLst xmlns:a="http://schemas.openxmlformats.org/drawingml/2006/main">
              <a:ext uri="{FF2B5EF4-FFF2-40B4-BE49-F238E27FC236}">
                <a16:creationId xmlns:a16="http://schemas.microsoft.com/office/drawing/2014/main" id="{4D04561C-EFB0-4B98-B7AE-45B1D4CDD8C2}"/>
              </a:ext>
            </a:extLst>
          </p:cNvPr>
          <p:cNvSpPr>
            <a:spLocks xmlns:a="http://schemas.openxmlformats.org/drawingml/2006/main" noGrp="1"/>
          </p:cNvSpPr>
          <p:nvPr/>
        </p:nvSpPr>
        <p:spPr>
          <a:xfrm xmlns:a="http://schemas.openxmlformats.org/drawingml/2006/main">
            <a:off x="8572500" y="27051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120 min</a:t>
            </a:r>
          </a:p>
        </p:txBody>
      </p:sp>
      <p:sp>
        <p:nvSpPr>
          <p:cNvPr id="31" name="">
            <a:extLst xmlns:a="http://schemas.openxmlformats.org/drawingml/2006/main">
              <a:ext uri="{FF2B5EF4-FFF2-40B4-BE49-F238E27FC236}">
                <a16:creationId xmlns:a16="http://schemas.microsoft.com/office/drawing/2014/main" id="{E119A134-9D29-45A5-824F-0D126DC309AA}"/>
              </a:ext>
            </a:extLst>
          </p:cNvPr>
          <p:cNvSpPr>
            <a:spLocks xmlns:a="http://schemas.openxmlformats.org/drawingml/2006/main" noGrp="1"/>
          </p:cNvSpPr>
          <p:nvPr/>
        </p:nvSpPr>
        <p:spPr>
          <a:xfrm xmlns:a="http://schemas.openxmlformats.org/drawingml/2006/main">
            <a:off x="6191250" y="306705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32" name="">
            <a:extLst xmlns:a="http://schemas.openxmlformats.org/drawingml/2006/main">
              <a:ext uri="{FF2B5EF4-FFF2-40B4-BE49-F238E27FC236}">
                <a16:creationId xmlns:a16="http://schemas.microsoft.com/office/drawing/2014/main" id="{E35F3279-3CBC-49D8-9822-86EC748E6B66}"/>
              </a:ext>
            </a:extLst>
          </p:cNvPr>
          <p:cNvSpPr>
            <a:spLocks xmlns:a="http://schemas.openxmlformats.org/drawingml/2006/main" noGrp="1"/>
          </p:cNvSpPr>
          <p:nvPr/>
        </p:nvSpPr>
        <p:spPr>
          <a:xfrm xmlns:a="http://schemas.openxmlformats.org/drawingml/2006/main">
            <a:off x="6191250" y="32956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steps</a:t>
            </a:r>
          </a:p>
        </p:txBody>
      </p:sp>
      <p:sp>
        <p:nvSpPr>
          <p:cNvPr id="33" name="">
            <a:extLst xmlns:a="http://schemas.openxmlformats.org/drawingml/2006/main">
              <a:ext uri="{FF2B5EF4-FFF2-40B4-BE49-F238E27FC236}">
                <a16:creationId xmlns:a16="http://schemas.microsoft.com/office/drawing/2014/main" id="{AA368C73-48C1-4864-90D5-EFA8FB57DB5A}"/>
              </a:ext>
            </a:extLst>
          </p:cNvPr>
          <p:cNvSpPr>
            <a:spLocks xmlns:a="http://schemas.openxmlformats.org/drawingml/2006/main" noGrp="1"/>
          </p:cNvSpPr>
          <p:nvPr/>
        </p:nvSpPr>
        <p:spPr>
          <a:xfrm xmlns:a="http://schemas.openxmlformats.org/drawingml/2006/main">
            <a:off x="8572500" y="3295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115,454</a:t>
            </a:r>
          </a:p>
        </p:txBody>
      </p:sp>
      <p:sp>
        <p:nvSpPr>
          <p:cNvPr id="34" name="">
            <a:extLst xmlns:a="http://schemas.openxmlformats.org/drawingml/2006/main">
              <a:ext uri="{FF2B5EF4-FFF2-40B4-BE49-F238E27FC236}">
                <a16:creationId xmlns:a16="http://schemas.microsoft.com/office/drawing/2014/main" id="{BAA8734C-063B-46DB-83EF-378E35FB337E}"/>
              </a:ext>
            </a:extLst>
          </p:cNvPr>
          <p:cNvSpPr>
            <a:spLocks xmlns:a="http://schemas.openxmlformats.org/drawingml/2006/main" noGrp="1"/>
          </p:cNvSpPr>
          <p:nvPr/>
        </p:nvSpPr>
        <p:spPr>
          <a:xfrm xmlns:a="http://schemas.openxmlformats.org/drawingml/2006/main">
            <a:off x="6191250" y="365760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35" name="">
            <a:extLst xmlns:a="http://schemas.openxmlformats.org/drawingml/2006/main">
              <a:ext uri="{FF2B5EF4-FFF2-40B4-BE49-F238E27FC236}">
                <a16:creationId xmlns:a16="http://schemas.microsoft.com/office/drawing/2014/main" id="{3B5D8A06-45DB-4A23-948D-844E37D47E04}"/>
              </a:ext>
            </a:extLst>
          </p:cNvPr>
          <p:cNvSpPr>
            <a:spLocks xmlns:a="http://schemas.openxmlformats.org/drawingml/2006/main" noGrp="1"/>
          </p:cNvSpPr>
          <p:nvPr/>
        </p:nvSpPr>
        <p:spPr>
          <a:xfrm xmlns:a="http://schemas.openxmlformats.org/drawingml/2006/main">
            <a:off x="6191250" y="3886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trainable params</a:t>
            </a:r>
          </a:p>
        </p:txBody>
      </p:sp>
      <p:sp>
        <p:nvSpPr>
          <p:cNvPr id="36" name="">
            <a:extLst xmlns:a="http://schemas.openxmlformats.org/drawingml/2006/main">
              <a:ext uri="{FF2B5EF4-FFF2-40B4-BE49-F238E27FC236}">
                <a16:creationId xmlns:a16="http://schemas.microsoft.com/office/drawing/2014/main" id="{ECB61266-77F8-4570-BDC0-521AB8036CC4}"/>
              </a:ext>
            </a:extLst>
          </p:cNvPr>
          <p:cNvSpPr>
            <a:spLocks xmlns:a="http://schemas.openxmlformats.org/drawingml/2006/main" noGrp="1"/>
          </p:cNvSpPr>
          <p:nvPr/>
        </p:nvSpPr>
        <p:spPr>
          <a:xfrm xmlns:a="http://schemas.openxmlformats.org/drawingml/2006/main">
            <a:off x="8572500" y="38862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208,545</a:t>
            </a:r>
          </a:p>
        </p:txBody>
      </p:sp>
      <p:sp>
        <p:nvSpPr>
          <p:cNvPr id="37" name="">
            <a:extLst xmlns:a="http://schemas.openxmlformats.org/drawingml/2006/main">
              <a:ext uri="{FF2B5EF4-FFF2-40B4-BE49-F238E27FC236}">
                <a16:creationId xmlns:a16="http://schemas.microsoft.com/office/drawing/2014/main" id="{74C2CC01-03CF-458F-B4E5-627EE6893BFD}"/>
              </a:ext>
            </a:extLst>
          </p:cNvPr>
          <p:cNvSpPr>
            <a:spLocks xmlns:a="http://schemas.openxmlformats.org/drawingml/2006/main" noGrp="1"/>
          </p:cNvSpPr>
          <p:nvPr/>
        </p:nvSpPr>
        <p:spPr>
          <a:xfrm xmlns:a="http://schemas.openxmlformats.org/drawingml/2006/main">
            <a:off x="6191250" y="424815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38" name="">
            <a:extLst xmlns:a="http://schemas.openxmlformats.org/drawingml/2006/main">
              <a:ext uri="{FF2B5EF4-FFF2-40B4-BE49-F238E27FC236}">
                <a16:creationId xmlns:a16="http://schemas.microsoft.com/office/drawing/2014/main" id="{CC22C253-2C70-4BD9-8FEE-126D71AEE4EF}"/>
              </a:ext>
            </a:extLst>
          </p:cNvPr>
          <p:cNvSpPr>
            <a:spLocks xmlns:a="http://schemas.openxmlformats.org/drawingml/2006/main" noGrp="1"/>
          </p:cNvSpPr>
          <p:nvPr/>
        </p:nvSpPr>
        <p:spPr>
          <a:xfrm xmlns:a="http://schemas.openxmlformats.org/drawingml/2006/main">
            <a:off x="6191250" y="44767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5B6472"/>
                </a:solidFill>
                <a:latin typeface="Consolas"/>
                <a:ea typeface="Consolas"/>
                <a:cs typeface="Consolas"/>
              </a:defRPr>
            </a:pPr>
            <a:r>
              <a:rPr sz="1275" b="0" i="0">
                <a:solidFill>
                  <a:srgbClr val="5B6472"/>
                </a:solidFill>
                <a:latin typeface="Consolas"/>
                <a:ea typeface="Consolas"/>
                <a:cs typeface="Consolas"/>
              </a:rPr>
              <a:t>precision</a:t>
            </a:r>
          </a:p>
        </p:txBody>
      </p:sp>
      <p:sp>
        <p:nvSpPr>
          <p:cNvPr id="39" name="">
            <a:extLst xmlns:a="http://schemas.openxmlformats.org/drawingml/2006/main">
              <a:ext uri="{FF2B5EF4-FFF2-40B4-BE49-F238E27FC236}">
                <a16:creationId xmlns:a16="http://schemas.microsoft.com/office/drawing/2014/main" id="{081BC4EE-423F-4FAB-A401-98F1783602FB}"/>
              </a:ext>
            </a:extLst>
          </p:cNvPr>
          <p:cNvSpPr>
            <a:spLocks xmlns:a="http://schemas.openxmlformats.org/drawingml/2006/main" noGrp="1"/>
          </p:cNvSpPr>
          <p:nvPr/>
        </p:nvSpPr>
        <p:spPr>
          <a:xfrm xmlns:a="http://schemas.openxmlformats.org/drawingml/2006/main">
            <a:off x="8572500" y="44767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AMP</a:t>
            </a:r>
          </a:p>
        </p:txBody>
      </p:sp>
      <p:sp>
        <p:nvSpPr>
          <p:cNvPr id="40" name="">
            <a:extLst xmlns:a="http://schemas.openxmlformats.org/drawingml/2006/main">
              <a:ext uri="{FF2B5EF4-FFF2-40B4-BE49-F238E27FC236}">
                <a16:creationId xmlns:a16="http://schemas.microsoft.com/office/drawing/2014/main" id="{21BA1726-7131-457E-A8DC-CAFF60F7D033}"/>
              </a:ext>
            </a:extLst>
          </p:cNvPr>
          <p:cNvSpPr>
            <a:spLocks xmlns:a="http://schemas.openxmlformats.org/drawingml/2006/main" noGrp="1"/>
          </p:cNvSpPr>
          <p:nvPr/>
        </p:nvSpPr>
        <p:spPr>
          <a:xfrm xmlns:a="http://schemas.openxmlformats.org/drawingml/2006/main">
            <a:off x="6191250" y="4838700"/>
            <a:ext cx="476250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41" name="">
            <a:extLst xmlns:a="http://schemas.openxmlformats.org/drawingml/2006/main">
              <a:ext uri="{FF2B5EF4-FFF2-40B4-BE49-F238E27FC236}">
                <a16:creationId xmlns:a16="http://schemas.microsoft.com/office/drawing/2014/main" id="{33E52A1A-BC36-49E0-8F9E-4359CCF9E71D}"/>
              </a:ext>
            </a:extLst>
          </p:cNvPr>
          <p:cNvSpPr>
            <a:spLocks xmlns:a="http://schemas.openxmlformats.org/drawingml/2006/main" noGrp="1"/>
          </p:cNvSpPr>
          <p:nvPr/>
        </p:nvSpPr>
        <p:spPr>
          <a:xfrm xmlns:a="http://schemas.openxmlformats.org/drawingml/2006/main">
            <a:off x="590550" y="5334000"/>
            <a:ext cx="10363200" cy="6096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7B5259D-AEE3-4D7F-A928-7F1DAE6B8EF5}"/>
              </a:ext>
            </a:extLst>
          </p:cNvPr>
          <p:cNvSpPr>
            <a:spLocks xmlns:a="http://schemas.openxmlformats.org/drawingml/2006/main" noGrp="1"/>
          </p:cNvSpPr>
          <p:nvPr/>
        </p:nvSpPr>
        <p:spPr>
          <a:xfrm xmlns:a="http://schemas.openxmlformats.org/drawingml/2006/main">
            <a:off x="762000" y="5505450"/>
            <a:ext cx="1002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1" i="0">
                <a:solidFill>
                  <a:srgbClr val="111827"/>
                </a:solidFill>
                <a:latin typeface="Yu Gothic"/>
                <a:ea typeface="Yu Gothic"/>
                <a:cs typeface="Yu Gothic"/>
              </a:defRPr>
            </a:pPr>
            <a:r>
              <a:rPr sz="1350" b="1" i="0">
                <a:solidFill>
                  <a:srgbClr val="111827"/>
                </a:solidFill>
                <a:latin typeface="Yu Gothic"/>
                <a:ea typeface="Yu Gothic"/>
                <a:cs typeface="Yu Gothic"/>
              </a:rPr>
              <a:t>再現範囲：PhysicsNeMo 2.1.1のsurface-only縮小実験。公式論文の500形状・大規模設定との精度比較ではない</a:t>
            </a:r>
          </a:p>
        </p:txBody>
      </p:sp>
    </p:spTree>
    <p:extLst>
      <p:ext uri="{BB962C8B-B14F-4D97-AF65-F5344CB8AC3E}">
        <p14:creationId xmlns:p14="http://schemas.microsoft.com/office/powerpoint/2010/main" val="45787387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507C42-4543-4C48-B52A-83F8DAAA66D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CA3790-0E45-4F9E-B233-70F6FF9380B9}"/>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TRAINING CHART</a:t>
            </a:r>
          </a:p>
        </p:txBody>
      </p:sp>
      <p:sp>
        <p:nvSpPr>
          <p:cNvPr id="3" name="">
            <a:extLst xmlns:a="http://schemas.openxmlformats.org/drawingml/2006/main">
              <a:ext uri="{FF2B5EF4-FFF2-40B4-BE49-F238E27FC236}">
                <a16:creationId xmlns:a16="http://schemas.microsoft.com/office/drawing/2014/main" id="{C6CD74E0-2C09-4DC4-9380-502A79CE8832}"/>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29 / 32</a:t>
            </a:r>
          </a:p>
        </p:txBody>
      </p:sp>
      <p:sp>
        <p:nvSpPr>
          <p:cNvPr id="4" name="">
            <a:extLst xmlns:a="http://schemas.openxmlformats.org/drawingml/2006/main">
              <a:ext uri="{FF2B5EF4-FFF2-40B4-BE49-F238E27FC236}">
                <a16:creationId xmlns:a16="http://schemas.microsoft.com/office/drawing/2014/main" id="{9433712C-C8C2-40CD-805B-7DD788DE2121}"/>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CA3EF1CC-9530-43E7-9512-62C9ECCD4268}"/>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919BBB36-D41A-4D55-BCD6-27C39E53ECE8}"/>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60B43F-753A-4F2D-9EB5-6A82CCD3A278}"/>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97646CDC-C87E-421A-92D8-57A7B07B2A29}"/>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Appendix｜学習曲線は“最適化できたか”を見る</a:t>
            </a:r>
          </a:p>
        </p:txBody>
      </p:sp>
      <p:sp>
        <p:nvSpPr>
          <p:cNvPr id="9" name="">
            <a:extLst xmlns:a="http://schemas.openxmlformats.org/drawingml/2006/main">
              <a:ext uri="{FF2B5EF4-FFF2-40B4-BE49-F238E27FC236}">
                <a16:creationId xmlns:a16="http://schemas.microsoft.com/office/drawing/2014/main" id="{DB3AC87E-C790-42EA-B31F-81A4AE80C3D8}"/>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59F516B6-9F11-4ED4-AF02-E2E3BD1F37B9}"/>
              </a:ext>
            </a:extLst>
          </p:cNvPr>
          <p:cNvSpPr>
            <a:spLocks xmlns:a="http://schemas.openxmlformats.org/drawingml/2006/main" noGrp="1"/>
          </p:cNvSpPr>
          <p:nvPr/>
        </p:nvSpPr>
        <p:spPr>
          <a:xfrm xmlns:a="http://schemas.openxmlformats.org/drawingml/2006/main">
            <a:off x="495300" y="1657350"/>
            <a:ext cx="65722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2e268735f7a4bbd"/>
          <a:stretch xmlns:a="http://schemas.openxmlformats.org/drawingml/2006/main"/>
        </p:blipFill>
        <p:spPr>
          <a:xfrm xmlns:a="http://schemas.openxmlformats.org/drawingml/2006/main">
            <a:off x="495300" y="1835063"/>
            <a:ext cx="6572250" cy="36450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F5F968A-B00F-4B6C-AFFA-226C95133A20}"/>
              </a:ext>
            </a:extLst>
          </p:cNvPr>
          <p:cNvSpPr>
            <a:spLocks xmlns:a="http://schemas.openxmlformats.org/drawingml/2006/main" noGrp="1"/>
          </p:cNvSpPr>
          <p:nvPr/>
        </p:nvSpPr>
        <p:spPr>
          <a:xfrm xmlns:a="http://schemas.openxmlformats.org/drawingml/2006/main">
            <a:off x="7467600" y="16954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3D8DFF"/>
                </a:solidFill>
                <a:latin typeface="Yu Gothic"/>
                <a:ea typeface="Yu Gothic"/>
                <a:cs typeface="Yu Gothic"/>
              </a:defRPr>
            </a:pPr>
            <a:r>
              <a:rPr sz="1725" b="1" i="0">
                <a:solidFill>
                  <a:srgbClr val="3D8DFF"/>
                </a:solidFill>
                <a:latin typeface="Yu Gothic"/>
                <a:ea typeface="Yu Gothic"/>
                <a:cs typeface="Yu Gothic"/>
              </a:rPr>
              <a:t>軸と値</a:t>
            </a:r>
          </a:p>
        </p:txBody>
      </p:sp>
      <p:sp>
        <p:nvSpPr>
          <p:cNvPr id="13" name="">
            <a:extLst xmlns:a="http://schemas.openxmlformats.org/drawingml/2006/main">
              <a:ext uri="{FF2B5EF4-FFF2-40B4-BE49-F238E27FC236}">
                <a16:creationId xmlns:a16="http://schemas.microsoft.com/office/drawing/2014/main" id="{F3AD9686-8820-462C-90BE-BAF47A803EF0}"/>
              </a:ext>
            </a:extLst>
          </p:cNvPr>
          <p:cNvSpPr>
            <a:spLocks xmlns:a="http://schemas.openxmlformats.org/drawingml/2006/main" noGrp="1"/>
          </p:cNvSpPr>
          <p:nvPr/>
        </p:nvSpPr>
        <p:spPr>
          <a:xfrm xmlns:a="http://schemas.openxmlformats.org/drawingml/2006/main">
            <a:off x="7467600" y="2114550"/>
            <a:ext cx="361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横軸：経過時間／step</a:t>
            </a:r>
          </a:p>
          <a:p xmlns:a="http://schemas.openxmlformats.org/drawingml/2006/main">
            <a:pPr algn="l">
              <a:lnSpc>
                <a:spcPct val="135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縦軸：training loss</a:t>
            </a:r>
          </a:p>
        </p:txBody>
      </p:sp>
      <p:sp>
        <p:nvSpPr>
          <p:cNvPr id="14" name="">
            <a:extLst xmlns:a="http://schemas.openxmlformats.org/drawingml/2006/main">
              <a:ext uri="{FF2B5EF4-FFF2-40B4-BE49-F238E27FC236}">
                <a16:creationId xmlns:a16="http://schemas.microsoft.com/office/drawing/2014/main" id="{561FEFEF-0819-4FC6-B4F2-C1DD75933FEE}"/>
              </a:ext>
            </a:extLst>
          </p:cNvPr>
          <p:cNvSpPr>
            <a:spLocks xmlns:a="http://schemas.openxmlformats.org/drawingml/2006/main" noGrp="1"/>
          </p:cNvSpPr>
          <p:nvPr/>
        </p:nvSpPr>
        <p:spPr>
          <a:xfrm xmlns:a="http://schemas.openxmlformats.org/drawingml/2006/main">
            <a:off x="7467600" y="2952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4F7D00"/>
                </a:solidFill>
                <a:latin typeface="Yu Gothic"/>
                <a:ea typeface="Yu Gothic"/>
                <a:cs typeface="Yu Gothic"/>
              </a:defRPr>
            </a:pPr>
            <a:r>
              <a:rPr sz="1725" b="1" i="0">
                <a:solidFill>
                  <a:srgbClr val="4F7D00"/>
                </a:solidFill>
                <a:latin typeface="Yu Gothic"/>
                <a:ea typeface="Yu Gothic"/>
                <a:cs typeface="Yu Gothic"/>
              </a:rPr>
              <a:t>代表点</a:t>
            </a:r>
          </a:p>
        </p:txBody>
      </p:sp>
      <p:sp>
        <p:nvSpPr>
          <p:cNvPr id="15" name="">
            <a:extLst xmlns:a="http://schemas.openxmlformats.org/drawingml/2006/main">
              <a:ext uri="{FF2B5EF4-FFF2-40B4-BE49-F238E27FC236}">
                <a16:creationId xmlns:a16="http://schemas.microsoft.com/office/drawing/2014/main" id="{1396022E-AF9B-4739-B616-218349AC11BA}"/>
              </a:ext>
            </a:extLst>
          </p:cNvPr>
          <p:cNvSpPr>
            <a:spLocks xmlns:a="http://schemas.openxmlformats.org/drawingml/2006/main" noGrp="1"/>
          </p:cNvSpPr>
          <p:nvPr/>
        </p:nvSpPr>
        <p:spPr>
          <a:xfrm xmlns:a="http://schemas.openxmlformats.org/drawingml/2006/main">
            <a:off x="7467600" y="3371850"/>
            <a:ext cx="3619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425" b="1" i="0">
                <a:solidFill>
                  <a:srgbClr val="111827"/>
                </a:solidFill>
                <a:latin typeface="Consolas"/>
                <a:ea typeface="Consolas"/>
                <a:cs typeface="Consolas"/>
              </a:defRPr>
            </a:pPr>
            <a:r>
              <a:rPr sz="1425" b="1" i="0">
                <a:solidFill>
                  <a:srgbClr val="111827"/>
                </a:solidFill>
                <a:latin typeface="Consolas"/>
                <a:ea typeface="Consolas"/>
                <a:cs typeface="Consolas"/>
              </a:rPr>
              <a:t>1 min   0.3705</a:t>
            </a:r>
          </a:p>
          <a:p xmlns:a="http://schemas.openxmlformats.org/drawingml/2006/main">
            <a:pPr algn="l">
              <a:lnSpc>
                <a:spcPct val="135000"/>
              </a:lnSpc>
              <a:buNone/>
              <a:defRPr sz="1425" b="1" i="0">
                <a:solidFill>
                  <a:srgbClr val="111827"/>
                </a:solidFill>
                <a:latin typeface="Consolas"/>
                <a:ea typeface="Consolas"/>
                <a:cs typeface="Consolas"/>
              </a:defRPr>
            </a:pPr>
            <a:r>
              <a:rPr sz="1425" b="1" i="0">
                <a:solidFill>
                  <a:srgbClr val="111827"/>
                </a:solidFill>
                <a:latin typeface="Consolas"/>
                <a:ea typeface="Consolas"/>
                <a:cs typeface="Consolas"/>
              </a:rPr>
              <a:t>30 min  0.0387</a:t>
            </a:r>
          </a:p>
          <a:p xmlns:a="http://schemas.openxmlformats.org/drawingml/2006/main">
            <a:pPr algn="l">
              <a:lnSpc>
                <a:spcPct val="135000"/>
              </a:lnSpc>
              <a:buNone/>
              <a:defRPr sz="1425" b="1" i="0">
                <a:solidFill>
                  <a:srgbClr val="111827"/>
                </a:solidFill>
                <a:latin typeface="Consolas"/>
                <a:ea typeface="Consolas"/>
                <a:cs typeface="Consolas"/>
              </a:defRPr>
            </a:pPr>
            <a:r>
              <a:rPr sz="1425" b="1" i="0">
                <a:solidFill>
                  <a:srgbClr val="111827"/>
                </a:solidFill>
                <a:latin typeface="Consolas"/>
                <a:ea typeface="Consolas"/>
                <a:cs typeface="Consolas"/>
              </a:rPr>
              <a:t>60 min  0.0162</a:t>
            </a:r>
          </a:p>
          <a:p xmlns:a="http://schemas.openxmlformats.org/drawingml/2006/main">
            <a:pPr algn="l">
              <a:lnSpc>
                <a:spcPct val="135000"/>
              </a:lnSpc>
              <a:buNone/>
              <a:defRPr sz="1425" b="1" i="0">
                <a:solidFill>
                  <a:srgbClr val="111827"/>
                </a:solidFill>
                <a:latin typeface="Consolas"/>
                <a:ea typeface="Consolas"/>
                <a:cs typeface="Consolas"/>
              </a:defRPr>
            </a:pPr>
            <a:r>
              <a:rPr sz="1425" b="1" i="0">
                <a:solidFill>
                  <a:srgbClr val="111827"/>
                </a:solidFill>
                <a:latin typeface="Consolas"/>
                <a:ea typeface="Consolas"/>
                <a:cs typeface="Consolas"/>
              </a:rPr>
              <a:t>119 min 0.00818</a:t>
            </a:r>
          </a:p>
        </p:txBody>
      </p:sp>
      <p:sp>
        <p:nvSpPr>
          <p:cNvPr id="16" name="">
            <a:extLst xmlns:a="http://schemas.openxmlformats.org/drawingml/2006/main">
              <a:ext uri="{FF2B5EF4-FFF2-40B4-BE49-F238E27FC236}">
                <a16:creationId xmlns:a16="http://schemas.microsoft.com/office/drawing/2014/main" id="{ADC5CC5D-D853-45E1-9A19-8B89F45F24D5}"/>
              </a:ext>
            </a:extLst>
          </p:cNvPr>
          <p:cNvSpPr>
            <a:spLocks xmlns:a="http://schemas.openxmlformats.org/drawingml/2006/main" noGrp="1"/>
          </p:cNvSpPr>
          <p:nvPr/>
        </p:nvSpPr>
        <p:spPr>
          <a:xfrm xmlns:a="http://schemas.openxmlformats.org/drawingml/2006/main">
            <a:off x="7372350" y="4762500"/>
            <a:ext cx="3810000" cy="933450"/>
          </a:xfrm>
          <a:prstGeom xmlns:a="http://schemas.openxmlformats.org/drawingml/2006/main" prst="rect">
            <a:avLst/>
          </a:prstGeom>
          <a:solidFill xmlns:a="http://schemas.openxmlformats.org/drawingml/2006/main">
            <a:srgbClr val="FFF1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E8D206F-3EA4-4DF0-8984-28E7D53E5F97}"/>
              </a:ext>
            </a:extLst>
          </p:cNvPr>
          <p:cNvSpPr>
            <a:spLocks xmlns:a="http://schemas.openxmlformats.org/drawingml/2006/main" noGrp="1"/>
          </p:cNvSpPr>
          <p:nvPr/>
        </p:nvSpPr>
        <p:spPr>
          <a:xfrm xmlns:a="http://schemas.openxmlformats.org/drawingml/2006/main">
            <a:off x="7543800" y="4943475"/>
            <a:ext cx="3467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1" i="0">
                <a:solidFill>
                  <a:srgbClr val="C8423A"/>
                </a:solidFill>
                <a:latin typeface="Yu Gothic"/>
                <a:ea typeface="Yu Gothic"/>
                <a:cs typeface="Yu Gothic"/>
              </a:defRPr>
            </a:pPr>
            <a:r>
              <a:rPr sz="1275" b="1" i="0">
                <a:solidFill>
                  <a:srgbClr val="C8423A"/>
                </a:solidFill>
                <a:latin typeface="Yu Gothic"/>
                <a:ea typeface="Yu Gothic"/>
                <a:cs typeface="Yu Gothic"/>
              </a:rPr>
              <a:t>注意：validation履歴がないため、train loss低下だけで汎化・過学習は判断できない</a:t>
            </a:r>
          </a:p>
        </p:txBody>
      </p:sp>
    </p:spTree>
    <p:extLst>
      <p:ext uri="{BB962C8B-B14F-4D97-AF65-F5344CB8AC3E}">
        <p14:creationId xmlns:p14="http://schemas.microsoft.com/office/powerpoint/2010/main" val="143306042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5DBEE9-1268-418C-BE2C-763D0BA426D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4BCEED-D1DA-4FD0-A3F2-E577A226CD84}"/>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METRICS CHART</a:t>
            </a:r>
          </a:p>
        </p:txBody>
      </p:sp>
      <p:sp>
        <p:nvSpPr>
          <p:cNvPr id="3" name="">
            <a:extLst xmlns:a="http://schemas.openxmlformats.org/drawingml/2006/main">
              <a:ext uri="{FF2B5EF4-FFF2-40B4-BE49-F238E27FC236}">
                <a16:creationId xmlns:a16="http://schemas.microsoft.com/office/drawing/2014/main" id="{81350E08-B9F7-42F1-A176-4773FA0EF648}"/>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30 / 32</a:t>
            </a:r>
          </a:p>
        </p:txBody>
      </p:sp>
      <p:sp>
        <p:nvSpPr>
          <p:cNvPr id="4" name="">
            <a:extLst xmlns:a="http://schemas.openxmlformats.org/drawingml/2006/main">
              <a:ext uri="{FF2B5EF4-FFF2-40B4-BE49-F238E27FC236}">
                <a16:creationId xmlns:a16="http://schemas.microsoft.com/office/drawing/2014/main" id="{D6F6E75F-B880-4BBB-AE72-B8B976B8EF71}"/>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36DBCDB8-5C5A-4F0F-A644-DE35EA80FC2A}"/>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07D6BADD-5D84-4563-B836-713458D3D232}"/>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AE1B7AC-8F47-4A42-B65F-2AD23B0CF7B5}"/>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A243DA96-D1D4-407D-9D87-38112464C295}"/>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Appendix｜held-out指標の読み方</a:t>
            </a:r>
          </a:p>
        </p:txBody>
      </p:sp>
      <p:sp>
        <p:nvSpPr>
          <p:cNvPr id="9" name="">
            <a:extLst xmlns:a="http://schemas.openxmlformats.org/drawingml/2006/main">
              <a:ext uri="{FF2B5EF4-FFF2-40B4-BE49-F238E27FC236}">
                <a16:creationId xmlns:a16="http://schemas.microsoft.com/office/drawing/2014/main" id="{5A82B38F-BAEF-44CE-9A45-FE6EE41051E1}"/>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CB552667-2666-4951-A100-B8A1D1112CD9}"/>
              </a:ext>
            </a:extLst>
          </p:cNvPr>
          <p:cNvSpPr>
            <a:spLocks xmlns:a="http://schemas.openxmlformats.org/drawingml/2006/main" noGrp="1"/>
          </p:cNvSpPr>
          <p:nvPr/>
        </p:nvSpPr>
        <p:spPr>
          <a:xfrm xmlns:a="http://schemas.openxmlformats.org/drawingml/2006/main">
            <a:off x="495300" y="1657350"/>
            <a:ext cx="66675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14a6e66c72a450d"/>
          <a:stretch xmlns:a="http://schemas.openxmlformats.org/drawingml/2006/main"/>
        </p:blipFill>
        <p:spPr>
          <a:xfrm xmlns:a="http://schemas.openxmlformats.org/drawingml/2006/main">
            <a:off x="495300" y="1889522"/>
            <a:ext cx="6667500" cy="3250406"/>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240DE76-D580-4FAF-AFDD-C4AE07586C83}"/>
              </a:ext>
            </a:extLst>
          </p:cNvPr>
          <p:cNvSpPr>
            <a:spLocks xmlns:a="http://schemas.openxmlformats.org/drawingml/2006/main" noGrp="1"/>
          </p:cNvSpPr>
          <p:nvPr/>
        </p:nvSpPr>
        <p:spPr>
          <a:xfrm xmlns:a="http://schemas.openxmlformats.org/drawingml/2006/main">
            <a:off x="7524750" y="16954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3D8DFF"/>
                </a:solidFill>
                <a:latin typeface="Yu Gothic"/>
                <a:ea typeface="Yu Gothic"/>
                <a:cs typeface="Yu Gothic"/>
              </a:defRPr>
            </a:pPr>
            <a:r>
              <a:rPr sz="1725" b="1" i="0">
                <a:solidFill>
                  <a:srgbClr val="3D8DFF"/>
                </a:solidFill>
                <a:latin typeface="Yu Gothic"/>
                <a:ea typeface="Yu Gothic"/>
                <a:cs typeface="Yu Gothic"/>
              </a:rPr>
              <a:t>指標の意味</a:t>
            </a:r>
          </a:p>
        </p:txBody>
      </p:sp>
      <p:sp>
        <p:nvSpPr>
          <p:cNvPr id="13" name="">
            <a:extLst xmlns:a="http://schemas.openxmlformats.org/drawingml/2006/main">
              <a:ext uri="{FF2B5EF4-FFF2-40B4-BE49-F238E27FC236}">
                <a16:creationId xmlns:a16="http://schemas.microsoft.com/office/drawing/2014/main" id="{1C5DF715-13E9-4E6E-8949-590E509DE400}"/>
              </a:ext>
            </a:extLst>
          </p:cNvPr>
          <p:cNvSpPr>
            <a:spLocks xmlns:a="http://schemas.openxmlformats.org/drawingml/2006/main" noGrp="1"/>
          </p:cNvSpPr>
          <p:nvPr/>
        </p:nvSpPr>
        <p:spPr>
          <a:xfrm xmlns:a="http://schemas.openxmlformats.org/drawingml/2006/main">
            <a:off x="7524750" y="2133600"/>
            <a:ext cx="3619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2000"/>
              </a:lnSpc>
              <a:buNone/>
              <a:defRPr sz="1350" b="0" i="0">
                <a:solidFill>
                  <a:srgbClr val="111827"/>
                </a:solidFill>
                <a:latin typeface="Yu Gothic"/>
                <a:ea typeface="Yu Gothic"/>
                <a:cs typeface="Yu Gothic"/>
              </a:defRPr>
            </a:pPr>
            <a:r>
              <a:rPr sz="1350" b="0" i="0">
                <a:solidFill>
                  <a:srgbClr val="111827"/>
                </a:solidFill>
                <a:latin typeface="Yu Gothic"/>
                <a:ea typeface="Yu Gothic"/>
                <a:cs typeface="Yu Gothic"/>
              </a:rPr>
              <a:t>Rel L2：全点誤差の相対ノルム</a:t>
            </a:r>
          </a:p>
          <a:p xmlns:a="http://schemas.openxmlformats.org/drawingml/2006/main">
            <a:pPr algn="l">
              <a:lnSpc>
                <a:spcPct val="142000"/>
              </a:lnSpc>
              <a:buNone/>
              <a:defRPr sz="1350" b="0" i="0">
                <a:solidFill>
                  <a:srgbClr val="111827"/>
                </a:solidFill>
                <a:latin typeface="Yu Gothic"/>
                <a:ea typeface="Yu Gothic"/>
                <a:cs typeface="Yu Gothic"/>
              </a:defRPr>
            </a:pPr>
            <a:r>
              <a:rPr sz="1350" b="0" i="0">
                <a:solidFill>
                  <a:srgbClr val="111827"/>
                </a:solidFill>
                <a:latin typeface="Yu Gothic"/>
                <a:ea typeface="Yu Gothic"/>
                <a:cs typeface="Yu Gothic"/>
              </a:rPr>
              <a:t>Area Rel L2：面積で重み付け</a:t>
            </a:r>
          </a:p>
          <a:p xmlns:a="http://schemas.openxmlformats.org/drawingml/2006/main">
            <a:pPr algn="l">
              <a:lnSpc>
                <a:spcPct val="142000"/>
              </a:lnSpc>
              <a:buNone/>
              <a:defRPr sz="1350" b="0" i="0">
                <a:solidFill>
                  <a:srgbClr val="111827"/>
                </a:solidFill>
                <a:latin typeface="Yu Gothic"/>
                <a:ea typeface="Yu Gothic"/>
                <a:cs typeface="Yu Gothic"/>
              </a:defRPr>
            </a:pPr>
            <a:r>
              <a:rPr sz="1350" b="0" i="0">
                <a:solidFill>
                  <a:srgbClr val="111827"/>
                </a:solidFill>
                <a:latin typeface="Yu Gothic"/>
                <a:ea typeface="Yu Gothic"/>
                <a:cs typeface="Yu Gothic"/>
              </a:rPr>
              <a:t>Correlation：分布パターンの一致</a:t>
            </a:r>
          </a:p>
          <a:p xmlns:a="http://schemas.openxmlformats.org/drawingml/2006/main">
            <a:pPr algn="l">
              <a:lnSpc>
                <a:spcPct val="142000"/>
              </a:lnSpc>
              <a:buNone/>
              <a:defRPr sz="1350" b="0" i="0">
                <a:solidFill>
                  <a:srgbClr val="111827"/>
                </a:solidFill>
                <a:latin typeface="Yu Gothic"/>
                <a:ea typeface="Yu Gothic"/>
                <a:cs typeface="Yu Gothic"/>
              </a:defRPr>
            </a:pPr>
            <a:r>
              <a:rPr sz="1350" b="0" i="0">
                <a:solidFill>
                  <a:srgbClr val="111827"/>
                </a:solidFill>
                <a:latin typeface="Yu Gothic"/>
                <a:ea typeface="Yu Gothic"/>
                <a:cs typeface="Yu Gothic"/>
              </a:rPr>
              <a:t>MAE / RMSE：圧力値の絶対誤差</a:t>
            </a:r>
          </a:p>
        </p:txBody>
      </p:sp>
      <p:sp>
        <p:nvSpPr>
          <p:cNvPr id="14" name="">
            <a:extLst xmlns:a="http://schemas.openxmlformats.org/drawingml/2006/main">
              <a:ext uri="{FF2B5EF4-FFF2-40B4-BE49-F238E27FC236}">
                <a16:creationId xmlns:a16="http://schemas.microsoft.com/office/drawing/2014/main" id="{C634AE46-EECC-4A74-A0BB-3C3FAFB784DA}"/>
              </a:ext>
            </a:extLst>
          </p:cNvPr>
          <p:cNvSpPr>
            <a:spLocks xmlns:a="http://schemas.openxmlformats.org/drawingml/2006/main" noGrp="1"/>
          </p:cNvSpPr>
          <p:nvPr/>
        </p:nvSpPr>
        <p:spPr>
          <a:xfrm xmlns:a="http://schemas.openxmlformats.org/drawingml/2006/main">
            <a:off x="7524750" y="36576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4F7D00"/>
                </a:solidFill>
                <a:latin typeface="Yu Gothic"/>
                <a:ea typeface="Yu Gothic"/>
                <a:cs typeface="Yu Gothic"/>
              </a:defRPr>
            </a:pPr>
            <a:r>
              <a:rPr sz="1725" b="1" i="0">
                <a:solidFill>
                  <a:srgbClr val="4F7D00"/>
                </a:solidFill>
                <a:latin typeface="Yu Gothic"/>
                <a:ea typeface="Yu Gothic"/>
                <a:cs typeface="Yu Gothic"/>
              </a:rPr>
              <a:t>平均</a:t>
            </a:r>
          </a:p>
        </p:txBody>
      </p:sp>
      <p:sp>
        <p:nvSpPr>
          <p:cNvPr id="15" name="">
            <a:extLst xmlns:a="http://schemas.openxmlformats.org/drawingml/2006/main">
              <a:ext uri="{FF2B5EF4-FFF2-40B4-BE49-F238E27FC236}">
                <a16:creationId xmlns:a16="http://schemas.microsoft.com/office/drawing/2014/main" id="{04D1CFC0-D45B-459C-B22D-0643AD5AB580}"/>
              </a:ext>
            </a:extLst>
          </p:cNvPr>
          <p:cNvSpPr>
            <a:spLocks xmlns:a="http://schemas.openxmlformats.org/drawingml/2006/main" noGrp="1"/>
          </p:cNvSpPr>
          <p:nvPr/>
        </p:nvSpPr>
        <p:spPr>
          <a:xfrm xmlns:a="http://schemas.openxmlformats.org/drawingml/2006/main">
            <a:off x="7524750" y="4095750"/>
            <a:ext cx="3714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Rel L2       0.5087</a:t>
            </a:r>
          </a:p>
          <a:p xmlns:a="http://schemas.openxmlformats.org/drawingml/2006/main">
            <a:pPr algn="l">
              <a:lnSpc>
                <a:spcPct val="135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Area Rel L2  0.5263</a:t>
            </a:r>
          </a:p>
          <a:p xmlns:a="http://schemas.openxmlformats.org/drawingml/2006/main">
            <a:pPr algn="l">
              <a:lnSpc>
                <a:spcPct val="135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Correlation  0.7710</a:t>
            </a:r>
          </a:p>
          <a:p xmlns:a="http://schemas.openxmlformats.org/drawingml/2006/main">
            <a:pPr algn="l">
              <a:lnSpc>
                <a:spcPct val="135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MAE / RMSE   113.54 / 195.20</a:t>
            </a:r>
          </a:p>
        </p:txBody>
      </p:sp>
      <p:sp>
        <p:nvSpPr>
          <p:cNvPr id="16" name="">
            <a:extLst xmlns:a="http://schemas.openxmlformats.org/drawingml/2006/main">
              <a:ext uri="{FF2B5EF4-FFF2-40B4-BE49-F238E27FC236}">
                <a16:creationId xmlns:a16="http://schemas.microsoft.com/office/drawing/2014/main" id="{EE2C5459-FBD0-4028-98D9-AB302180F913}"/>
              </a:ext>
            </a:extLst>
          </p:cNvPr>
          <p:cNvSpPr>
            <a:spLocks xmlns:a="http://schemas.openxmlformats.org/drawingml/2006/main" noGrp="1"/>
          </p:cNvSpPr>
          <p:nvPr/>
        </p:nvSpPr>
        <p:spPr>
          <a:xfrm xmlns:a="http://schemas.openxmlformats.org/drawingml/2006/main">
            <a:off x="495300" y="57340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575" b="1" i="0">
                <a:solidFill>
                  <a:srgbClr val="C8423A"/>
                </a:solidFill>
                <a:latin typeface="Yu Gothic"/>
                <a:ea typeface="Yu Gothic"/>
                <a:cs typeface="Yu Gothic"/>
              </a:defRPr>
            </a:pPr>
            <a:r>
              <a:rPr sz="1575" b="1" i="0">
                <a:solidFill>
                  <a:srgbClr val="C8423A"/>
                </a:solidFill>
                <a:latin typeface="Yu Gothic"/>
                <a:ea typeface="Yu Gothic"/>
                <a:cs typeface="Yu Gothic"/>
              </a:rPr>
              <a:t>解釈：大域分布は追うが、点ごとの定量精度はまだ粗い</a:t>
            </a:r>
          </a:p>
        </p:txBody>
      </p:sp>
    </p:spTree>
    <p:extLst>
      <p:ext uri="{BB962C8B-B14F-4D97-AF65-F5344CB8AC3E}">
        <p14:creationId xmlns:p14="http://schemas.microsoft.com/office/powerpoint/2010/main" val="16416569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ACCFDC-D94E-4C32-A2D1-3AF92BA5E07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02C0E0-F64B-4D2A-8076-52E8C8F30202}"/>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APPENDIX / 3D FIGURE</a:t>
            </a:r>
          </a:p>
        </p:txBody>
      </p:sp>
      <p:sp>
        <p:nvSpPr>
          <p:cNvPr id="3" name="">
            <a:extLst xmlns:a="http://schemas.openxmlformats.org/drawingml/2006/main">
              <a:ext uri="{FF2B5EF4-FFF2-40B4-BE49-F238E27FC236}">
                <a16:creationId xmlns:a16="http://schemas.microsoft.com/office/drawing/2014/main" id="{0390FD46-BC30-4322-90EA-56E12A4E5317}"/>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31 / 32</a:t>
            </a:r>
          </a:p>
        </p:txBody>
      </p:sp>
      <p:sp>
        <p:nvSpPr>
          <p:cNvPr id="4" name="">
            <a:extLst xmlns:a="http://schemas.openxmlformats.org/drawingml/2006/main">
              <a:ext uri="{FF2B5EF4-FFF2-40B4-BE49-F238E27FC236}">
                <a16:creationId xmlns:a16="http://schemas.microsoft.com/office/drawing/2014/main" id="{95CF7557-D4B3-4B2F-9A0D-8F1A1592AC8A}"/>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A585ECBF-8B18-4B1D-8AB2-F3D66523DF6F}"/>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66ABFCAB-AA48-411C-91D1-5DFFC391DAB8}"/>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E19E6A-DC9F-47E7-A30A-C82030D42DCA}"/>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5D19DD12-B4EA-461D-814B-A6A9F8B0B32F}"/>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Appendix｜3次元図の色と誤差を対応させる</a:t>
            </a:r>
          </a:p>
        </p:txBody>
      </p:sp>
      <p:sp>
        <p:nvSpPr>
          <p:cNvPr id="9" name="">
            <a:extLst xmlns:a="http://schemas.openxmlformats.org/drawingml/2006/main">
              <a:ext uri="{FF2B5EF4-FFF2-40B4-BE49-F238E27FC236}">
                <a16:creationId xmlns:a16="http://schemas.microsoft.com/office/drawing/2014/main" id="{9FCCD25F-29BC-4011-8014-B17D33034B56}"/>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4C2419C8-C378-4C74-BBF8-8BE8A1E02C45}"/>
              </a:ext>
            </a:extLst>
          </p:cNvPr>
          <p:cNvSpPr>
            <a:spLocks xmlns:a="http://schemas.openxmlformats.org/drawingml/2006/main" noGrp="1"/>
          </p:cNvSpPr>
          <p:nvPr/>
        </p:nvSpPr>
        <p:spPr>
          <a:xfrm xmlns:a="http://schemas.openxmlformats.org/drawingml/2006/main">
            <a:off x="495300" y="1657350"/>
            <a:ext cx="73342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e3c47adae804f95"/>
          <a:stretch xmlns:a="http://schemas.openxmlformats.org/drawingml/2006/main"/>
        </p:blipFill>
        <p:spPr>
          <a:xfrm xmlns:a="http://schemas.openxmlformats.org/drawingml/2006/main">
            <a:off x="495300" y="2497374"/>
            <a:ext cx="7334250" cy="232045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0DF92DB-8F5F-4617-A214-E9BB1CC22FEA}"/>
              </a:ext>
            </a:extLst>
          </p:cNvPr>
          <p:cNvSpPr>
            <a:spLocks xmlns:a="http://schemas.openxmlformats.org/drawingml/2006/main" noGrp="1"/>
          </p:cNvSpPr>
          <p:nvPr/>
        </p:nvSpPr>
        <p:spPr>
          <a:xfrm xmlns:a="http://schemas.openxmlformats.org/drawingml/2006/main">
            <a:off x="8115300" y="16954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5B6472"/>
                </a:solidFill>
                <a:latin typeface="Yu Gothic"/>
                <a:ea typeface="Yu Gothic"/>
                <a:cs typeface="Yu Gothic"/>
              </a:defRPr>
            </a:pPr>
            <a:r>
              <a:rPr sz="1575" b="1" i="0">
                <a:solidFill>
                  <a:srgbClr val="5B6472"/>
                </a:solidFill>
                <a:latin typeface="Yu Gothic"/>
                <a:ea typeface="Yu Gothic"/>
                <a:cs typeface="Yu Gothic"/>
              </a:rPr>
              <a:t>左：Reference</a:t>
            </a:r>
          </a:p>
        </p:txBody>
      </p:sp>
      <p:sp>
        <p:nvSpPr>
          <p:cNvPr id="13" name="">
            <a:extLst xmlns:a="http://schemas.openxmlformats.org/drawingml/2006/main">
              <a:ext uri="{FF2B5EF4-FFF2-40B4-BE49-F238E27FC236}">
                <a16:creationId xmlns:a16="http://schemas.microsoft.com/office/drawing/2014/main" id="{13D973F9-4FDC-4FE7-B496-5596846694B6}"/>
              </a:ext>
            </a:extLst>
          </p:cNvPr>
          <p:cNvSpPr>
            <a:spLocks xmlns:a="http://schemas.openxmlformats.org/drawingml/2006/main" noGrp="1"/>
          </p:cNvSpPr>
          <p:nvPr/>
        </p:nvSpPr>
        <p:spPr>
          <a:xfrm xmlns:a="http://schemas.openxmlformats.org/drawingml/2006/main">
            <a:off x="8115300" y="20383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CFD由来の表面圧力</a:t>
            </a:r>
          </a:p>
        </p:txBody>
      </p:sp>
      <p:sp>
        <p:nvSpPr>
          <p:cNvPr id="14" name="">
            <a:extLst xmlns:a="http://schemas.openxmlformats.org/drawingml/2006/main">
              <a:ext uri="{FF2B5EF4-FFF2-40B4-BE49-F238E27FC236}">
                <a16:creationId xmlns:a16="http://schemas.microsoft.com/office/drawing/2014/main" id="{3BE77B75-B344-4C9A-B189-4644BCED475A}"/>
              </a:ext>
            </a:extLst>
          </p:cNvPr>
          <p:cNvSpPr>
            <a:spLocks xmlns:a="http://schemas.openxmlformats.org/drawingml/2006/main" noGrp="1"/>
          </p:cNvSpPr>
          <p:nvPr/>
        </p:nvSpPr>
        <p:spPr>
          <a:xfrm xmlns:a="http://schemas.openxmlformats.org/drawingml/2006/main">
            <a:off x="8115300" y="25717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4F7D00"/>
                </a:solidFill>
                <a:latin typeface="Yu Gothic"/>
                <a:ea typeface="Yu Gothic"/>
                <a:cs typeface="Yu Gothic"/>
              </a:defRPr>
            </a:pPr>
            <a:r>
              <a:rPr sz="1575" b="1" i="0">
                <a:solidFill>
                  <a:srgbClr val="4F7D00"/>
                </a:solidFill>
                <a:latin typeface="Yu Gothic"/>
                <a:ea typeface="Yu Gothic"/>
                <a:cs typeface="Yu Gothic"/>
              </a:rPr>
              <a:t>中央：Prediction</a:t>
            </a:r>
          </a:p>
        </p:txBody>
      </p:sp>
      <p:sp>
        <p:nvSpPr>
          <p:cNvPr id="15" name="">
            <a:extLst xmlns:a="http://schemas.openxmlformats.org/drawingml/2006/main">
              <a:ext uri="{FF2B5EF4-FFF2-40B4-BE49-F238E27FC236}">
                <a16:creationId xmlns:a16="http://schemas.microsoft.com/office/drawing/2014/main" id="{2C4075A0-05FC-46AF-BB10-BC7D0C08D264}"/>
              </a:ext>
            </a:extLst>
          </p:cNvPr>
          <p:cNvSpPr>
            <a:spLocks xmlns:a="http://schemas.openxmlformats.org/drawingml/2006/main" noGrp="1"/>
          </p:cNvSpPr>
          <p:nvPr/>
        </p:nvSpPr>
        <p:spPr>
          <a:xfrm xmlns:a="http://schemas.openxmlformats.org/drawingml/2006/main">
            <a:off x="8115300" y="29146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DoMINOがquery点で出した圧力</a:t>
            </a:r>
          </a:p>
        </p:txBody>
      </p:sp>
      <p:sp>
        <p:nvSpPr>
          <p:cNvPr id="16" name="">
            <a:extLst xmlns:a="http://schemas.openxmlformats.org/drawingml/2006/main">
              <a:ext uri="{FF2B5EF4-FFF2-40B4-BE49-F238E27FC236}">
                <a16:creationId xmlns:a16="http://schemas.microsoft.com/office/drawing/2014/main" id="{EF798DE8-7FBC-4FF8-B9E0-FA856417661A}"/>
              </a:ext>
            </a:extLst>
          </p:cNvPr>
          <p:cNvSpPr>
            <a:spLocks xmlns:a="http://schemas.openxmlformats.org/drawingml/2006/main" noGrp="1"/>
          </p:cNvSpPr>
          <p:nvPr/>
        </p:nvSpPr>
        <p:spPr>
          <a:xfrm xmlns:a="http://schemas.openxmlformats.org/drawingml/2006/main">
            <a:off x="8115300" y="36385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1" i="0">
                <a:solidFill>
                  <a:srgbClr val="F58220"/>
                </a:solidFill>
                <a:latin typeface="Yu Gothic"/>
                <a:ea typeface="Yu Gothic"/>
                <a:cs typeface="Yu Gothic"/>
              </a:defRPr>
            </a:pPr>
            <a:r>
              <a:rPr sz="1575" b="1" i="0">
                <a:solidFill>
                  <a:srgbClr val="F58220"/>
                </a:solidFill>
                <a:latin typeface="Yu Gothic"/>
                <a:ea typeface="Yu Gothic"/>
                <a:cs typeface="Yu Gothic"/>
              </a:rPr>
              <a:t>右：Absolute error</a:t>
            </a:r>
          </a:p>
        </p:txBody>
      </p:sp>
      <p:sp>
        <p:nvSpPr>
          <p:cNvPr id="17" name="">
            <a:extLst xmlns:a="http://schemas.openxmlformats.org/drawingml/2006/main">
              <a:ext uri="{FF2B5EF4-FFF2-40B4-BE49-F238E27FC236}">
                <a16:creationId xmlns:a16="http://schemas.microsoft.com/office/drawing/2014/main" id="{F89D598A-D627-42CA-9709-A0FA3FE164F4}"/>
              </a:ext>
            </a:extLst>
          </p:cNvPr>
          <p:cNvSpPr>
            <a:spLocks xmlns:a="http://schemas.openxmlformats.org/drawingml/2006/main" noGrp="1"/>
          </p:cNvSpPr>
          <p:nvPr/>
        </p:nvSpPr>
        <p:spPr>
          <a:xfrm xmlns:a="http://schemas.openxmlformats.org/drawingml/2006/main">
            <a:off x="8115300" y="39814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|prediction − reference|</a:t>
            </a:r>
          </a:p>
          <a:p xmlns:a="http://schemas.openxmlformats.org/drawingml/2006/main">
            <a:pPr algn="l">
              <a:lnSpc>
                <a:spcPct val="130000"/>
              </a:lnSpc>
              <a:buNone/>
              <a:defRPr sz="1275" b="0" i="0">
                <a:solidFill>
                  <a:srgbClr val="111827"/>
                </a:solidFill>
                <a:latin typeface="Yu Gothic"/>
                <a:ea typeface="Yu Gothic"/>
                <a:cs typeface="Yu Gothic"/>
              </a:defRPr>
            </a:pPr>
            <a:r>
              <a:rPr sz="1275" b="0" i="0">
                <a:solidFill>
                  <a:srgbClr val="111827"/>
                </a:solidFill>
                <a:latin typeface="Yu Gothic"/>
                <a:ea typeface="Yu Gothic"/>
                <a:cs typeface="Yu Gothic"/>
              </a:rPr>
              <a:t>車輪・前端・境界で増大</a:t>
            </a:r>
          </a:p>
        </p:txBody>
      </p:sp>
      <p:sp>
        <p:nvSpPr>
          <p:cNvPr id="18" name="">
            <a:extLst xmlns:a="http://schemas.openxmlformats.org/drawingml/2006/main">
              <a:ext uri="{FF2B5EF4-FFF2-40B4-BE49-F238E27FC236}">
                <a16:creationId xmlns:a16="http://schemas.microsoft.com/office/drawing/2014/main" id="{3E3D9D81-5A19-43D5-A5AA-1925029E064F}"/>
              </a:ext>
            </a:extLst>
          </p:cNvPr>
          <p:cNvSpPr>
            <a:spLocks xmlns:a="http://schemas.openxmlformats.org/drawingml/2006/main" noGrp="1"/>
          </p:cNvSpPr>
          <p:nvPr/>
        </p:nvSpPr>
        <p:spPr>
          <a:xfrm xmlns:a="http://schemas.openxmlformats.org/drawingml/2006/main">
            <a:off x="8020050" y="4933950"/>
            <a:ext cx="3238500" cy="7239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FF7BA63-B40E-486B-8A0F-05F8693792FE}"/>
              </a:ext>
            </a:extLst>
          </p:cNvPr>
          <p:cNvSpPr>
            <a:spLocks xmlns:a="http://schemas.openxmlformats.org/drawingml/2006/main" noGrp="1"/>
          </p:cNvSpPr>
          <p:nvPr/>
        </p:nvSpPr>
        <p:spPr>
          <a:xfrm xmlns:a="http://schemas.openxmlformats.org/drawingml/2006/main">
            <a:off x="8172450" y="5095875"/>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00" b="1" i="0">
                <a:solidFill>
                  <a:srgbClr val="111827"/>
                </a:solidFill>
                <a:latin typeface="Yu Gothic"/>
                <a:ea typeface="Yu Gothic"/>
                <a:cs typeface="Yu Gothic"/>
              </a:defRPr>
            </a:pPr>
            <a:r>
              <a:rPr sz="1200" b="1" i="0">
                <a:solidFill>
                  <a:srgbClr val="111827"/>
                </a:solidFill>
                <a:latin typeface="Yu Gothic"/>
                <a:ea typeface="Yu Gothic"/>
                <a:cs typeface="Yu Gothic"/>
              </a:rPr>
              <a:t>圧力図と誤差図はカラーバーが異なる。色を直接比較せず、各バーの数値を読む</a:t>
            </a:r>
          </a:p>
        </p:txBody>
      </p:sp>
    </p:spTree>
    <p:extLst>
      <p:ext uri="{BB962C8B-B14F-4D97-AF65-F5344CB8AC3E}">
        <p14:creationId xmlns:p14="http://schemas.microsoft.com/office/powerpoint/2010/main" val="15640457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C6128C-BA59-4C4C-87CC-9327411D1A3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487305-F601-43DD-BF3C-5C3C370686A7}"/>
              </a:ext>
            </a:extLst>
          </p:cNvPr>
          <p:cNvSpPr>
            <a:spLocks xmlns:a="http://schemas.openxmlformats.org/drawingml/2006/main" noGrp="1"/>
          </p:cNvSpPr>
          <p:nvPr/>
        </p:nvSpPr>
        <p:spPr>
          <a:xfrm xmlns:a="http://schemas.openxmlformats.org/drawingml/2006/main">
            <a:off x="495300" y="2476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975" b="1" i="0">
                <a:solidFill>
                  <a:srgbClr val="3D8DFF"/>
                </a:solidFill>
                <a:latin typeface="Consolas"/>
                <a:ea typeface="Consolas"/>
                <a:cs typeface="Consolas"/>
              </a:defRPr>
            </a:pPr>
            <a:r>
              <a:rPr sz="975" b="1" i="0">
                <a:solidFill>
                  <a:srgbClr val="3D8DFF"/>
                </a:solidFill>
                <a:latin typeface="Consolas"/>
                <a:ea typeface="Consolas"/>
                <a:cs typeface="Consolas"/>
              </a:rPr>
              <a:t>APPX ERROR ANALYSIS</a:t>
            </a:r>
          </a:p>
        </p:txBody>
      </p:sp>
      <p:sp>
        <p:nvSpPr>
          <p:cNvPr id="3" name="">
            <a:extLst xmlns:a="http://schemas.openxmlformats.org/drawingml/2006/main">
              <a:ext uri="{FF2B5EF4-FFF2-40B4-BE49-F238E27FC236}">
                <a16:creationId xmlns:a16="http://schemas.microsoft.com/office/drawing/2014/main" id="{01451147-ABCD-4ADB-B39E-92FE967C0AEA}"/>
              </a:ext>
            </a:extLst>
          </p:cNvPr>
          <p:cNvSpPr>
            <a:spLocks xmlns:a="http://schemas.openxmlformats.org/drawingml/2006/main" noGrp="1"/>
          </p:cNvSpPr>
          <p:nvPr/>
        </p:nvSpPr>
        <p:spPr>
          <a:xfrm xmlns:a="http://schemas.openxmlformats.org/drawingml/2006/main">
            <a:off x="10953750" y="24765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975" b="0" i="0">
                <a:solidFill>
                  <a:srgbClr val="5B6472"/>
                </a:solidFill>
                <a:latin typeface="Consolas"/>
                <a:ea typeface="Consolas"/>
                <a:cs typeface="Consolas"/>
              </a:defRPr>
            </a:pPr>
            <a:r>
              <a:rPr sz="975" b="0" i="0">
                <a:solidFill>
                  <a:srgbClr val="5B6472"/>
                </a:solidFill>
                <a:latin typeface="Consolas"/>
                <a:ea typeface="Consolas"/>
                <a:cs typeface="Consolas"/>
              </a:rPr>
              <a:t>32 / 32</a:t>
            </a:r>
          </a:p>
        </p:txBody>
      </p:sp>
      <p:sp>
        <p:nvSpPr>
          <p:cNvPr id="4" name="">
            <a:extLst xmlns:a="http://schemas.openxmlformats.org/drawingml/2006/main">
              <a:ext uri="{FF2B5EF4-FFF2-40B4-BE49-F238E27FC236}">
                <a16:creationId xmlns:a16="http://schemas.microsoft.com/office/drawing/2014/main" id="{2763BBC0-6057-4F69-9EE6-20AC3A4F2DAD}"/>
              </a:ext>
            </a:extLst>
          </p:cNvPr>
          <p:cNvSpPr>
            <a:spLocks xmlns:a="http://schemas.openxmlformats.org/drawingml/2006/main" noGrp="1"/>
          </p:cNvSpPr>
          <p:nvPr/>
        </p:nvSpPr>
        <p:spPr>
          <a:xfrm xmlns:a="http://schemas.openxmlformats.org/drawingml/2006/main">
            <a:off x="495300" y="6381750"/>
            <a:ext cx="11201400" cy="0"/>
          </a:xfrm>
          <a:prstGeom xmlns:a="http://schemas.openxmlformats.org/drawingml/2006/main" prst="line">
            <a:avLst/>
          </a:prstGeom>
          <a:noFill xmlns:a="http://schemas.openxmlformats.org/drawingml/2006/main"/>
          <a:ln xmlns:a="http://schemas.openxmlformats.org/drawingml/2006/main" w="7620">
            <a:solidFill>
              <a:srgbClr val="B8BCC4"/>
            </a:solidFill>
            <a:prstDash val="solid"/>
          </a:ln>
        </p:spPr>
      </p:sp>
      <p:sp>
        <p:nvSpPr>
          <p:cNvPr id="5" name="">
            <a:extLst xmlns:a="http://schemas.openxmlformats.org/drawingml/2006/main">
              <a:ext uri="{FF2B5EF4-FFF2-40B4-BE49-F238E27FC236}">
                <a16:creationId xmlns:a16="http://schemas.microsoft.com/office/drawing/2014/main" id="{5330C30C-C185-4594-AFFD-9F628058B49A}"/>
              </a:ext>
            </a:extLst>
          </p:cNvPr>
          <p:cNvSpPr>
            <a:spLocks xmlns:a="http://schemas.openxmlformats.org/drawingml/2006/main" noGrp="1"/>
          </p:cNvSpPr>
          <p:nvPr/>
        </p:nvSpPr>
        <p:spPr>
          <a:xfrm xmlns:a="http://schemas.openxmlformats.org/drawingml/2006/main">
            <a:off x="495300" y="6486525"/>
            <a:ext cx="9982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75" b="0" i="0">
                <a:solidFill>
                  <a:srgbClr val="5B6472"/>
                </a:solidFill>
                <a:latin typeface="Consolas"/>
                <a:ea typeface="Consolas"/>
                <a:cs typeface="Consolas"/>
              </a:defRPr>
            </a:pPr>
            <a:r>
              <a:rPr sz="675" b="0" i="0">
                <a:solidFill>
                  <a:srgbClr val="5B6472"/>
                </a:solidFill>
                <a:latin typeface="Consolas"/>
                <a:ea typeface="Consolas"/>
                <a:cs typeface="Consolas"/>
              </a:rPr>
              <a:t>This run: docs/results/run_20260712.md | PhysicsNeMo 2.1.1</a:t>
            </a:r>
          </a:p>
        </p:txBody>
      </p:sp>
      <p:sp>
        <p:nvSpPr>
          <p:cNvPr id="6" name="">
            <a:extLst xmlns:a="http://schemas.openxmlformats.org/drawingml/2006/main">
              <a:ext uri="{FF2B5EF4-FFF2-40B4-BE49-F238E27FC236}">
                <a16:creationId xmlns:a16="http://schemas.microsoft.com/office/drawing/2014/main" id="{089EF543-4F68-481F-B250-8751CE19533C}"/>
              </a:ext>
            </a:extLst>
          </p:cNvPr>
          <p:cNvSpPr>
            <a:spLocks xmlns:a="http://schemas.openxmlformats.org/drawingml/2006/main" noGrp="1"/>
          </p:cNvSpPr>
          <p:nvPr/>
        </p:nvSpPr>
        <p:spPr>
          <a:xfrm xmlns:a="http://schemas.openxmlformats.org/drawingml/2006/main">
            <a:off x="10591800" y="6467475"/>
            <a:ext cx="1104900" cy="190500"/>
          </a:xfrm>
          <a:prstGeom xmlns:a="http://schemas.openxmlformats.org/drawingml/2006/main" prst="rect">
            <a:avLst/>
          </a:prstGeom>
          <a:solidFill xmlns:a="http://schemas.openxmlformats.org/drawingml/2006/main">
            <a:srgbClr val="F58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0AD5EA3-D8FA-492E-9DDE-17964118AF89}"/>
              </a:ext>
            </a:extLst>
          </p:cNvPr>
          <p:cNvSpPr>
            <a:spLocks xmlns:a="http://schemas.openxmlformats.org/drawingml/2006/main" noGrp="1"/>
          </p:cNvSpPr>
          <p:nvPr/>
        </p:nvSpPr>
        <p:spPr>
          <a:xfrm xmlns:a="http://schemas.openxmlformats.org/drawingml/2006/main">
            <a:off x="10648950" y="6496050"/>
            <a:ext cx="990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825" b="1" i="0">
                <a:solidFill>
                  <a:srgbClr val="FFFFFF"/>
                </a:solidFill>
                <a:latin typeface="Consolas"/>
                <a:ea typeface="Consolas"/>
                <a:cs typeface="Consolas"/>
              </a:defRPr>
            </a:pPr>
            <a:r>
              <a:rPr sz="825" b="1" i="0">
                <a:solidFill>
                  <a:srgbClr val="FFFFFF"/>
                </a:solidFill>
                <a:latin typeface="Consolas"/>
                <a:ea typeface="Consolas"/>
                <a:cs typeface="Consolas"/>
              </a:rPr>
              <a:t>今回計算</a:t>
            </a:r>
          </a:p>
        </p:txBody>
      </p:sp>
      <p:sp>
        <p:nvSpPr>
          <p:cNvPr id="8" name="">
            <a:extLst xmlns:a="http://schemas.openxmlformats.org/drawingml/2006/main">
              <a:ext uri="{FF2B5EF4-FFF2-40B4-BE49-F238E27FC236}">
                <a16:creationId xmlns:a16="http://schemas.microsoft.com/office/drawing/2014/main" id="{DB5BC5B9-3F2F-4246-A3E4-BF43B17B671B}"/>
              </a:ext>
            </a:extLst>
          </p:cNvPr>
          <p:cNvSpPr>
            <a:spLocks xmlns:a="http://schemas.openxmlformats.org/drawingml/2006/main" noGrp="1"/>
          </p:cNvSpPr>
          <p:nvPr/>
        </p:nvSpPr>
        <p:spPr>
          <a:xfrm xmlns:a="http://schemas.openxmlformats.org/drawingml/2006/main">
            <a:off x="495300" y="5334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i="0">
                <a:solidFill>
                  <a:srgbClr val="111827"/>
                </a:solidFill>
                <a:latin typeface="Yu Gothic"/>
                <a:ea typeface="Yu Gothic"/>
                <a:cs typeface="Yu Gothic"/>
              </a:defRPr>
            </a:pPr>
            <a:r>
              <a:rPr sz="3450" b="1" i="0">
                <a:solidFill>
                  <a:srgbClr val="111827"/>
                </a:solidFill>
                <a:latin typeface="Yu Gothic"/>
                <a:ea typeface="Yu Gothic"/>
                <a:cs typeface="Yu Gothic"/>
              </a:rPr>
              <a:t>APPX｜誤差位置と学習時間比較</a:t>
            </a:r>
          </a:p>
        </p:txBody>
      </p:sp>
      <p:sp>
        <p:nvSpPr>
          <p:cNvPr id="9" name="">
            <a:extLst xmlns:a="http://schemas.openxmlformats.org/drawingml/2006/main">
              <a:ext uri="{FF2B5EF4-FFF2-40B4-BE49-F238E27FC236}">
                <a16:creationId xmlns:a16="http://schemas.microsoft.com/office/drawing/2014/main" id="{83FDC58D-B353-4035-B517-5083C33A9273}"/>
              </a:ext>
            </a:extLst>
          </p:cNvPr>
          <p:cNvSpPr>
            <a:spLocks xmlns:a="http://schemas.openxmlformats.org/drawingml/2006/main" noGrp="1"/>
          </p:cNvSpPr>
          <p:nvPr/>
        </p:nvSpPr>
        <p:spPr>
          <a:xfrm xmlns:a="http://schemas.openxmlformats.org/drawingml/2006/main">
            <a:off x="495300" y="1362075"/>
            <a:ext cx="11201400" cy="0"/>
          </a:xfrm>
          <a:prstGeom xmlns:a="http://schemas.openxmlformats.org/drawingml/2006/main" prst="line">
            <a:avLst/>
          </a:prstGeom>
          <a:noFill xmlns:a="http://schemas.openxmlformats.org/drawingml/2006/main"/>
          <a:ln xmlns:a="http://schemas.openxmlformats.org/drawingml/2006/main" w="13335">
            <a:solidFill>
              <a:srgbClr val="111827"/>
            </a:solidFill>
            <a:prstDash val="solid"/>
          </a:ln>
        </p:spPr>
      </p:sp>
      <p:sp>
        <p:nvSpPr>
          <p:cNvPr id="10" name="">
            <a:extLst xmlns:a="http://schemas.openxmlformats.org/drawingml/2006/main">
              <a:ext uri="{FF2B5EF4-FFF2-40B4-BE49-F238E27FC236}">
                <a16:creationId xmlns:a16="http://schemas.microsoft.com/office/drawing/2014/main" id="{59278562-41A6-4155-8B7E-F67A52271C50}"/>
              </a:ext>
            </a:extLst>
          </p:cNvPr>
          <p:cNvSpPr>
            <a:spLocks xmlns:a="http://schemas.openxmlformats.org/drawingml/2006/main" noGrp="1"/>
          </p:cNvSpPr>
          <p:nvPr/>
        </p:nvSpPr>
        <p:spPr>
          <a:xfrm xmlns:a="http://schemas.openxmlformats.org/drawingml/2006/main">
            <a:off x="495300" y="1657350"/>
            <a:ext cx="5429250" cy="38481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b732801d48a4dc6"/>
          <a:stretch xmlns:a="http://schemas.openxmlformats.org/drawingml/2006/main"/>
        </p:blipFill>
        <p:spPr>
          <a:xfrm xmlns:a="http://schemas.openxmlformats.org/drawingml/2006/main">
            <a:off x="948670" y="1657350"/>
            <a:ext cx="4522509" cy="38481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E4A4D7A-9800-4F79-A2E9-B581360B89DB}"/>
              </a:ext>
            </a:extLst>
          </p:cNvPr>
          <p:cNvSpPr>
            <a:spLocks xmlns:a="http://schemas.openxmlformats.org/drawingml/2006/main" noGrp="1"/>
          </p:cNvSpPr>
          <p:nvPr/>
        </p:nvSpPr>
        <p:spPr>
          <a:xfrm xmlns:a="http://schemas.openxmlformats.org/drawingml/2006/main">
            <a:off x="6286500" y="16954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i="0">
                <a:solidFill>
                  <a:srgbClr val="F58220"/>
                </a:solidFill>
                <a:latin typeface="Yu Gothic"/>
                <a:ea typeface="Yu Gothic"/>
                <a:cs typeface="Yu Gothic"/>
              </a:defRPr>
            </a:pPr>
            <a:r>
              <a:rPr sz="1725" b="1" i="0">
                <a:solidFill>
                  <a:srgbClr val="F58220"/>
                </a:solidFill>
                <a:latin typeface="Yu Gothic"/>
                <a:ea typeface="Yu Gothic"/>
                <a:cs typeface="Yu Gothic"/>
              </a:rPr>
              <a:t>誤差が集中した場所</a:t>
            </a:r>
          </a:p>
        </p:txBody>
      </p:sp>
      <p:sp>
        <p:nvSpPr>
          <p:cNvPr id="13" name="">
            <a:extLst xmlns:a="http://schemas.openxmlformats.org/drawingml/2006/main">
              <a:ext uri="{FF2B5EF4-FFF2-40B4-BE49-F238E27FC236}">
                <a16:creationId xmlns:a16="http://schemas.microsoft.com/office/drawing/2014/main" id="{BDDD9194-91FB-47BC-A742-813F6305D51E}"/>
              </a:ext>
            </a:extLst>
          </p:cNvPr>
          <p:cNvSpPr>
            <a:spLocks xmlns:a="http://schemas.openxmlformats.org/drawingml/2006/main" noGrp="1"/>
          </p:cNvSpPr>
          <p:nvPr/>
        </p:nvSpPr>
        <p:spPr>
          <a:xfrm xmlns:a="http://schemas.openxmlformats.org/drawingml/2006/main">
            <a:off x="6286500" y="2133600"/>
            <a:ext cx="4762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前後輪・ホイールアーチ</a:t>
            </a:r>
          </a:p>
          <a:p xmlns:a="http://schemas.openxmlformats.org/drawingml/2006/main">
            <a:pPr algn="l">
              <a:lnSpc>
                <a:spcPct val="140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フロントバンパーと前端</a:t>
            </a:r>
          </a:p>
          <a:p xmlns:a="http://schemas.openxmlformats.org/drawingml/2006/main">
            <a:pPr algn="l">
              <a:lnSpc>
                <a:spcPct val="140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ボンネット／窓／ルーフ境界</a:t>
            </a:r>
          </a:p>
          <a:p xmlns:a="http://schemas.openxmlformats.org/drawingml/2006/main">
            <a:pPr algn="l">
              <a:lnSpc>
                <a:spcPct val="140000"/>
              </a:lnSpc>
              <a:buNone/>
              <a:defRPr sz="1425" b="0" i="0">
                <a:solidFill>
                  <a:srgbClr val="111827"/>
                </a:solidFill>
                <a:latin typeface="Yu Gothic"/>
                <a:ea typeface="Yu Gothic"/>
                <a:cs typeface="Yu Gothic"/>
              </a:defRPr>
            </a:pPr>
            <a:r>
              <a:rPr sz="1425" b="0" i="0">
                <a:solidFill>
                  <a:srgbClr val="111827"/>
                </a:solidFill>
                <a:latin typeface="Yu Gothic"/>
                <a:ea typeface="Yu Gothic"/>
                <a:cs typeface="Yu Gothic"/>
              </a:rPr>
              <a:t>• 局所的で急峻な圧力ピーク</a:t>
            </a:r>
          </a:p>
        </p:txBody>
      </p:sp>
      <p:sp>
        <p:nvSpPr>
          <p:cNvPr id="14" name="">
            <a:extLst xmlns:a="http://schemas.openxmlformats.org/drawingml/2006/main">
              <a:ext uri="{FF2B5EF4-FFF2-40B4-BE49-F238E27FC236}">
                <a16:creationId xmlns:a16="http://schemas.microsoft.com/office/drawing/2014/main" id="{359BD3AA-000C-4A84-A80E-C775F51F91E0}"/>
              </a:ext>
            </a:extLst>
          </p:cNvPr>
          <p:cNvSpPr>
            <a:spLocks xmlns:a="http://schemas.openxmlformats.org/drawingml/2006/main" noGrp="1"/>
          </p:cNvSpPr>
          <p:nvPr/>
        </p:nvSpPr>
        <p:spPr>
          <a:xfrm xmlns:a="http://schemas.openxmlformats.org/drawingml/2006/main">
            <a:off x="6286500" y="3771900"/>
            <a:ext cx="4762500" cy="285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8FBE825-FA70-4ACB-900E-0721A6DDB5EA}"/>
              </a:ext>
            </a:extLst>
          </p:cNvPr>
          <p:cNvSpPr>
            <a:spLocks xmlns:a="http://schemas.openxmlformats.org/drawingml/2006/main" noGrp="1"/>
          </p:cNvSpPr>
          <p:nvPr/>
        </p:nvSpPr>
        <p:spPr>
          <a:xfrm xmlns:a="http://schemas.openxmlformats.org/drawingml/2006/main">
            <a:off x="6381750" y="381952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 b="1" i="0">
                <a:solidFill>
                  <a:srgbClr val="FFFFFF"/>
                </a:solidFill>
                <a:latin typeface="Consolas"/>
                <a:ea typeface="Consolas"/>
                <a:cs typeface="Consolas"/>
              </a:defRPr>
            </a:pPr>
            <a:r>
              <a:rPr sz="1050" b="1" i="0">
                <a:solidFill>
                  <a:srgbClr val="FFFFFF"/>
                </a:solidFill>
                <a:latin typeface="Consolas"/>
                <a:ea typeface="Consolas"/>
                <a:cs typeface="Consolas"/>
              </a:rPr>
              <a:t>TRAINING LENGTH COMPARISON</a:t>
            </a:r>
          </a:p>
        </p:txBody>
      </p:sp>
      <p:sp>
        <p:nvSpPr>
          <p:cNvPr id="16" name="">
            <a:extLst xmlns:a="http://schemas.openxmlformats.org/drawingml/2006/main">
              <a:ext uri="{FF2B5EF4-FFF2-40B4-BE49-F238E27FC236}">
                <a16:creationId xmlns:a16="http://schemas.microsoft.com/office/drawing/2014/main" id="{66B6D000-7E83-4163-9487-BE0674F4599A}"/>
              </a:ext>
            </a:extLst>
          </p:cNvPr>
          <p:cNvSpPr>
            <a:spLocks xmlns:a="http://schemas.openxmlformats.org/drawingml/2006/main" noGrp="1"/>
          </p:cNvSpPr>
          <p:nvPr/>
        </p:nvSpPr>
        <p:spPr>
          <a:xfrm xmlns:a="http://schemas.openxmlformats.org/drawingml/2006/main">
            <a:off x="6381750" y="42100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1" i="0">
                <a:solidFill>
                  <a:srgbClr val="111827"/>
                </a:solidFill>
                <a:latin typeface="Consolas"/>
                <a:ea typeface="Consolas"/>
                <a:cs typeface="Consolas"/>
              </a:defRPr>
            </a:pPr>
            <a:r>
              <a:rPr sz="1275" b="1" i="0">
                <a:solidFill>
                  <a:srgbClr val="111827"/>
                </a:solidFill>
                <a:latin typeface="Consolas"/>
                <a:ea typeface="Consolas"/>
                <a:cs typeface="Consolas"/>
              </a:rPr>
              <a:t>3 min</a:t>
            </a:r>
          </a:p>
        </p:txBody>
      </p:sp>
      <p:sp>
        <p:nvSpPr>
          <p:cNvPr id="17" name="">
            <a:extLst xmlns:a="http://schemas.openxmlformats.org/drawingml/2006/main">
              <a:ext uri="{FF2B5EF4-FFF2-40B4-BE49-F238E27FC236}">
                <a16:creationId xmlns:a16="http://schemas.microsoft.com/office/drawing/2014/main" id="{995DC4E0-14E4-442E-BCC5-51E249B33EE7}"/>
              </a:ext>
            </a:extLst>
          </p:cNvPr>
          <p:cNvSpPr>
            <a:spLocks xmlns:a="http://schemas.openxmlformats.org/drawingml/2006/main" noGrp="1"/>
          </p:cNvSpPr>
          <p:nvPr/>
        </p:nvSpPr>
        <p:spPr>
          <a:xfrm xmlns:a="http://schemas.openxmlformats.org/drawingml/2006/main">
            <a:off x="7334250" y="42100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11827"/>
                </a:solidFill>
                <a:latin typeface="Consolas"/>
                <a:ea typeface="Consolas"/>
                <a:cs typeface="Consolas"/>
              </a:defRPr>
            </a:pPr>
            <a:r>
              <a:rPr sz="1275" b="0" i="0">
                <a:solidFill>
                  <a:srgbClr val="111827"/>
                </a:solidFill>
                <a:latin typeface="Consolas"/>
                <a:ea typeface="Consolas"/>
                <a:cs typeface="Consolas"/>
              </a:rPr>
              <a:t>Rel L2 ≈ 0.486</a:t>
            </a:r>
          </a:p>
        </p:txBody>
      </p:sp>
      <p:sp>
        <p:nvSpPr>
          <p:cNvPr id="18" name="">
            <a:extLst xmlns:a="http://schemas.openxmlformats.org/drawingml/2006/main">
              <a:ext uri="{FF2B5EF4-FFF2-40B4-BE49-F238E27FC236}">
                <a16:creationId xmlns:a16="http://schemas.microsoft.com/office/drawing/2014/main" id="{DDFDA729-4E43-4669-A0AC-2F68E028F698}"/>
              </a:ext>
            </a:extLst>
          </p:cNvPr>
          <p:cNvSpPr>
            <a:spLocks xmlns:a="http://schemas.openxmlformats.org/drawingml/2006/main" noGrp="1"/>
          </p:cNvSpPr>
          <p:nvPr/>
        </p:nvSpPr>
        <p:spPr>
          <a:xfrm xmlns:a="http://schemas.openxmlformats.org/drawingml/2006/main">
            <a:off x="9124950" y="42100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11827"/>
                </a:solidFill>
                <a:latin typeface="Consolas"/>
                <a:ea typeface="Consolas"/>
                <a:cs typeface="Consolas"/>
              </a:defRPr>
            </a:pPr>
            <a:r>
              <a:rPr sz="1275" b="0" i="0">
                <a:solidFill>
                  <a:srgbClr val="111827"/>
                </a:solidFill>
                <a:latin typeface="Consolas"/>
                <a:ea typeface="Consolas"/>
                <a:cs typeface="Consolas"/>
              </a:rPr>
              <a:t>corr ≈ 0.768</a:t>
            </a:r>
          </a:p>
        </p:txBody>
      </p:sp>
      <p:sp>
        <p:nvSpPr>
          <p:cNvPr id="19" name="">
            <a:extLst xmlns:a="http://schemas.openxmlformats.org/drawingml/2006/main">
              <a:ext uri="{FF2B5EF4-FFF2-40B4-BE49-F238E27FC236}">
                <a16:creationId xmlns:a16="http://schemas.microsoft.com/office/drawing/2014/main" id="{44600604-6EED-41EE-BF42-9CE3339E95FB}"/>
              </a:ext>
            </a:extLst>
          </p:cNvPr>
          <p:cNvSpPr>
            <a:spLocks xmlns:a="http://schemas.openxmlformats.org/drawingml/2006/main" noGrp="1"/>
          </p:cNvSpPr>
          <p:nvPr/>
        </p:nvSpPr>
        <p:spPr>
          <a:xfrm xmlns:a="http://schemas.openxmlformats.org/drawingml/2006/main">
            <a:off x="6381750" y="4533900"/>
            <a:ext cx="4552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0" name="">
            <a:extLst xmlns:a="http://schemas.openxmlformats.org/drawingml/2006/main">
              <a:ext uri="{FF2B5EF4-FFF2-40B4-BE49-F238E27FC236}">
                <a16:creationId xmlns:a16="http://schemas.microsoft.com/office/drawing/2014/main" id="{7CF746F6-6A4C-422A-B1FE-2B489A3ECB4D}"/>
              </a:ext>
            </a:extLst>
          </p:cNvPr>
          <p:cNvSpPr>
            <a:spLocks xmlns:a="http://schemas.openxmlformats.org/drawingml/2006/main" noGrp="1"/>
          </p:cNvSpPr>
          <p:nvPr/>
        </p:nvSpPr>
        <p:spPr>
          <a:xfrm xmlns:a="http://schemas.openxmlformats.org/drawingml/2006/main">
            <a:off x="6381750" y="47244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1" i="0">
                <a:solidFill>
                  <a:srgbClr val="111827"/>
                </a:solidFill>
                <a:latin typeface="Consolas"/>
                <a:ea typeface="Consolas"/>
                <a:cs typeface="Consolas"/>
              </a:defRPr>
            </a:pPr>
            <a:r>
              <a:rPr sz="1275" b="1" i="0">
                <a:solidFill>
                  <a:srgbClr val="111827"/>
                </a:solidFill>
                <a:latin typeface="Consolas"/>
                <a:ea typeface="Consolas"/>
                <a:cs typeface="Consolas"/>
              </a:rPr>
              <a:t>120 min</a:t>
            </a:r>
          </a:p>
        </p:txBody>
      </p:sp>
      <p:sp>
        <p:nvSpPr>
          <p:cNvPr id="21" name="">
            <a:extLst xmlns:a="http://schemas.openxmlformats.org/drawingml/2006/main">
              <a:ext uri="{FF2B5EF4-FFF2-40B4-BE49-F238E27FC236}">
                <a16:creationId xmlns:a16="http://schemas.microsoft.com/office/drawing/2014/main" id="{D7E2091F-653D-48A7-B146-DE64261A18AA}"/>
              </a:ext>
            </a:extLst>
          </p:cNvPr>
          <p:cNvSpPr>
            <a:spLocks xmlns:a="http://schemas.openxmlformats.org/drawingml/2006/main" noGrp="1"/>
          </p:cNvSpPr>
          <p:nvPr/>
        </p:nvSpPr>
        <p:spPr>
          <a:xfrm xmlns:a="http://schemas.openxmlformats.org/drawingml/2006/main">
            <a:off x="7334250" y="47244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11827"/>
                </a:solidFill>
                <a:latin typeface="Consolas"/>
                <a:ea typeface="Consolas"/>
                <a:cs typeface="Consolas"/>
              </a:defRPr>
            </a:pPr>
            <a:r>
              <a:rPr sz="1275" b="0" i="0">
                <a:solidFill>
                  <a:srgbClr val="111827"/>
                </a:solidFill>
                <a:latin typeface="Consolas"/>
                <a:ea typeface="Consolas"/>
                <a:cs typeface="Consolas"/>
              </a:rPr>
              <a:t>Rel L2 ≈ 0.509</a:t>
            </a:r>
          </a:p>
        </p:txBody>
      </p:sp>
      <p:sp>
        <p:nvSpPr>
          <p:cNvPr id="22" name="">
            <a:extLst xmlns:a="http://schemas.openxmlformats.org/drawingml/2006/main">
              <a:ext uri="{FF2B5EF4-FFF2-40B4-BE49-F238E27FC236}">
                <a16:creationId xmlns:a16="http://schemas.microsoft.com/office/drawing/2014/main" id="{ABE129AB-A320-41D5-9237-78ACF27834D5}"/>
              </a:ext>
            </a:extLst>
          </p:cNvPr>
          <p:cNvSpPr>
            <a:spLocks xmlns:a="http://schemas.openxmlformats.org/drawingml/2006/main" noGrp="1"/>
          </p:cNvSpPr>
          <p:nvPr/>
        </p:nvSpPr>
        <p:spPr>
          <a:xfrm xmlns:a="http://schemas.openxmlformats.org/drawingml/2006/main">
            <a:off x="9124950" y="47244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11827"/>
                </a:solidFill>
                <a:latin typeface="Consolas"/>
                <a:ea typeface="Consolas"/>
                <a:cs typeface="Consolas"/>
              </a:defRPr>
            </a:pPr>
            <a:r>
              <a:rPr sz="1275" b="0" i="0">
                <a:solidFill>
                  <a:srgbClr val="111827"/>
                </a:solidFill>
                <a:latin typeface="Consolas"/>
                <a:ea typeface="Consolas"/>
                <a:cs typeface="Consolas"/>
              </a:rPr>
              <a:t>corr ≈ 0.771</a:t>
            </a:r>
          </a:p>
        </p:txBody>
      </p:sp>
      <p:sp>
        <p:nvSpPr>
          <p:cNvPr id="23" name="">
            <a:extLst xmlns:a="http://schemas.openxmlformats.org/drawingml/2006/main">
              <a:ext uri="{FF2B5EF4-FFF2-40B4-BE49-F238E27FC236}">
                <a16:creationId xmlns:a16="http://schemas.microsoft.com/office/drawing/2014/main" id="{55F8086E-96BE-4837-B227-6F11D679F266}"/>
              </a:ext>
            </a:extLst>
          </p:cNvPr>
          <p:cNvSpPr>
            <a:spLocks xmlns:a="http://schemas.openxmlformats.org/drawingml/2006/main" noGrp="1"/>
          </p:cNvSpPr>
          <p:nvPr/>
        </p:nvSpPr>
        <p:spPr>
          <a:xfrm xmlns:a="http://schemas.openxmlformats.org/drawingml/2006/main">
            <a:off x="6381750" y="5048250"/>
            <a:ext cx="4552950" cy="0"/>
          </a:xfrm>
          <a:prstGeom xmlns:a="http://schemas.openxmlformats.org/drawingml/2006/main" prst="line">
            <a:avLst/>
          </a:prstGeom>
          <a:noFill xmlns:a="http://schemas.openxmlformats.org/drawingml/2006/main"/>
          <a:ln xmlns:a="http://schemas.openxmlformats.org/drawingml/2006/main" w="6668">
            <a:solidFill>
              <a:srgbClr val="B8BCC4"/>
            </a:solidFill>
            <a:prstDash val="solid"/>
          </a:ln>
        </p:spPr>
      </p:sp>
      <p:sp>
        <p:nvSpPr>
          <p:cNvPr id="24" name="">
            <a:extLst xmlns:a="http://schemas.openxmlformats.org/drawingml/2006/main">
              <a:ext uri="{FF2B5EF4-FFF2-40B4-BE49-F238E27FC236}">
                <a16:creationId xmlns:a16="http://schemas.microsoft.com/office/drawing/2014/main" id="{2DC4E715-F701-44A4-B5E8-AE80040468BB}"/>
              </a:ext>
            </a:extLst>
          </p:cNvPr>
          <p:cNvSpPr>
            <a:spLocks xmlns:a="http://schemas.openxmlformats.org/drawingml/2006/main" noGrp="1"/>
          </p:cNvSpPr>
          <p:nvPr/>
        </p:nvSpPr>
        <p:spPr>
          <a:xfrm xmlns:a="http://schemas.openxmlformats.org/drawingml/2006/main">
            <a:off x="6096000" y="5429250"/>
            <a:ext cx="514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buNone/>
              <a:defRPr sz="1275" b="1" i="0">
                <a:solidFill>
                  <a:srgbClr val="C8423A"/>
                </a:solidFill>
                <a:latin typeface="Yu Gothic"/>
                <a:ea typeface="Yu Gothic"/>
                <a:cs typeface="Yu Gothic"/>
              </a:defRPr>
            </a:pPr>
            <a:r>
              <a:rPr sz="1275" b="1" i="0">
                <a:solidFill>
                  <a:srgbClr val="C8423A"/>
                </a:solidFill>
                <a:latin typeface="Yu Gothic"/>
                <a:ea typeface="Yu Gothic"/>
                <a:cs typeface="Yu Gothic"/>
              </a:rPr>
              <a:t>条件が完全同一ではなくvalidation履歴もないため、“長く学習して悪化＝過学習”とは結論しない</a:t>
            </a:r>
          </a:p>
        </p:txBody>
      </p:sp>
    </p:spTree>
    <p:extLst>
      <p:ext uri="{BB962C8B-B14F-4D97-AF65-F5344CB8AC3E}">
        <p14:creationId xmlns:p14="http://schemas.microsoft.com/office/powerpoint/2010/main" val="239787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2026-07-12T15:46:41.3720000Z</dcterms:created>
  <dcterms:modified xsi:type="dcterms:W3CDTF">2026-07-12T15:46:41.3720000Z</dcterms:modified>
</coreProperties>
</file>